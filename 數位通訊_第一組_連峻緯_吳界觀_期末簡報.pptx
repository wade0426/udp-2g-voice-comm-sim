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comments/modernComment_116_F7A87305.xml" ContentType="application/vnd.ms-powerpoint.comments+xml"/>
  <Override PartName="/ppt/tags/tag3.xml" ContentType="application/vnd.openxmlformats-officedocument.presentationml.tags+xml"/>
  <Override PartName="/ppt/notesSlides/notesSlide3.xml" ContentType="application/vnd.openxmlformats-officedocument.presentationml.notesSlide+xml"/>
  <Override PartName="/ppt/tags/tag4.xml" ContentType="application/vnd.openxmlformats-officedocument.presentationml.tags+xml"/>
  <Override PartName="/ppt/notesSlides/notesSlide4.xml" ContentType="application/vnd.openxmlformats-officedocument.presentationml.notesSlide+xml"/>
  <Override PartName="/ppt/tags/tag5.xml" ContentType="application/vnd.openxmlformats-officedocument.presentationml.tags+xml"/>
  <Override PartName="/ppt/notesSlides/notesSlide5.xml" ContentType="application/vnd.openxmlformats-officedocument.presentationml.notesSlide+xml"/>
  <Override PartName="/ppt/tags/tag6.xml" ContentType="application/vnd.openxmlformats-officedocument.presentationml.tags+xml"/>
  <Override PartName="/ppt/notesSlides/notesSlide6.xml" ContentType="application/vnd.openxmlformats-officedocument.presentationml.notesSlide+xml"/>
  <Override PartName="/ppt/tags/tag7.xml" ContentType="application/vnd.openxmlformats-officedocument.presentationml.tags+xml"/>
  <Override PartName="/ppt/notesSlides/notesSlide7.xml" ContentType="application/vnd.openxmlformats-officedocument.presentationml.notesSlide+xml"/>
  <Override PartName="/ppt/comments/modernComment_121_4DCB7D5A.xml" ContentType="application/vnd.ms-powerpoint.comments+xml"/>
  <Override PartName="/ppt/tags/tag8.xml" ContentType="application/vnd.openxmlformats-officedocument.presentationml.tags+xml"/>
  <Override PartName="/ppt/notesSlides/notesSlide8.xml" ContentType="application/vnd.openxmlformats-officedocument.presentationml.notesSlide+xml"/>
  <Override PartName="/ppt/tags/tag9.xml" ContentType="application/vnd.openxmlformats-officedocument.presentationml.tags+xml"/>
  <Override PartName="/ppt/notesSlides/notesSlide9.xml" ContentType="application/vnd.openxmlformats-officedocument.presentationml.notesSlide+xml"/>
  <Override PartName="/ppt/tags/tag10.xml" ContentType="application/vnd.openxmlformats-officedocument.presentationml.tags+xml"/>
  <Override PartName="/ppt/notesSlides/notesSlide10.xml" ContentType="application/vnd.openxmlformats-officedocument.presentationml.notesSlide+xml"/>
  <Override PartName="/ppt/comments/modernComment_12C_413B9239.xml" ContentType="application/vnd.ms-powerpoint.comments+xml"/>
  <Override PartName="/ppt/tags/tag11.xml" ContentType="application/vnd.openxmlformats-officedocument.presentationml.tags+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648" r:id="rId1"/>
    <p:sldMasterId id="2147483660" r:id="rId2"/>
  </p:sldMasterIdLst>
  <p:notesMasterIdLst>
    <p:notesMasterId r:id="rId14"/>
  </p:notesMasterIdLst>
  <p:sldIdLst>
    <p:sldId id="257" r:id="rId3"/>
    <p:sldId id="278" r:id="rId4"/>
    <p:sldId id="286" r:id="rId5"/>
    <p:sldId id="301" r:id="rId6"/>
    <p:sldId id="293" r:id="rId7"/>
    <p:sldId id="294" r:id="rId8"/>
    <p:sldId id="289" r:id="rId9"/>
    <p:sldId id="295" r:id="rId10"/>
    <p:sldId id="299" r:id="rId11"/>
    <p:sldId id="300" r:id="rId12"/>
    <p:sldId id="290" r:id="rId1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7"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247A84F-9423-CAF2-1EEE-7A272C8C8908}" name="界觀 吳" initials="界吳" userId="fa23f3b773240643" providerId="Windows Live"/>
  <p188:author id="{CC8867FC-F214-3510-352C-FC743926805D}" name="JYUN WEI LIAN" initials="JL" userId="56ba6adff4e03313"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F3F3"/>
    <a:srgbClr val="435372"/>
    <a:srgbClr val="C99B4F"/>
    <a:srgbClr val="2F3B51"/>
    <a:srgbClr val="333F5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2860053-53E6-497D-94A0-6F1CE4D5FFA2}" v="1589" dt="2025-01-09T20:38:53.81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3589" autoAdjust="0"/>
  </p:normalViewPr>
  <p:slideViewPr>
    <p:cSldViewPr snapToGrid="0">
      <p:cViewPr varScale="1">
        <p:scale>
          <a:sx n="68" d="100"/>
          <a:sy n="68" d="100"/>
        </p:scale>
        <p:origin x="1604" y="56"/>
      </p:cViewPr>
      <p:guideLst>
        <p:guide orient="horz" pos="2137"/>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viewProps" Target="viewProps.xml"/><Relationship Id="rId20"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presProps" Target="presProps.xml"/><Relationship Id="rId10" Type="http://schemas.openxmlformats.org/officeDocument/2006/relationships/slide" Target="slides/slide8.xml"/><Relationship Id="rId19" Type="http://schemas.microsoft.com/office/2015/10/relationships/revisionInfo" Target="revisionInfo.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notesMaster" Target="notesMasters/notesMaster1.xml"/></Relationships>
</file>

<file path=ppt/comments/modernComment_12C_413B9239.xml><?xml version="1.0" encoding="utf-8"?>
<p188:cmLst xmlns:a="http://schemas.openxmlformats.org/drawingml/2006/main" xmlns:r="http://schemas.openxmlformats.org/officeDocument/2006/relationships" xmlns:p188="http://schemas.microsoft.com/office/powerpoint/2018/8/main">
  <p188:cm id="{9BD99875-37E5-4526-B611-8FAAFA086A96}" authorId="{CC8867FC-F214-3510-352C-FC743926805D}" status="resolved" created="2024-12-31T04:39:51.549">
    <ac:txMkLst xmlns:ac="http://schemas.microsoft.com/office/drawing/2013/main/command">
      <pc:docMk xmlns:pc="http://schemas.microsoft.com/office/powerpoint/2013/main/command"/>
      <pc:sldMk xmlns:pc="http://schemas.microsoft.com/office/powerpoint/2013/main/command" cId="1094423097" sldId="300"/>
      <ac:spMk id="2" creationId="{397F256A-F376-00BE-03E9-C2E9CDAEE527}"/>
      <ac:txMk cp="0" len="1">
        <ac:context len="7" hash="1839184182"/>
      </ac:txMk>
    </ac:txMkLst>
    <p188:pos x="700497" y="277498"/>
    <p188:txBody>
      <a:bodyPr/>
      <a:lstStyle/>
      <a:p>
        <a:r>
          <a:rPr lang="zh-TW" altLang="en-US"/>
          <a:t>發送 vs 接收
不是接送</a:t>
        </a:r>
      </a:p>
    </p188:txBody>
  </p188:cm>
</p188:cmLst>
</file>

<file path=ppt/comments/modernComment_116_F7A87305.xml><?xml version="1.0" encoding="utf-8"?>
<p188:cmLst xmlns:a="http://schemas.openxmlformats.org/drawingml/2006/main" xmlns:r="http://schemas.openxmlformats.org/officeDocument/2006/relationships" xmlns:p188="http://schemas.microsoft.com/office/powerpoint/2018/8/main">
  <p188:cm id="{4ECDD904-1E0D-432F-B40D-F0B7200C0B4E}" authorId="{CC8867FC-F214-3510-352C-FC743926805D}" status="resolved" created="2024-12-31T04:43:13.429" complete="100000">
    <pc:sldMkLst xmlns:pc="http://schemas.microsoft.com/office/powerpoint/2013/main/command">
      <pc:docMk/>
      <pc:sldMk cId="4155011845" sldId="278"/>
    </pc:sldMkLst>
    <p188:txBody>
      <a:bodyPr/>
      <a:lstStyle/>
      <a:p>
        <a:r>
          <a:rPr lang="zh-TW" altLang="en-US"/>
          <a:t>僅使用UDP太過籠統</a:t>
        </a:r>
      </a:p>
    </p188:txBody>
  </p188:cm>
</p188:cmLst>
</file>

<file path=ppt/comments/modernComment_121_4DCB7D5A.xml><?xml version="1.0" encoding="utf-8"?>
<p188:cmLst xmlns:a="http://schemas.openxmlformats.org/drawingml/2006/main" xmlns:r="http://schemas.openxmlformats.org/officeDocument/2006/relationships" xmlns:p188="http://schemas.microsoft.com/office/powerpoint/2018/8/main">
  <p188:cm id="{A8B1A873-37DA-460F-83A7-97BB78B53303}" authorId="{CC8867FC-F214-3510-352C-FC743926805D}" status="resolved" created="2024-12-31T04:39:51.549" complete="100000">
    <ac:txMkLst xmlns:ac="http://schemas.microsoft.com/office/drawing/2013/main/command">
      <pc:docMk xmlns:pc="http://schemas.microsoft.com/office/powerpoint/2013/main/command"/>
      <pc:sldMk xmlns:pc="http://schemas.microsoft.com/office/powerpoint/2013/main/command" cId="1305181530" sldId="289"/>
      <ac:spMk id="2" creationId="{2A2812ED-57E1-C4C2-36C1-6BFC0B874705}"/>
      <ac:txMk cp="0" len="1">
        <ac:context len="7" hash="1839184182"/>
      </ac:txMk>
    </ac:txMkLst>
    <p188:pos x="700497" y="277498"/>
    <p188:txBody>
      <a:bodyPr/>
      <a:lstStyle/>
      <a:p>
        <a:r>
          <a:rPr lang="zh-TW" altLang="en-US"/>
          <a:t>發送 vs 接收
不是接送</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74A342E-3BC2-4506-95CA-27A3A2E0F2E8}" type="datetimeFigureOut">
              <a:rPr lang="zh-CN" altLang="en-US" smtClean="0"/>
              <a:t>2025/5/1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DFB969D-C169-473E-9A63-3A56F17FEFCB}" type="slidenum">
              <a:rPr lang="zh-CN" altLang="en-US" smtClean="0"/>
              <a:t>‹#›</a:t>
            </a:fld>
            <a:endParaRPr lang="zh-CN" altLang="en-US"/>
          </a:p>
        </p:txBody>
      </p:sp>
    </p:spTree>
    <p:extLst>
      <p:ext uri="{BB962C8B-B14F-4D97-AF65-F5344CB8AC3E}">
        <p14:creationId xmlns:p14="http://schemas.microsoft.com/office/powerpoint/2010/main" val="15576483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a:t>大家好，我們是第一組的吳界觀及連峻緯</a:t>
            </a:r>
          </a:p>
        </p:txBody>
      </p:sp>
      <p:sp>
        <p:nvSpPr>
          <p:cNvPr id="4" name="投影片編號版面配置區 3"/>
          <p:cNvSpPr>
            <a:spLocks noGrp="1"/>
          </p:cNvSpPr>
          <p:nvPr>
            <p:ph type="sldNum" sz="quarter" idx="5"/>
          </p:nvPr>
        </p:nvSpPr>
        <p:spPr/>
        <p:txBody>
          <a:bodyPr/>
          <a:lstStyle/>
          <a:p>
            <a:fld id="{FDFB969D-C169-473E-9A63-3A56F17FEFCB}" type="slidenum">
              <a:rPr lang="zh-CN" altLang="en-US" smtClean="0"/>
              <a:t>0</a:t>
            </a:fld>
            <a:endParaRPr lang="zh-CN" altLang="en-US"/>
          </a:p>
        </p:txBody>
      </p:sp>
    </p:spTree>
    <p:extLst>
      <p:ext uri="{BB962C8B-B14F-4D97-AF65-F5344CB8AC3E}">
        <p14:creationId xmlns:p14="http://schemas.microsoft.com/office/powerpoint/2010/main" val="26684082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b="0" i="0" dirty="0">
                <a:effectLst/>
                <a:latin typeface="gg sans"/>
              </a:rPr>
              <a:t>我們架構</a:t>
            </a:r>
            <a:r>
              <a:rPr lang="zh-TW" altLang="en-US" dirty="0"/>
              <a:t>分為三大區塊，</a:t>
            </a:r>
            <a:r>
              <a:rPr lang="zh-TW" altLang="en-US" b="0" i="0" dirty="0">
                <a:effectLst/>
                <a:latin typeface="gg sans"/>
              </a:rPr>
              <a:t>是基於</a:t>
            </a:r>
            <a:r>
              <a:rPr lang="en-US" altLang="zh-TW" b="0" i="0" dirty="0">
                <a:effectLst/>
                <a:latin typeface="gg sans"/>
              </a:rPr>
              <a:t>UDP</a:t>
            </a:r>
            <a:r>
              <a:rPr lang="zh-TW" altLang="en-US" b="0" i="0" dirty="0">
                <a:effectLst/>
                <a:latin typeface="gg sans"/>
              </a:rPr>
              <a:t>的實時語音通訊，採用</a:t>
            </a:r>
            <a:r>
              <a:rPr lang="en-US" altLang="zh-TW" b="0" i="0" dirty="0">
                <a:effectLst/>
                <a:latin typeface="gg sans"/>
              </a:rPr>
              <a:t>P2P</a:t>
            </a:r>
            <a:r>
              <a:rPr lang="zh-TW" altLang="en-US" b="0" i="0" dirty="0">
                <a:effectLst/>
                <a:latin typeface="gg sans"/>
              </a:rPr>
              <a:t>（點對點）方式，支援雙向通訊。</a:t>
            </a:r>
            <a:r>
              <a:rPr lang="en-US" altLang="zh-TW" b="0" i="0" dirty="0">
                <a:effectLst/>
                <a:latin typeface="gg sans"/>
              </a:rPr>
              <a:t>(</a:t>
            </a:r>
            <a:r>
              <a:rPr lang="zh-TW" altLang="en-US" b="0" i="0" dirty="0">
                <a:effectLst/>
                <a:latin typeface="gg sans"/>
              </a:rPr>
              <a:t>按</a:t>
            </a:r>
            <a:r>
              <a:rPr lang="en-US" altLang="zh-TW" b="0" i="0" dirty="0">
                <a:effectLst/>
                <a:latin typeface="gg sans"/>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在發送端，負責捕捉語音數據，透過 </a:t>
            </a:r>
            <a:r>
              <a:rPr lang="en-US" altLang="zh-TW" dirty="0"/>
              <a:t>UDP </a:t>
            </a:r>
            <a:r>
              <a:rPr lang="zh-TW" altLang="en-US" dirty="0"/>
              <a:t>發送。</a:t>
            </a:r>
            <a:r>
              <a:rPr lang="en-US" altLang="zh-TW" b="0" i="0" dirty="0">
                <a:effectLst/>
                <a:latin typeface="gg sans"/>
              </a:rPr>
              <a:t>(</a:t>
            </a:r>
            <a:r>
              <a:rPr lang="zh-TW" altLang="en-US" b="0" i="0" dirty="0">
                <a:effectLst/>
                <a:latin typeface="gg sans"/>
              </a:rPr>
              <a:t>按</a:t>
            </a:r>
            <a:r>
              <a:rPr lang="en-US" altLang="zh-TW" b="0" i="0" dirty="0">
                <a:effectLst/>
                <a:latin typeface="gg sans"/>
              </a:rPr>
              <a:t>)</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接著數據傳輸負責如何有效地傳輸數據包。</a:t>
            </a:r>
            <a:r>
              <a:rPr lang="en-US" altLang="zh-TW" b="0" i="0" dirty="0">
                <a:effectLst/>
                <a:latin typeface="gg sans"/>
              </a:rPr>
              <a:t>(</a:t>
            </a:r>
            <a:r>
              <a:rPr lang="zh-TW" altLang="en-US" b="0" i="0" dirty="0">
                <a:effectLst/>
                <a:latin typeface="gg sans"/>
              </a:rPr>
              <a:t>按</a:t>
            </a:r>
            <a:r>
              <a:rPr lang="en-US" altLang="zh-TW" b="0" i="0" dirty="0">
                <a:effectLst/>
                <a:latin typeface="gg sans"/>
              </a:rPr>
              <a:t>)</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最後接收端負責接收並還原數據包。</a:t>
            </a:r>
            <a:endParaRPr lang="en-US" altLang="zh-TW" dirty="0"/>
          </a:p>
        </p:txBody>
      </p:sp>
      <p:sp>
        <p:nvSpPr>
          <p:cNvPr id="4" name="投影片編號版面配置區 3"/>
          <p:cNvSpPr>
            <a:spLocks noGrp="1"/>
          </p:cNvSpPr>
          <p:nvPr>
            <p:ph type="sldNum" sz="quarter" idx="5"/>
          </p:nvPr>
        </p:nvSpPr>
        <p:spPr/>
        <p:txBody>
          <a:bodyPr/>
          <a:lstStyle/>
          <a:p>
            <a:fld id="{FDFB969D-C169-473E-9A63-3A56F17FEFCB}" type="slidenum">
              <a:rPr lang="zh-CN" altLang="en-US" smtClean="0"/>
              <a:t>1</a:t>
            </a:fld>
            <a:endParaRPr lang="zh-CN" altLang="en-US"/>
          </a:p>
        </p:txBody>
      </p:sp>
    </p:spTree>
    <p:extLst>
      <p:ext uri="{BB962C8B-B14F-4D97-AF65-F5344CB8AC3E}">
        <p14:creationId xmlns:p14="http://schemas.microsoft.com/office/powerpoint/2010/main" val="10720690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音訊捕捉與處理是語音通訊的第一步。負責從麥克風獲取聲音數據並進行初步篩選。系統採用 </a:t>
            </a:r>
            <a:r>
              <a:rPr lang="en-US" altLang="zh-TW" dirty="0"/>
              <a:t>44100Hz </a:t>
            </a:r>
            <a:r>
              <a:rPr lang="zh-TW" altLang="en-US" dirty="0"/>
              <a:t>的採樣率，每次讀取 </a:t>
            </a:r>
            <a:r>
              <a:rPr lang="en-US" altLang="zh-TW" dirty="0"/>
              <a:t>1024 </a:t>
            </a:r>
            <a:r>
              <a:rPr lang="zh-TW" altLang="en-US" dirty="0"/>
              <a:t>個</a:t>
            </a:r>
            <a:r>
              <a:rPr lang="en-US" altLang="zh-TW" b="0" i="0" dirty="0">
                <a:effectLst/>
                <a:latin typeface="gg sans"/>
              </a:rPr>
              <a:t>chunk</a:t>
            </a:r>
            <a:r>
              <a:rPr lang="zh-TW" altLang="en-US" dirty="0"/>
              <a:t>，確保捕捉清晰的聲音訊號。</a:t>
            </a:r>
            <a:endParaRPr lang="en-US" altLang="zh-TW" dirty="0"/>
          </a:p>
          <a:p>
            <a:endParaRPr lang="zh-TW" altLang="en-US" dirty="0"/>
          </a:p>
          <a:p>
            <a:r>
              <a:rPr lang="zh-TW" altLang="en-US" dirty="0"/>
              <a:t>為篩選有效聲音，我們使用峰值和均方根值檢測，評估音訊電平，過濾微弱的背景聲音。</a:t>
            </a:r>
            <a:r>
              <a:rPr lang="en-US" altLang="zh-TW" b="0" i="0" dirty="0">
                <a:effectLst/>
                <a:latin typeface="gg sans"/>
              </a:rPr>
              <a:t>(</a:t>
            </a:r>
            <a:r>
              <a:rPr lang="zh-TW" altLang="en-US" b="0" i="0" dirty="0">
                <a:effectLst/>
                <a:latin typeface="gg sans"/>
              </a:rPr>
              <a:t>按</a:t>
            </a:r>
            <a:r>
              <a:rPr lang="en-US" altLang="zh-TW" b="0" i="0" dirty="0">
                <a:effectLst/>
                <a:latin typeface="gg sans"/>
              </a:rPr>
              <a:t>)</a:t>
            </a:r>
            <a:endParaRPr lang="en-US" altLang="zh-TW" dirty="0"/>
          </a:p>
          <a:p>
            <a:endParaRPr lang="en-US" altLang="zh-TW" dirty="0"/>
          </a:p>
          <a:p>
            <a:r>
              <a:rPr lang="zh-TW" altLang="en-US" dirty="0"/>
              <a:t>音訊捕捉後，我們進行格式化預處理，去除低於閾值的背景噪聲（如風聲、鍵盤聲），僅保留主要語音訊號，為後續的調變與量化做好準備。</a:t>
            </a:r>
            <a:endParaRPr lang="en-US" altLang="zh-TW" dirty="0"/>
          </a:p>
          <a:p>
            <a:endParaRPr lang="en-US" altLang="zh-TW" sz="1200" b="1" dirty="0"/>
          </a:p>
          <a:p>
            <a:r>
              <a:rPr lang="en-US" altLang="zh-TW" sz="1200" b="1" dirty="0"/>
              <a:t>---</a:t>
            </a:r>
          </a:p>
          <a:p>
            <a:endParaRPr lang="en-US" altLang="zh-TW" sz="1200" b="1" dirty="0"/>
          </a:p>
          <a:p>
            <a:r>
              <a:rPr lang="zh-TW" altLang="en-US" sz="1200" b="1" dirty="0"/>
              <a:t>音訊採集</a:t>
            </a:r>
            <a:r>
              <a:rPr lang="zh-TW" altLang="en-US" dirty="0"/>
              <a:t>：</a:t>
            </a:r>
            <a:endParaRPr lang="en-US" altLang="zh-TW" sz="1200" b="1" dirty="0"/>
          </a:p>
          <a:p>
            <a:r>
              <a:rPr lang="zh-TW" altLang="en-US" dirty="0"/>
              <a:t>音訊捕捉與處理是實現語音通訊的第一步，它負責從麥克風獲取聲音數據並進行初步的分析與篩選。</a:t>
            </a:r>
            <a:endParaRPr lang="en-US" altLang="zh-TW" dirty="0"/>
          </a:p>
          <a:p>
            <a:r>
              <a:rPr lang="zh-TW" altLang="en-US" dirty="0"/>
              <a:t>每次讀取固定大小的數據塊，大小為 </a:t>
            </a:r>
            <a:r>
              <a:rPr lang="en-US" altLang="zh-TW" dirty="0"/>
              <a:t>1024</a:t>
            </a:r>
            <a:r>
              <a:rPr lang="zh-TW" altLang="en-US" dirty="0"/>
              <a:t>。這樣的設計能確保系統能穩定且連續地處理音訊。</a:t>
            </a:r>
            <a:endParaRPr lang="en-US" altLang="zh-TW" dirty="0"/>
          </a:p>
          <a:p>
            <a:r>
              <a:rPr lang="zh-TW" altLang="en-US" dirty="0"/>
              <a:t>採樣率設為 </a:t>
            </a:r>
            <a:r>
              <a:rPr lang="en-US" altLang="zh-TW" dirty="0"/>
              <a:t>44100Hz</a:t>
            </a:r>
            <a:r>
              <a:rPr lang="zh-TW" altLang="en-US" dirty="0"/>
              <a:t>，這是一個高品質的音頻標準，能捕捉清晰且詳細的聲音訊號。</a:t>
            </a:r>
            <a:endParaRPr lang="en-US" altLang="zh-TW" dirty="0"/>
          </a:p>
          <a:p>
            <a:endParaRPr lang="en-US" altLang="zh-TW" dirty="0"/>
          </a:p>
          <a:p>
            <a:r>
              <a:rPr lang="zh-TW" altLang="en-US" b="1" dirty="0"/>
              <a:t>音訊電平檢測</a:t>
            </a:r>
            <a:r>
              <a:rPr lang="zh-TW" altLang="en-US" dirty="0"/>
              <a:t>：</a:t>
            </a:r>
            <a:endParaRPr lang="en-US" altLang="zh-TW" dirty="0"/>
          </a:p>
          <a:p>
            <a:r>
              <a:rPr lang="zh-TW" altLang="en-US" dirty="0"/>
              <a:t>為了篩選有效的聲音訊號，我們採用了峰值檢測和均方根值檢測，來評估音訊數據的電平值，確保輸入的訊號達到處理標準，濾除過於微弱的背景聲音。</a:t>
            </a:r>
            <a:endParaRPr lang="en-US" altLang="zh-TW" dirty="0"/>
          </a:p>
          <a:p>
            <a:endParaRPr lang="en-US" altLang="zh-TW" dirty="0"/>
          </a:p>
          <a:p>
            <a:r>
              <a:rPr lang="zh-TW" altLang="en-US" b="1" dirty="0"/>
              <a:t>靜音檢測</a:t>
            </a:r>
            <a:r>
              <a:rPr lang="zh-TW" altLang="en-US" dirty="0"/>
              <a:t>：</a:t>
            </a:r>
            <a:endParaRPr lang="en-US" altLang="zh-TW" dirty="0"/>
          </a:p>
          <a:p>
            <a:r>
              <a:rPr lang="zh-TW" altLang="en-US" dirty="0"/>
              <a:t>利用 </a:t>
            </a:r>
            <a:r>
              <a:rPr lang="en-US" altLang="zh-TW" dirty="0"/>
              <a:t>RMS </a:t>
            </a:r>
            <a:r>
              <a:rPr lang="zh-TW" altLang="en-US" dirty="0"/>
              <a:t>值和峰值的結合，我們可以精確判斷音訊是否為有效訊號。</a:t>
            </a:r>
            <a:endParaRPr lang="en-US" altLang="zh-TW" dirty="0"/>
          </a:p>
          <a:p>
            <a:r>
              <a:rPr lang="zh-TW" altLang="en-US" dirty="0"/>
              <a:t>對於長時間靜音，系統會自動將其濾除，以節省資源。</a:t>
            </a:r>
            <a:endParaRPr lang="en-US" altLang="zh-TW" dirty="0"/>
          </a:p>
          <a:p>
            <a:endParaRPr lang="en-US" altLang="zh-TW" dirty="0"/>
          </a:p>
          <a:p>
            <a:r>
              <a:rPr lang="en-US" altLang="zh-TW" dirty="0"/>
              <a:t>-</a:t>
            </a:r>
          </a:p>
          <a:p>
            <a:endParaRPr lang="en-US" altLang="zh-TW" dirty="0"/>
          </a:p>
          <a:p>
            <a:r>
              <a:rPr lang="zh-TW" altLang="en-US" dirty="0"/>
              <a:t>在完成音訊捕捉後，需要進一步的預處理與優化音訊，為後續的調變與量化做好準備。</a:t>
            </a:r>
            <a:endParaRPr lang="en-US" altLang="zh-TW" dirty="0"/>
          </a:p>
          <a:p>
            <a:endParaRPr lang="en-US" altLang="zh-TW" dirty="0"/>
          </a:p>
          <a:p>
            <a:r>
              <a:rPr lang="zh-TW" altLang="en-US" b="1" dirty="0"/>
              <a:t>預處理音訊數據</a:t>
            </a:r>
            <a:r>
              <a:rPr lang="zh-TW" altLang="en-US" dirty="0"/>
              <a:t>：</a:t>
            </a:r>
            <a:endParaRPr lang="en-US" altLang="zh-TW" dirty="0"/>
          </a:p>
          <a:p>
            <a:r>
              <a:rPr lang="zh-TW" altLang="en-US" dirty="0"/>
              <a:t>首先，我們對捕捉到的音訊數據進行格式化處理，將其轉換為便於後續處理的結構化數據。</a:t>
            </a:r>
            <a:endParaRPr lang="en-US" altLang="zh-TW" dirty="0"/>
          </a:p>
          <a:p>
            <a:endParaRPr lang="en-US" altLang="zh-TW" dirty="0"/>
          </a:p>
          <a:p>
            <a:r>
              <a:rPr lang="zh-TW" altLang="en-US" dirty="0"/>
              <a:t>為了提升音訊品質，我們專注於去除低於閾值的背景噪聲。例如，像風聲、鍵盤敲擊聲等微弱的背景聲音會被過濾掉，保留主要的語音訊號。</a:t>
            </a:r>
            <a:endParaRPr lang="en-US" altLang="zh-TW" dirty="0"/>
          </a:p>
          <a:p>
            <a:endParaRPr lang="zh-TW" altLang="en-US" dirty="0"/>
          </a:p>
        </p:txBody>
      </p:sp>
      <p:sp>
        <p:nvSpPr>
          <p:cNvPr id="4" name="投影片編號版面配置區 3"/>
          <p:cNvSpPr>
            <a:spLocks noGrp="1"/>
          </p:cNvSpPr>
          <p:nvPr>
            <p:ph type="sldNum" sz="quarter" idx="5"/>
          </p:nvPr>
        </p:nvSpPr>
        <p:spPr/>
        <p:txBody>
          <a:bodyPr/>
          <a:lstStyle/>
          <a:p>
            <a:fld id="{FDFB969D-C169-473E-9A63-3A56F17FEFCB}" type="slidenum">
              <a:rPr lang="zh-CN" altLang="en-US" smtClean="0"/>
              <a:t>2</a:t>
            </a:fld>
            <a:endParaRPr lang="zh-CN" altLang="en-US"/>
          </a:p>
        </p:txBody>
      </p:sp>
    </p:spTree>
    <p:extLst>
      <p:ext uri="{BB962C8B-B14F-4D97-AF65-F5344CB8AC3E}">
        <p14:creationId xmlns:p14="http://schemas.microsoft.com/office/powerpoint/2010/main" val="1216790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5A07BA-810F-BB62-2263-11F4E704E1B2}"/>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9B67150B-B65F-827A-C6FA-0F73328F3E83}"/>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89C2109B-DB56-FB9B-A7CD-CDD5EA668689}"/>
              </a:ext>
            </a:extLst>
          </p:cNvPr>
          <p:cNvSpPr>
            <a:spLocks noGrp="1"/>
          </p:cNvSpPr>
          <p:nvPr>
            <p:ph type="body" idx="1"/>
          </p:nvPr>
        </p:nvSpPr>
        <p:spPr/>
        <p:txBody>
          <a:bodyPr/>
          <a:lstStyle/>
          <a:p>
            <a:r>
              <a:rPr lang="zh-TW" altLang="en-US" dirty="0"/>
              <a:t>音訊數據的編碼與加密，採用 </a:t>
            </a:r>
            <a:r>
              <a:rPr lang="en-US" altLang="zh-TW" dirty="0"/>
              <a:t>FSK </a:t>
            </a:r>
            <a:r>
              <a:rPr lang="zh-TW" altLang="en-US" dirty="0"/>
              <a:t>調變技術，將音訊訊號轉換為兩個頻率的調變訊號，並將浮點數訊號量化為 </a:t>
            </a:r>
            <a:r>
              <a:rPr lang="en-US" altLang="zh-TW" dirty="0"/>
              <a:t>8 </a:t>
            </a:r>
            <a:r>
              <a:rPr lang="zh-TW" altLang="en-US" dirty="0"/>
              <a:t>或 </a:t>
            </a:r>
            <a:r>
              <a:rPr lang="en-US" altLang="zh-TW" dirty="0"/>
              <a:t>16 </a:t>
            </a:r>
            <a:r>
              <a:rPr lang="zh-TW" altLang="en-US" dirty="0"/>
              <a:t>位格式，便於處理。交錯處理減少突發錯誤影響，量化後的數據轉為位元組格式並加密。</a:t>
            </a:r>
            <a:r>
              <a:rPr lang="en-US" altLang="zh-TW" b="0" i="0" dirty="0">
                <a:effectLst/>
                <a:latin typeface="gg sans"/>
              </a:rPr>
              <a:t>(</a:t>
            </a:r>
            <a:r>
              <a:rPr lang="zh-TW" altLang="en-US" b="0" i="0" dirty="0">
                <a:effectLst/>
                <a:latin typeface="gg sans"/>
              </a:rPr>
              <a:t>按</a:t>
            </a:r>
            <a:r>
              <a:rPr lang="en-US" altLang="zh-TW" b="0" i="0" dirty="0">
                <a:effectLst/>
                <a:latin typeface="gg sans"/>
              </a:rPr>
              <a:t>)</a:t>
            </a:r>
            <a:endParaRPr lang="zh-TW" altLang="en-US" dirty="0"/>
          </a:p>
          <a:p>
            <a:endParaRPr lang="zh-TW" altLang="en-US" dirty="0"/>
          </a:p>
          <a:p>
            <a:r>
              <a:rPr lang="zh-TW" altLang="en-US" dirty="0"/>
              <a:t>發送前，音訊數據被分為最大 </a:t>
            </a:r>
            <a:r>
              <a:rPr lang="en-US" altLang="zh-TW" dirty="0"/>
              <a:t>1020 byte </a:t>
            </a:r>
            <a:r>
              <a:rPr lang="zh-TW" altLang="en-US" dirty="0"/>
              <a:t>的小數據包，附加 </a:t>
            </a:r>
            <a:r>
              <a:rPr lang="en-US" altLang="zh-TW" dirty="0"/>
              <a:t>CRC </a:t>
            </a:r>
            <a:r>
              <a:rPr lang="zh-TW" altLang="en-US" dirty="0"/>
              <a:t>校驗碼驗證完整性。數據包結構包含包號、塊索引、總塊數、</a:t>
            </a:r>
            <a:r>
              <a:rPr lang="en-US" altLang="zh-TW" dirty="0"/>
              <a:t>CRC </a:t>
            </a:r>
            <a:r>
              <a:rPr lang="zh-TW" altLang="en-US" dirty="0"/>
              <a:t>校驗碼與音訊數據，方便解析。</a:t>
            </a:r>
            <a:r>
              <a:rPr lang="en-US" altLang="zh-TW" b="0" i="0" dirty="0">
                <a:effectLst/>
                <a:latin typeface="gg sans"/>
              </a:rPr>
              <a:t>(</a:t>
            </a:r>
            <a:r>
              <a:rPr lang="zh-TW" altLang="en-US" b="0" i="0" dirty="0">
                <a:effectLst/>
                <a:latin typeface="gg sans"/>
              </a:rPr>
              <a:t>按</a:t>
            </a:r>
            <a:r>
              <a:rPr lang="en-US" altLang="zh-TW" b="0" i="0" dirty="0">
                <a:effectLst/>
                <a:latin typeface="gg sans"/>
              </a:rPr>
              <a:t>)</a:t>
            </a:r>
            <a:endParaRPr lang="zh-TW" altLang="en-US" dirty="0"/>
          </a:p>
          <a:p>
            <a:endParaRPr lang="zh-TW" altLang="en-US" dirty="0"/>
          </a:p>
          <a:p>
            <a:r>
              <a:rPr lang="zh-TW" altLang="en-US" dirty="0"/>
              <a:t>傳輸過程中，系統監控數據包狀態，失敗時自動重傳，並修復丟包或異常。</a:t>
            </a:r>
          </a:p>
        </p:txBody>
      </p:sp>
      <p:sp>
        <p:nvSpPr>
          <p:cNvPr id="4" name="投影片編號版面配置區 3">
            <a:extLst>
              <a:ext uri="{FF2B5EF4-FFF2-40B4-BE49-F238E27FC236}">
                <a16:creationId xmlns:a16="http://schemas.microsoft.com/office/drawing/2014/main" id="{C3232A1B-9B00-FD8E-C5EA-956179D74D5B}"/>
              </a:ext>
            </a:extLst>
          </p:cNvPr>
          <p:cNvSpPr>
            <a:spLocks noGrp="1"/>
          </p:cNvSpPr>
          <p:nvPr>
            <p:ph type="sldNum" sz="quarter" idx="5"/>
          </p:nvPr>
        </p:nvSpPr>
        <p:spPr/>
        <p:txBody>
          <a:bodyPr/>
          <a:lstStyle/>
          <a:p>
            <a:fld id="{FDFB969D-C169-473E-9A63-3A56F17FEFCB}" type="slidenum">
              <a:rPr lang="zh-CN" altLang="en-US" smtClean="0"/>
              <a:t>3</a:t>
            </a:fld>
            <a:endParaRPr lang="zh-CN" altLang="en-US"/>
          </a:p>
        </p:txBody>
      </p:sp>
    </p:spTree>
    <p:extLst>
      <p:ext uri="{BB962C8B-B14F-4D97-AF65-F5344CB8AC3E}">
        <p14:creationId xmlns:p14="http://schemas.microsoft.com/office/powerpoint/2010/main" val="7446559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數據傳輸是系統的核心，將音訊分割為不超過 </a:t>
            </a:r>
            <a:r>
              <a:rPr lang="en-US" altLang="zh-TW" dirty="0"/>
              <a:t>1020 byte </a:t>
            </a:r>
            <a:r>
              <a:rPr lang="zh-TW" altLang="en-US" dirty="0"/>
              <a:t>的小數據包。</a:t>
            </a:r>
            <a:r>
              <a:rPr lang="en-US" altLang="zh-TW" b="0" i="0" dirty="0">
                <a:effectLst/>
                <a:latin typeface="gg sans"/>
              </a:rPr>
              <a:t>(</a:t>
            </a:r>
            <a:r>
              <a:rPr lang="zh-TW" altLang="en-US" b="0" i="0" dirty="0">
                <a:effectLst/>
                <a:latin typeface="gg sans"/>
              </a:rPr>
              <a:t>按</a:t>
            </a:r>
            <a:r>
              <a:rPr lang="en-US" altLang="zh-TW" b="0" i="0" dirty="0">
                <a:effectLst/>
                <a:latin typeface="gg sans"/>
              </a:rPr>
              <a:t>)</a:t>
            </a:r>
            <a:endParaRPr lang="en-US" altLang="zh-TW" dirty="0"/>
          </a:p>
          <a:p>
            <a:endParaRPr lang="zh-TW" altLang="en-US" dirty="0"/>
          </a:p>
          <a:p>
            <a:r>
              <a:rPr lang="zh-TW" altLang="en-US" dirty="0"/>
              <a:t>附加序列號與 </a:t>
            </a:r>
            <a:r>
              <a:rPr lang="en-US" altLang="zh-TW" dirty="0"/>
              <a:t>CRC </a:t>
            </a:r>
            <a:r>
              <a:rPr lang="zh-TW" altLang="en-US" dirty="0"/>
              <a:t>校驗碼，確保接收端檢測完整性並處理丟包或錯誤，最多重傳三次。</a:t>
            </a:r>
            <a:r>
              <a:rPr lang="en-US" altLang="zh-TW" b="0" i="0" dirty="0">
                <a:effectLst/>
                <a:latin typeface="gg sans"/>
              </a:rPr>
              <a:t>(</a:t>
            </a:r>
            <a:r>
              <a:rPr lang="zh-TW" altLang="en-US" b="0" i="0" dirty="0">
                <a:effectLst/>
                <a:latin typeface="gg sans"/>
              </a:rPr>
              <a:t>按</a:t>
            </a:r>
            <a:r>
              <a:rPr lang="en-US" altLang="zh-TW" b="0" i="0" dirty="0">
                <a:effectLst/>
                <a:latin typeface="gg sans"/>
              </a:rPr>
              <a:t>)</a:t>
            </a:r>
            <a:endParaRPr lang="en-US" altLang="zh-TW" dirty="0"/>
          </a:p>
          <a:p>
            <a:endParaRPr lang="en-US" altLang="zh-TW" dirty="0"/>
          </a:p>
          <a:p>
            <a:r>
              <a:rPr lang="zh-TW" altLang="en-US" dirty="0"/>
              <a:t>系統動態監控緩衝區狀態，防止溢出影響性能，並根據網絡狀況動態調整數據大小，確保傳輸穩定高效。</a:t>
            </a:r>
          </a:p>
          <a:p>
            <a:endParaRPr lang="en-US" altLang="zh-TW" dirty="0"/>
          </a:p>
          <a:p>
            <a:r>
              <a:rPr lang="en-US" altLang="zh-TW" dirty="0"/>
              <a:t>---</a:t>
            </a:r>
          </a:p>
          <a:p>
            <a:endParaRPr lang="en-US" altLang="zh-TW" dirty="0"/>
          </a:p>
          <a:p>
            <a:r>
              <a:rPr lang="zh-TW" altLang="en-US" dirty="0"/>
              <a:t>數據傳輸技術是核心環節，確保音訊數據能夠穩定從發送端傳遞至接收端。</a:t>
            </a:r>
            <a:endParaRPr lang="en-US" altLang="zh-TW" dirty="0"/>
          </a:p>
          <a:p>
            <a:endParaRPr lang="en-US" altLang="zh-TW" dirty="0"/>
          </a:p>
          <a:p>
            <a:r>
              <a:rPr lang="zh-TW" altLang="en-US" dirty="0"/>
              <a:t>為了解決大數據量無法一次性傳輸的問題，我們將音訊數據分割成小包，每個包的大小不超過</a:t>
            </a:r>
            <a:r>
              <a:rPr lang="en-US" altLang="zh-TW" dirty="0"/>
              <a:t>1020 bytes</a:t>
            </a:r>
            <a:r>
              <a:rPr lang="zh-TW" altLang="en-US" dirty="0"/>
              <a:t>。</a:t>
            </a:r>
            <a:endParaRPr lang="en-US" altLang="zh-TW" dirty="0"/>
          </a:p>
          <a:p>
            <a:endParaRPr lang="en-US" altLang="zh-TW" dirty="0"/>
          </a:p>
          <a:p>
            <a:r>
              <a:rPr lang="zh-TW" altLang="en-US" dirty="0"/>
              <a:t>接著由於 </a:t>
            </a:r>
            <a:r>
              <a:rPr lang="en-US" altLang="zh-TW" dirty="0"/>
              <a:t>UDP </a:t>
            </a:r>
            <a:r>
              <a:rPr lang="zh-TW" altLang="en-US" dirty="0"/>
              <a:t>本身是一種無連接的傳輸協議，不提供數據的可靠性保障。</a:t>
            </a:r>
            <a:endParaRPr lang="en-US" altLang="zh-TW" dirty="0"/>
          </a:p>
          <a:p>
            <a:endParaRPr lang="en-US" altLang="zh-TW" dirty="0"/>
          </a:p>
          <a:p>
            <a:r>
              <a:rPr lang="en-US" altLang="zh-TW" dirty="0"/>
              <a:t>-</a:t>
            </a:r>
          </a:p>
          <a:p>
            <a:endParaRPr lang="en-US" altLang="zh-TW" dirty="0"/>
          </a:p>
          <a:p>
            <a:r>
              <a:rPr lang="zh-TW" altLang="en-US" dirty="0"/>
              <a:t>每個數據包都附帶唯一的序列號，接收端可以通過序列號確認數據的到達順序與完整性。</a:t>
            </a:r>
            <a:endParaRPr lang="en-US" altLang="zh-TW" dirty="0"/>
          </a:p>
          <a:p>
            <a:endParaRPr lang="en-US" altLang="zh-TW" dirty="0"/>
          </a:p>
          <a:p>
            <a:r>
              <a:rPr lang="zh-TW" altLang="en-US" dirty="0"/>
              <a:t>計算每個數據包的校驗碼，幫助檢測傳輸過程中的數據損壞。</a:t>
            </a:r>
            <a:endParaRPr lang="en-US" altLang="zh-TW" dirty="0"/>
          </a:p>
          <a:p>
            <a:endParaRPr lang="en-US" altLang="zh-TW" dirty="0"/>
          </a:p>
          <a:p>
            <a:r>
              <a:rPr lang="zh-TW" altLang="en-US" dirty="0"/>
              <a:t>如果接收端檢測到數據丟失或校驗失敗，最多可以向發送端請求</a:t>
            </a:r>
            <a:r>
              <a:rPr lang="en-US" altLang="zh-TW" dirty="0"/>
              <a:t>3</a:t>
            </a:r>
            <a:r>
              <a:rPr lang="zh-TW" altLang="en-US" dirty="0"/>
              <a:t>次重傳。</a:t>
            </a:r>
            <a:endParaRPr lang="en-US" altLang="zh-TW" dirty="0"/>
          </a:p>
          <a:p>
            <a:endParaRPr lang="en-US" altLang="zh-TW" dirty="0"/>
          </a:p>
          <a:p>
            <a:r>
              <a:rPr lang="en-US" altLang="zh-TW" dirty="0"/>
              <a:t>-</a:t>
            </a:r>
          </a:p>
          <a:p>
            <a:endParaRPr lang="en-US" altLang="zh-TW" dirty="0"/>
          </a:p>
          <a:p>
            <a:pPr>
              <a:buFont typeface="Arial" panose="020B0604020202020204" pitchFamily="34" charset="0"/>
              <a:buNone/>
            </a:pPr>
            <a:r>
              <a:rPr lang="zh-TW" altLang="en-US" dirty="0"/>
              <a:t>系統持續監測緩衝區的使用狀況，避免因緩衝區溢出導致數據丟失或性能下降。</a:t>
            </a:r>
            <a:endParaRPr lang="en-US" altLang="zh-TW" dirty="0"/>
          </a:p>
          <a:p>
            <a:pPr>
              <a:buFont typeface="Arial" panose="020B0604020202020204" pitchFamily="34" charset="0"/>
              <a:buNone/>
            </a:pPr>
            <a:r>
              <a:rPr lang="zh-TW" altLang="en-US" dirty="0"/>
              <a:t>根據網絡狀況和緩衝區的負載情況，動態調整傳輸數據的大小，確保傳輸穩定性與效率。</a:t>
            </a:r>
          </a:p>
          <a:p>
            <a:endParaRPr lang="zh-TW" altLang="en-US" dirty="0"/>
          </a:p>
        </p:txBody>
      </p:sp>
      <p:sp>
        <p:nvSpPr>
          <p:cNvPr id="4" name="投影片編號版面配置區 3"/>
          <p:cNvSpPr>
            <a:spLocks noGrp="1"/>
          </p:cNvSpPr>
          <p:nvPr>
            <p:ph type="sldNum" sz="quarter" idx="5"/>
          </p:nvPr>
        </p:nvSpPr>
        <p:spPr/>
        <p:txBody>
          <a:bodyPr/>
          <a:lstStyle/>
          <a:p>
            <a:fld id="{FDFB969D-C169-473E-9A63-3A56F17FEFCB}" type="slidenum">
              <a:rPr lang="zh-CN" altLang="en-US" smtClean="0"/>
              <a:t>4</a:t>
            </a:fld>
            <a:endParaRPr lang="zh-CN" altLang="en-US"/>
          </a:p>
        </p:txBody>
      </p:sp>
    </p:spTree>
    <p:extLst>
      <p:ext uri="{BB962C8B-B14F-4D97-AF65-F5344CB8AC3E}">
        <p14:creationId xmlns:p14="http://schemas.microsoft.com/office/powerpoint/2010/main" val="13107751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algn="l" fontAlgn="base">
              <a:buFont typeface="+mj-lt"/>
              <a:buNone/>
            </a:pPr>
            <a:r>
              <a:rPr lang="zh-TW" altLang="en-US" dirty="0"/>
              <a:t>為了讓使用更加直觀，我們設計了簡潔的介面。</a:t>
            </a:r>
            <a:r>
              <a:rPr lang="en-US" altLang="zh-TW" b="0" i="0" dirty="0">
                <a:effectLst/>
                <a:latin typeface="gg sans"/>
              </a:rPr>
              <a:t>(</a:t>
            </a:r>
            <a:r>
              <a:rPr lang="zh-TW" altLang="en-US" b="0" i="0" dirty="0">
                <a:effectLst/>
                <a:latin typeface="gg sans"/>
              </a:rPr>
              <a:t>按</a:t>
            </a:r>
            <a:r>
              <a:rPr lang="en-US" altLang="zh-TW" b="0" i="0" dirty="0">
                <a:effectLst/>
                <a:latin typeface="gg sans"/>
              </a:rPr>
              <a:t>)</a:t>
            </a:r>
            <a:endParaRPr lang="en-US" altLang="zh-TW" dirty="0"/>
          </a:p>
          <a:p>
            <a:pPr algn="l" fontAlgn="base">
              <a:buFont typeface="+mj-lt"/>
              <a:buNone/>
            </a:pPr>
            <a:r>
              <a:rPr lang="zh-TW" altLang="en-US" b="0" i="0" dirty="0">
                <a:solidFill>
                  <a:srgbClr val="000000"/>
                </a:solidFill>
                <a:effectLst/>
                <a:latin typeface="inherit"/>
              </a:rPr>
              <a:t>提供預設及手動配置兩種方式，預設</a:t>
            </a:r>
            <a:r>
              <a:rPr lang="en-US" altLang="zh-TW" b="0" i="0" dirty="0">
                <a:solidFill>
                  <a:srgbClr val="000000"/>
                </a:solidFill>
                <a:effectLst/>
                <a:latin typeface="inherit"/>
              </a:rPr>
              <a:t>1</a:t>
            </a:r>
            <a:r>
              <a:rPr lang="zh-TW" altLang="en-US" b="0" i="0" dirty="0">
                <a:solidFill>
                  <a:srgbClr val="000000"/>
                </a:solidFill>
                <a:effectLst/>
                <a:latin typeface="inherit"/>
              </a:rPr>
              <a:t>是高音質，</a:t>
            </a:r>
            <a:r>
              <a:rPr lang="en-US" altLang="zh-TW" b="0" i="0" dirty="0">
                <a:solidFill>
                  <a:srgbClr val="000000"/>
                </a:solidFill>
                <a:effectLst/>
                <a:latin typeface="inherit"/>
              </a:rPr>
              <a:t>2</a:t>
            </a:r>
            <a:r>
              <a:rPr lang="zh-TW" altLang="en-US" b="0" i="0" dirty="0">
                <a:solidFill>
                  <a:srgbClr val="000000"/>
                </a:solidFill>
                <a:effectLst/>
                <a:latin typeface="inherit"/>
              </a:rPr>
              <a:t>則是音質較差的模式。</a:t>
            </a:r>
            <a:r>
              <a:rPr lang="en-US" altLang="zh-TW" b="0" i="0" dirty="0">
                <a:effectLst/>
                <a:latin typeface="gg sans"/>
              </a:rPr>
              <a:t>(</a:t>
            </a:r>
            <a:r>
              <a:rPr lang="zh-TW" altLang="en-US" b="0" i="0" dirty="0">
                <a:effectLst/>
                <a:latin typeface="gg sans"/>
              </a:rPr>
              <a:t>按</a:t>
            </a:r>
            <a:r>
              <a:rPr lang="en-US" altLang="zh-TW" b="0" i="0" dirty="0">
                <a:effectLst/>
                <a:latin typeface="gg sans"/>
              </a:rPr>
              <a:t>)</a:t>
            </a:r>
            <a:endParaRPr lang="en-US" altLang="zh-TW" b="0" i="0" dirty="0">
              <a:solidFill>
                <a:srgbClr val="000000"/>
              </a:solidFill>
              <a:effectLst/>
              <a:latin typeface="inherit"/>
            </a:endParaRPr>
          </a:p>
          <a:p>
            <a:pPr algn="l" fontAlgn="base">
              <a:buFont typeface="+mj-lt"/>
              <a:buNone/>
            </a:pPr>
            <a:endParaRPr lang="en-US" altLang="zh-TW" b="0" i="0" dirty="0">
              <a:solidFill>
                <a:srgbClr val="000000"/>
              </a:solidFill>
              <a:effectLst/>
              <a:latin typeface="inherit"/>
            </a:endParaRPr>
          </a:p>
          <a:p>
            <a:pPr algn="l" fontAlgn="base">
              <a:buFont typeface="+mj-lt"/>
              <a:buNone/>
            </a:pPr>
            <a:r>
              <a:rPr lang="zh-TW" altLang="en-US" b="0" i="0" dirty="0">
                <a:solidFill>
                  <a:srgbClr val="000000"/>
                </a:solidFill>
                <a:effectLst/>
                <a:latin typeface="inherit"/>
              </a:rPr>
              <a:t>右邊手動配置可以調整量化編碼，</a:t>
            </a:r>
            <a:r>
              <a:rPr lang="zh-TW" altLang="en-US" dirty="0"/>
              <a:t>將連續的音訊訊號轉換為離散的數字值。</a:t>
            </a:r>
            <a:endParaRPr lang="en-US" altLang="zh-TW" dirty="0"/>
          </a:p>
          <a:p>
            <a:pPr algn="l" fontAlgn="base">
              <a:buFont typeface="+mj-lt"/>
              <a:buNone/>
            </a:pPr>
            <a:r>
              <a:rPr lang="zh-TW" altLang="en-US" b="0" i="0" dirty="0">
                <a:solidFill>
                  <a:srgbClr val="000000"/>
                </a:solidFill>
                <a:effectLst/>
                <a:latin typeface="inherit"/>
              </a:rPr>
              <a:t>以及</a:t>
            </a:r>
            <a:r>
              <a:rPr lang="zh-TW" altLang="en-US" dirty="0"/>
              <a:t>截止頻率調整，通過濾波技術優化音訊訊號，</a:t>
            </a:r>
            <a:r>
              <a:rPr lang="zh-TW" altLang="en-US" b="0" i="0" dirty="0">
                <a:solidFill>
                  <a:srgbClr val="000000"/>
                </a:solidFill>
                <a:effectLst/>
                <a:latin typeface="inherit"/>
              </a:rPr>
              <a:t>保留更多高頻細節使音質更好，但可能包含更多噪音</a:t>
            </a:r>
            <a:r>
              <a:rPr lang="zh-TW" altLang="en-US" dirty="0"/>
              <a:t>。</a:t>
            </a:r>
            <a:endParaRPr lang="en-US" altLang="zh-TW" dirty="0"/>
          </a:p>
          <a:p>
            <a:pPr algn="l" fontAlgn="base">
              <a:buFont typeface="+mj-lt"/>
              <a:buNone/>
            </a:pPr>
            <a:r>
              <a:rPr lang="zh-TW" altLang="en-US" b="0" i="0" dirty="0">
                <a:solidFill>
                  <a:srgbClr val="000000"/>
                </a:solidFill>
                <a:effectLst/>
                <a:latin typeface="inherit"/>
              </a:rPr>
              <a:t>還有</a:t>
            </a:r>
            <a:r>
              <a:rPr lang="zh-TW" altLang="en-US" dirty="0"/>
              <a:t>濾波器階數設置，提高音訊處理的穩定性，以適應不同應用場景的需求。</a:t>
            </a:r>
            <a:endParaRPr lang="en-US" altLang="zh-TW" b="0" i="0" dirty="0">
              <a:solidFill>
                <a:srgbClr val="000000"/>
              </a:solidFill>
              <a:effectLst/>
              <a:latin typeface="inherit"/>
            </a:endParaRPr>
          </a:p>
          <a:p>
            <a:pPr algn="l" fontAlgn="base">
              <a:buFont typeface="+mj-lt"/>
              <a:buAutoNum type="arabicPeriod"/>
            </a:pPr>
            <a:endParaRPr lang="en-US" altLang="zh-TW" b="0" i="0" dirty="0">
              <a:solidFill>
                <a:srgbClr val="000000"/>
              </a:solidFill>
              <a:effectLst/>
              <a:latin typeface="inherit"/>
            </a:endParaRPr>
          </a:p>
          <a:p>
            <a:pPr algn="l" fontAlgn="base">
              <a:buFont typeface="+mj-lt"/>
              <a:buAutoNum type="arabicPeriod"/>
            </a:pPr>
            <a:endParaRPr lang="en-US" altLang="zh-TW" b="0" i="0" dirty="0">
              <a:solidFill>
                <a:srgbClr val="000000"/>
              </a:solidFill>
              <a:effectLst/>
              <a:latin typeface="inherit"/>
            </a:endParaRPr>
          </a:p>
          <a:p>
            <a:pPr algn="l" fontAlgn="base">
              <a:buFont typeface="+mj-lt"/>
              <a:buNone/>
            </a:pPr>
            <a:r>
              <a:rPr lang="en-US" altLang="zh-TW" b="0" i="0" dirty="0">
                <a:solidFill>
                  <a:srgbClr val="000000"/>
                </a:solidFill>
                <a:effectLst/>
                <a:latin typeface="inherit"/>
              </a:rPr>
              <a:t>----</a:t>
            </a:r>
          </a:p>
          <a:p>
            <a:pPr algn="l" fontAlgn="base">
              <a:buFont typeface="+mj-lt"/>
              <a:buAutoNum type="arabicPeriod"/>
            </a:pPr>
            <a:r>
              <a:rPr lang="zh-TW" altLang="en-US" b="0" i="0" dirty="0">
                <a:solidFill>
                  <a:srgbClr val="000000"/>
                </a:solidFill>
                <a:effectLst/>
                <a:latin typeface="inherit"/>
              </a:rPr>
              <a:t>技術細節： </a:t>
            </a:r>
            <a:r>
              <a:rPr lang="en-US" altLang="zh-TW" b="0" i="0" dirty="0">
                <a:solidFill>
                  <a:srgbClr val="000000"/>
                </a:solidFill>
                <a:effectLst/>
                <a:latin typeface="inherit"/>
              </a:rPr>
              <a:t>8</a:t>
            </a:r>
            <a:r>
              <a:rPr lang="zh-TW" altLang="en-US" b="0" i="0" dirty="0">
                <a:solidFill>
                  <a:srgbClr val="000000"/>
                </a:solidFill>
                <a:effectLst/>
                <a:latin typeface="inherit"/>
              </a:rPr>
              <a:t>位元量化（</a:t>
            </a:r>
            <a:r>
              <a:rPr lang="en-US" altLang="zh-TW" b="0" i="0" dirty="0">
                <a:solidFill>
                  <a:srgbClr val="000000"/>
                </a:solidFill>
                <a:effectLst/>
                <a:latin typeface="inherit"/>
              </a:rPr>
              <a:t>256</a:t>
            </a:r>
            <a:r>
              <a:rPr lang="zh-TW" altLang="en-US" b="0" i="0" dirty="0">
                <a:solidFill>
                  <a:srgbClr val="000000"/>
                </a:solidFill>
                <a:effectLst/>
                <a:latin typeface="inherit"/>
              </a:rPr>
              <a:t>級）： 範圍：</a:t>
            </a:r>
            <a:r>
              <a:rPr lang="en-US" altLang="zh-TW" b="0" i="0" dirty="0">
                <a:solidFill>
                  <a:srgbClr val="000000"/>
                </a:solidFill>
                <a:effectLst/>
                <a:latin typeface="inherit"/>
              </a:rPr>
              <a:t>0-255 </a:t>
            </a:r>
            <a:r>
              <a:rPr lang="zh-TW" altLang="en-US" b="0" i="0" dirty="0">
                <a:solidFill>
                  <a:srgbClr val="000000"/>
                </a:solidFill>
                <a:effectLst/>
                <a:latin typeface="inherit"/>
              </a:rPr>
              <a:t>檔案較小，音質較低 適合語音通話 </a:t>
            </a:r>
            <a:r>
              <a:rPr lang="en-US" altLang="zh-TW" b="0" i="0" dirty="0">
                <a:solidFill>
                  <a:srgbClr val="000000"/>
                </a:solidFill>
                <a:effectLst/>
                <a:latin typeface="inherit"/>
              </a:rPr>
              <a:t>16</a:t>
            </a:r>
            <a:r>
              <a:rPr lang="zh-TW" altLang="en-US" b="0" i="0" dirty="0">
                <a:solidFill>
                  <a:srgbClr val="000000"/>
                </a:solidFill>
                <a:effectLst/>
                <a:latin typeface="inherit"/>
              </a:rPr>
              <a:t>位元量化（</a:t>
            </a:r>
            <a:r>
              <a:rPr lang="en-US" altLang="zh-TW" b="0" i="0" dirty="0">
                <a:solidFill>
                  <a:srgbClr val="000000"/>
                </a:solidFill>
                <a:effectLst/>
                <a:latin typeface="inherit"/>
              </a:rPr>
              <a:t>65536</a:t>
            </a:r>
            <a:r>
              <a:rPr lang="zh-TW" altLang="en-US" b="0" i="0" dirty="0">
                <a:solidFill>
                  <a:srgbClr val="000000"/>
                </a:solidFill>
                <a:effectLst/>
                <a:latin typeface="inherit"/>
              </a:rPr>
              <a:t>級）： 範圍：</a:t>
            </a:r>
            <a:r>
              <a:rPr lang="en-US" altLang="zh-TW" b="0" i="0" dirty="0">
                <a:solidFill>
                  <a:srgbClr val="000000"/>
                </a:solidFill>
                <a:effectLst/>
                <a:latin typeface="inherit"/>
              </a:rPr>
              <a:t>0-65535 </a:t>
            </a:r>
            <a:r>
              <a:rPr lang="zh-TW" altLang="en-US" b="0" i="0" dirty="0">
                <a:solidFill>
                  <a:srgbClr val="000000"/>
                </a:solidFill>
                <a:effectLst/>
                <a:latin typeface="inherit"/>
              </a:rPr>
              <a:t>檔案較大，音質較高 適合音樂傳輸</a:t>
            </a:r>
            <a:endParaRPr lang="en-US" altLang="zh-TW" b="0" i="0" dirty="0">
              <a:solidFill>
                <a:srgbClr val="000000"/>
              </a:solidFill>
              <a:effectLst/>
              <a:latin typeface="inherit"/>
            </a:endParaRPr>
          </a:p>
          <a:p>
            <a:pPr algn="l" fontAlgn="base">
              <a:buFont typeface="+mj-lt"/>
              <a:buAutoNum type="arabicPeriod"/>
            </a:pPr>
            <a:r>
              <a:rPr lang="zh-TW" altLang="en-US" b="0" i="0" dirty="0">
                <a:solidFill>
                  <a:srgbClr val="000000"/>
                </a:solidFill>
                <a:effectLst/>
                <a:latin typeface="inherit"/>
              </a:rPr>
              <a:t>較高的截止頻率（如</a:t>
            </a:r>
            <a:r>
              <a:rPr lang="en-US" altLang="zh-TW" b="0" i="0" dirty="0">
                <a:solidFill>
                  <a:srgbClr val="000000"/>
                </a:solidFill>
                <a:effectLst/>
                <a:latin typeface="inherit"/>
              </a:rPr>
              <a:t>4000Hz</a:t>
            </a:r>
            <a:r>
              <a:rPr lang="zh-TW" altLang="en-US" b="0" i="0" dirty="0">
                <a:solidFill>
                  <a:srgbClr val="000000"/>
                </a:solidFill>
                <a:effectLst/>
                <a:latin typeface="inherit"/>
              </a:rPr>
              <a:t>）：保留更多高頻細節音質更好，但可能包含更多噪音。較低的截止頻率（如</a:t>
            </a:r>
            <a:r>
              <a:rPr lang="en-US" altLang="zh-TW" b="0" i="0" dirty="0">
                <a:solidFill>
                  <a:srgbClr val="000000"/>
                </a:solidFill>
                <a:effectLst/>
                <a:latin typeface="inherit"/>
              </a:rPr>
              <a:t>2000Hz</a:t>
            </a:r>
            <a:r>
              <a:rPr lang="zh-TW" altLang="en-US" b="0" i="0" dirty="0">
                <a:solidFill>
                  <a:srgbClr val="000000"/>
                </a:solidFill>
                <a:effectLst/>
                <a:latin typeface="inherit"/>
              </a:rPr>
              <a:t>）：去除更多高頻成分音質較差，但噪音更少</a:t>
            </a:r>
            <a:endParaRPr lang="en-US" altLang="zh-TW" b="0" i="0" dirty="0">
              <a:solidFill>
                <a:srgbClr val="000000"/>
              </a:solidFill>
              <a:effectLst/>
              <a:latin typeface="inherit"/>
            </a:endParaRPr>
          </a:p>
          <a:p>
            <a:pPr algn="l" fontAlgn="base">
              <a:buFont typeface="+mj-lt"/>
              <a:buAutoNum type="arabicPeriod"/>
            </a:pPr>
            <a:r>
              <a:rPr lang="zh-TW" altLang="en-US" b="0" i="0" dirty="0">
                <a:effectLst/>
                <a:latin typeface="gg sans"/>
              </a:rPr>
              <a:t>濾波器階數：</a:t>
            </a:r>
            <a:endParaRPr lang="en-US" altLang="zh-TW" b="0" i="0" dirty="0">
              <a:effectLst/>
              <a:latin typeface="gg sans"/>
            </a:endParaRPr>
          </a:p>
          <a:p>
            <a:pPr algn="l" fontAlgn="base">
              <a:buFont typeface="+mj-lt"/>
              <a:buNone/>
            </a:pPr>
            <a:r>
              <a:rPr lang="zh-TW" altLang="en-US" b="0" i="0" dirty="0">
                <a:effectLst/>
                <a:latin typeface="gg sans"/>
              </a:rPr>
              <a:t>較高階數（如</a:t>
            </a:r>
            <a:r>
              <a:rPr lang="en-US" altLang="zh-TW" b="0" i="0" dirty="0">
                <a:effectLst/>
                <a:latin typeface="gg sans"/>
              </a:rPr>
              <a:t>8</a:t>
            </a:r>
            <a:r>
              <a:rPr lang="zh-TW" altLang="en-US" b="0" i="0" dirty="0">
                <a:effectLst/>
                <a:latin typeface="gg sans"/>
              </a:rPr>
              <a:t>階）：更陡峭的頻率響應更精確的頻率選擇性較大的處理延遲更多的計算資源</a:t>
            </a:r>
            <a:endParaRPr lang="en-US" altLang="zh-TW" b="0" i="0" dirty="0">
              <a:effectLst/>
              <a:latin typeface="gg sans"/>
            </a:endParaRPr>
          </a:p>
          <a:p>
            <a:pPr algn="l" fontAlgn="base">
              <a:buFont typeface="+mj-lt"/>
              <a:buNone/>
            </a:pPr>
            <a:r>
              <a:rPr lang="zh-TW" altLang="en-US" b="0" i="0" dirty="0">
                <a:effectLst/>
                <a:latin typeface="gg sans"/>
              </a:rPr>
              <a:t>較低階數（如</a:t>
            </a:r>
            <a:r>
              <a:rPr lang="en-US" altLang="zh-TW" b="0" i="0" dirty="0">
                <a:effectLst/>
                <a:latin typeface="gg sans"/>
              </a:rPr>
              <a:t>4</a:t>
            </a:r>
            <a:r>
              <a:rPr lang="zh-TW" altLang="en-US" b="0" i="0" dirty="0">
                <a:effectLst/>
                <a:latin typeface="gg sans"/>
              </a:rPr>
              <a:t>階）：較平緩的頻率響應較低的頻率選擇性較小的處理延遲較少的計算資源</a:t>
            </a:r>
            <a:endParaRPr lang="en-US" altLang="zh-TW" b="0" i="0" dirty="0">
              <a:solidFill>
                <a:srgbClr val="000000"/>
              </a:solidFill>
              <a:effectLst/>
              <a:latin typeface="inherit"/>
            </a:endParaRPr>
          </a:p>
        </p:txBody>
      </p:sp>
      <p:sp>
        <p:nvSpPr>
          <p:cNvPr id="4" name="投影片編號版面配置區 3"/>
          <p:cNvSpPr>
            <a:spLocks noGrp="1"/>
          </p:cNvSpPr>
          <p:nvPr>
            <p:ph type="sldNum" sz="quarter" idx="5"/>
          </p:nvPr>
        </p:nvSpPr>
        <p:spPr/>
        <p:txBody>
          <a:bodyPr/>
          <a:lstStyle/>
          <a:p>
            <a:fld id="{FDFB969D-C169-473E-9A63-3A56F17FEFCB}" type="slidenum">
              <a:rPr lang="zh-CN" altLang="en-US" smtClean="0"/>
              <a:t>5</a:t>
            </a:fld>
            <a:endParaRPr lang="zh-CN" altLang="en-US"/>
          </a:p>
        </p:txBody>
      </p:sp>
    </p:spTree>
    <p:extLst>
      <p:ext uri="{BB962C8B-B14F-4D97-AF65-F5344CB8AC3E}">
        <p14:creationId xmlns:p14="http://schemas.microsoft.com/office/powerpoint/2010/main" val="36274293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接收數據包時，我們透過 </a:t>
            </a:r>
            <a:r>
              <a:rPr lang="en-US" altLang="zh-TW" dirty="0"/>
              <a:t>UDP </a:t>
            </a:r>
            <a:r>
              <a:rPr lang="zh-TW" altLang="en-US" dirty="0"/>
              <a:t>檢查數據包長度，確保完整性，並從中提取序號、有效數據和校驗碼。</a:t>
            </a:r>
            <a:r>
              <a:rPr lang="en-US" altLang="zh-TW" b="0" i="0" dirty="0">
                <a:effectLst/>
                <a:latin typeface="gg sans"/>
              </a:rPr>
              <a:t>(</a:t>
            </a:r>
            <a:r>
              <a:rPr lang="zh-TW" altLang="en-US" b="0" i="0" dirty="0">
                <a:effectLst/>
                <a:latin typeface="gg sans"/>
              </a:rPr>
              <a:t>按</a:t>
            </a:r>
            <a:r>
              <a:rPr lang="en-US" altLang="zh-TW" b="0" i="0" dirty="0">
                <a:effectLst/>
                <a:latin typeface="gg sans"/>
              </a:rPr>
              <a:t>)</a:t>
            </a:r>
            <a:endParaRPr lang="en-US" altLang="zh-TW" dirty="0"/>
          </a:p>
          <a:p>
            <a:endParaRPr lang="en-US" altLang="zh-TW" dirty="0"/>
          </a:p>
          <a:p>
            <a:r>
              <a:rPr lang="zh-TW" altLang="en-US" dirty="0"/>
              <a:t>利用 </a:t>
            </a:r>
            <a:r>
              <a:rPr lang="en-US" altLang="zh-TW" dirty="0"/>
              <a:t>CRC </a:t>
            </a:r>
            <a:r>
              <a:rPr lang="zh-TW" altLang="en-US" dirty="0"/>
              <a:t>校驗確保數據無損後，將其暫存於緩衝區，以應對延遲和順序錯亂。當所有數據包接收完畢後，根據序號排序並組裝成完整音訊數據塊。</a:t>
            </a:r>
            <a:r>
              <a:rPr lang="en-US" altLang="zh-TW" b="0" i="0" dirty="0">
                <a:effectLst/>
                <a:latin typeface="gg sans"/>
              </a:rPr>
              <a:t>(</a:t>
            </a:r>
            <a:r>
              <a:rPr lang="zh-TW" altLang="en-US" b="0" i="0" dirty="0">
                <a:effectLst/>
                <a:latin typeface="gg sans"/>
              </a:rPr>
              <a:t>按</a:t>
            </a:r>
            <a:r>
              <a:rPr lang="en-US" altLang="zh-TW" b="0" i="0" dirty="0">
                <a:effectLst/>
                <a:latin typeface="gg sans"/>
              </a:rPr>
              <a:t>)</a:t>
            </a:r>
            <a:endParaRPr lang="en-US" altLang="zh-TW" dirty="0"/>
          </a:p>
          <a:p>
            <a:endParaRPr lang="zh-TW" altLang="en-US" dirty="0"/>
          </a:p>
          <a:p>
            <a:r>
              <a:rPr lang="zh-TW" altLang="en-US" dirty="0"/>
              <a:t>完成組裝後，我們進行解密並轉換為 </a:t>
            </a:r>
            <a:r>
              <a:rPr lang="en-US" altLang="zh-TW" dirty="0"/>
              <a:t>uint8 </a:t>
            </a:r>
            <a:r>
              <a:rPr lang="zh-TW" altLang="en-US" dirty="0"/>
              <a:t>格式，執行解交錯恢復數據順序，最後透過反量化還原音訊，保證音質接近原始。</a:t>
            </a:r>
          </a:p>
          <a:p>
            <a:endParaRPr lang="en-US" altLang="zh-TW" dirty="0"/>
          </a:p>
        </p:txBody>
      </p:sp>
      <p:sp>
        <p:nvSpPr>
          <p:cNvPr id="4" name="投影片編號版面配置區 3"/>
          <p:cNvSpPr>
            <a:spLocks noGrp="1"/>
          </p:cNvSpPr>
          <p:nvPr>
            <p:ph type="sldNum" sz="quarter" idx="5"/>
          </p:nvPr>
        </p:nvSpPr>
        <p:spPr/>
        <p:txBody>
          <a:bodyPr/>
          <a:lstStyle/>
          <a:p>
            <a:fld id="{FDFB969D-C169-473E-9A63-3A56F17FEFCB}" type="slidenum">
              <a:rPr lang="zh-CN" altLang="en-US" smtClean="0"/>
              <a:t>6</a:t>
            </a:fld>
            <a:endParaRPr lang="zh-CN" altLang="en-US"/>
          </a:p>
        </p:txBody>
      </p:sp>
    </p:spTree>
    <p:extLst>
      <p:ext uri="{BB962C8B-B14F-4D97-AF65-F5344CB8AC3E}">
        <p14:creationId xmlns:p14="http://schemas.microsoft.com/office/powerpoint/2010/main" val="40427768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數據還原後，我們使用 </a:t>
            </a:r>
            <a:r>
              <a:rPr lang="en-US" altLang="zh-TW" dirty="0"/>
              <a:t>FSK </a:t>
            </a:r>
            <a:r>
              <a:rPr lang="zh-TW" altLang="en-US" dirty="0"/>
              <a:t>解調將其轉換為原始語音波形，然後應用濾波和噪聲抑制技術提升音訊清晰度，減少背景噪聲。最後，將還原的語音數據輸出至播放設備，確保音質流暢自然。</a:t>
            </a:r>
          </a:p>
          <a:p>
            <a:endParaRPr lang="en-US" altLang="zh-TW" dirty="0"/>
          </a:p>
          <a:p>
            <a:r>
              <a:rPr lang="zh-TW" altLang="en-US" dirty="0"/>
              <a:t>其中第</a:t>
            </a:r>
            <a:r>
              <a:rPr lang="en-US" altLang="zh-TW" dirty="0"/>
              <a:t>2</a:t>
            </a:r>
            <a:r>
              <a:rPr lang="zh-TW" altLang="en-US" dirty="0"/>
              <a:t>點的訊號處理涵蓋以下這五個關鍵步驟。</a:t>
            </a:r>
            <a:r>
              <a:rPr lang="en-US" altLang="zh-TW" b="0" i="0" dirty="0">
                <a:effectLst/>
                <a:latin typeface="gg sans"/>
              </a:rPr>
              <a:t>(</a:t>
            </a:r>
            <a:r>
              <a:rPr lang="zh-TW" altLang="en-US" b="0" i="0" dirty="0">
                <a:effectLst/>
                <a:latin typeface="gg sans"/>
              </a:rPr>
              <a:t>按</a:t>
            </a:r>
            <a:r>
              <a:rPr lang="en-US" altLang="zh-TW" b="0" i="0" dirty="0">
                <a:effectLst/>
                <a:latin typeface="gg sans"/>
              </a:rPr>
              <a:t>)</a:t>
            </a:r>
            <a:endParaRPr lang="zh-TW" altLang="en-US" dirty="0"/>
          </a:p>
        </p:txBody>
      </p:sp>
      <p:sp>
        <p:nvSpPr>
          <p:cNvPr id="4" name="投影片編號版面配置區 3"/>
          <p:cNvSpPr>
            <a:spLocks noGrp="1"/>
          </p:cNvSpPr>
          <p:nvPr>
            <p:ph type="sldNum" sz="quarter" idx="5"/>
          </p:nvPr>
        </p:nvSpPr>
        <p:spPr/>
        <p:txBody>
          <a:bodyPr/>
          <a:lstStyle/>
          <a:p>
            <a:fld id="{FDFB969D-C169-473E-9A63-3A56F17FEFCB}" type="slidenum">
              <a:rPr lang="zh-CN" altLang="en-US" smtClean="0"/>
              <a:t>7</a:t>
            </a:fld>
            <a:endParaRPr lang="zh-CN" altLang="en-US"/>
          </a:p>
        </p:txBody>
      </p:sp>
    </p:spTree>
    <p:extLst>
      <p:ext uri="{BB962C8B-B14F-4D97-AF65-F5344CB8AC3E}">
        <p14:creationId xmlns:p14="http://schemas.microsoft.com/office/powerpoint/2010/main" val="35960034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首先，透過噪聲抑制，將振幅低於 </a:t>
            </a:r>
            <a:r>
              <a:rPr lang="en-US" altLang="zh-TW" dirty="0"/>
              <a:t>0.01 </a:t>
            </a:r>
            <a:r>
              <a:rPr lang="zh-TW" altLang="en-US" dirty="0"/>
              <a:t>的訊號減弱</a:t>
            </a:r>
            <a:r>
              <a:rPr lang="en-US" altLang="zh-TW" dirty="0"/>
              <a:t>50%</a:t>
            </a:r>
            <a:r>
              <a:rPr lang="zh-TW" altLang="en-US" dirty="0"/>
              <a:t>，去除背景噪聲。</a:t>
            </a:r>
            <a:r>
              <a:rPr lang="en-US" altLang="zh-TW" b="0" i="0" dirty="0">
                <a:effectLst/>
                <a:latin typeface="gg sans"/>
              </a:rPr>
              <a:t>(</a:t>
            </a:r>
            <a:r>
              <a:rPr lang="zh-TW" altLang="en-US" b="0" i="0" dirty="0">
                <a:effectLst/>
                <a:latin typeface="gg sans"/>
              </a:rPr>
              <a:t>按</a:t>
            </a:r>
            <a:r>
              <a:rPr lang="en-US" altLang="zh-TW" b="0" i="0" dirty="0">
                <a:effectLst/>
                <a:latin typeface="gg sans"/>
              </a:rPr>
              <a:t>)</a:t>
            </a:r>
            <a:endParaRPr lang="en-US" altLang="zh-TW" dirty="0"/>
          </a:p>
          <a:p>
            <a:endParaRPr lang="zh-TW" altLang="en-US" dirty="0"/>
          </a:p>
          <a:p>
            <a:r>
              <a:rPr lang="zh-TW" altLang="en-US" dirty="0"/>
              <a:t>接著，使用巴特沃斯低通濾波器過濾高頻噪聲，並通過 </a:t>
            </a:r>
            <a:r>
              <a:rPr lang="en-US" altLang="zh-TW" dirty="0"/>
              <a:t>3 </a:t>
            </a:r>
            <a:r>
              <a:rPr lang="zh-TW" altLang="en-US" dirty="0"/>
              <a:t>點中值濾波平滑干擾。</a:t>
            </a:r>
            <a:r>
              <a:rPr lang="en-US" altLang="zh-TW" b="0" i="0" dirty="0">
                <a:effectLst/>
                <a:latin typeface="gg sans"/>
              </a:rPr>
              <a:t>(</a:t>
            </a:r>
            <a:r>
              <a:rPr lang="zh-TW" altLang="en-US" b="0" i="0" dirty="0">
                <a:effectLst/>
                <a:latin typeface="gg sans"/>
              </a:rPr>
              <a:t>按</a:t>
            </a:r>
            <a:r>
              <a:rPr lang="en-US" altLang="zh-TW" b="0" i="0" dirty="0">
                <a:effectLst/>
                <a:latin typeface="gg sans"/>
              </a:rPr>
              <a:t>)</a:t>
            </a:r>
            <a:endParaRPr lang="en-US" altLang="zh-TW" dirty="0"/>
          </a:p>
          <a:p>
            <a:endParaRPr lang="en-US" altLang="zh-TW" dirty="0"/>
          </a:p>
          <a:p>
            <a:r>
              <a:rPr lang="zh-TW" altLang="en-US" dirty="0"/>
              <a:t>為了優化語音清晰度，將訊號取絕對值後進行 </a:t>
            </a:r>
            <a:r>
              <a:rPr lang="en-US" altLang="zh-TW" dirty="0"/>
              <a:t>0.8 </a:t>
            </a:r>
            <a:r>
              <a:rPr lang="zh-TW" altLang="en-US" dirty="0"/>
              <a:t>次方處理，壓縮大振幅並增強小振幅。</a:t>
            </a:r>
            <a:r>
              <a:rPr lang="en-US" altLang="zh-TW" b="0" i="0" dirty="0">
                <a:effectLst/>
                <a:latin typeface="gg sans"/>
              </a:rPr>
              <a:t>(</a:t>
            </a:r>
            <a:r>
              <a:rPr lang="zh-TW" altLang="en-US" b="0" i="0" dirty="0">
                <a:effectLst/>
                <a:latin typeface="gg sans"/>
              </a:rPr>
              <a:t>按</a:t>
            </a:r>
            <a:r>
              <a:rPr lang="en-US" altLang="zh-TW" b="0" i="0" dirty="0">
                <a:effectLst/>
                <a:latin typeface="gg sans"/>
              </a:rPr>
              <a:t>)</a:t>
            </a:r>
            <a:endParaRPr lang="en-US" altLang="zh-TW" dirty="0"/>
          </a:p>
          <a:p>
            <a:endParaRPr lang="en-US" altLang="zh-TW" dirty="0"/>
          </a:p>
          <a:p>
            <a:r>
              <a:rPr lang="zh-TW" altLang="en-US" dirty="0"/>
              <a:t>最後，應用全局音量縮放，將振幅限制在 </a:t>
            </a:r>
            <a:r>
              <a:rPr lang="en-US" altLang="zh-TW" dirty="0"/>
              <a:t>[-1, 1] </a:t>
            </a:r>
            <a:r>
              <a:rPr lang="zh-TW" altLang="en-US" dirty="0"/>
              <a:t>範圍內，確保音量穩定。這些技術確保了清晰且穩定的音訊品質。</a:t>
            </a:r>
          </a:p>
          <a:p>
            <a:endParaRPr lang="zh-TW" altLang="en-US" dirty="0"/>
          </a:p>
        </p:txBody>
      </p:sp>
      <p:sp>
        <p:nvSpPr>
          <p:cNvPr id="4" name="投影片編號版面配置區 3"/>
          <p:cNvSpPr>
            <a:spLocks noGrp="1"/>
          </p:cNvSpPr>
          <p:nvPr>
            <p:ph type="sldNum" sz="quarter" idx="5"/>
          </p:nvPr>
        </p:nvSpPr>
        <p:spPr/>
        <p:txBody>
          <a:bodyPr/>
          <a:lstStyle/>
          <a:p>
            <a:fld id="{FDFB969D-C169-473E-9A63-3A56F17FEFCB}" type="slidenum">
              <a:rPr lang="zh-CN" altLang="en-US" smtClean="0"/>
              <a:t>8</a:t>
            </a:fld>
            <a:endParaRPr lang="zh-CN" altLang="en-US"/>
          </a:p>
        </p:txBody>
      </p:sp>
    </p:spTree>
    <p:extLst>
      <p:ext uri="{BB962C8B-B14F-4D97-AF65-F5344CB8AC3E}">
        <p14:creationId xmlns:p14="http://schemas.microsoft.com/office/powerpoint/2010/main" val="28691187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數據包處理完成後，我們會立即釋放緩衝區資源，避免數據積累導致溢出。</a:t>
            </a:r>
            <a:endParaRPr lang="en-US" altLang="zh-TW" dirty="0"/>
          </a:p>
          <a:p>
            <a:endParaRPr lang="en-US" altLang="zh-TW" dirty="0"/>
          </a:p>
          <a:p>
            <a:r>
              <a:rPr lang="zh-TW" altLang="en-US" dirty="0"/>
              <a:t>對於超時或未完成的數據包，也會定期清理，確保緩衝區數據可控，避免影響系統運行。</a:t>
            </a:r>
          </a:p>
        </p:txBody>
      </p:sp>
      <p:sp>
        <p:nvSpPr>
          <p:cNvPr id="4" name="投影片編號版面配置區 3"/>
          <p:cNvSpPr>
            <a:spLocks noGrp="1"/>
          </p:cNvSpPr>
          <p:nvPr>
            <p:ph type="sldNum" sz="quarter" idx="5"/>
          </p:nvPr>
        </p:nvSpPr>
        <p:spPr/>
        <p:txBody>
          <a:bodyPr/>
          <a:lstStyle/>
          <a:p>
            <a:fld id="{FDFB969D-C169-473E-9A63-3A56F17FEFCB}" type="slidenum">
              <a:rPr lang="zh-CN" altLang="en-US" smtClean="0"/>
              <a:t>9</a:t>
            </a:fld>
            <a:endParaRPr lang="zh-CN" altLang="en-US"/>
          </a:p>
        </p:txBody>
      </p:sp>
    </p:spTree>
    <p:extLst>
      <p:ext uri="{BB962C8B-B14F-4D97-AF65-F5344CB8AC3E}">
        <p14:creationId xmlns:p14="http://schemas.microsoft.com/office/powerpoint/2010/main" val="26609216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www.1ppt.com/moban/"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8967187-26A0-4CBD-A10C-2DE1DE41E385}"/>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6C6EEA7E-2AB6-4BE8-A345-7B87B94EC27B}"/>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801637EB-A44B-45EC-96AA-153D8EC98E93}"/>
              </a:ext>
            </a:extLst>
          </p:cNvPr>
          <p:cNvSpPr>
            <a:spLocks noGrp="1"/>
          </p:cNvSpPr>
          <p:nvPr>
            <p:ph type="dt" sz="half" idx="10"/>
          </p:nvPr>
        </p:nvSpPr>
        <p:spPr>
          <a:xfrm>
            <a:off x="838200" y="6356352"/>
            <a:ext cx="2743200" cy="365125"/>
          </a:xfrm>
          <a:prstGeom prst="rect">
            <a:avLst/>
          </a:prstGeom>
        </p:spPr>
        <p:txBody>
          <a:bodyPr/>
          <a:lstStyle/>
          <a:p>
            <a:fld id="{4ADBAF9D-3A05-41B1-8564-795E776488CA}" type="datetime1">
              <a:rPr lang="zh-CN" altLang="en-US" smtClean="0"/>
              <a:t>2025/5/1</a:t>
            </a:fld>
            <a:endParaRPr lang="zh-CN" altLang="en-US"/>
          </a:p>
        </p:txBody>
      </p:sp>
      <p:sp>
        <p:nvSpPr>
          <p:cNvPr id="5" name="页脚占位符 4">
            <a:extLst>
              <a:ext uri="{FF2B5EF4-FFF2-40B4-BE49-F238E27FC236}">
                <a16:creationId xmlns:a16="http://schemas.microsoft.com/office/drawing/2014/main" id="{B29B829B-AAEE-4234-B428-FF080130946A}"/>
              </a:ext>
            </a:extLst>
          </p:cNvPr>
          <p:cNvSpPr>
            <a:spLocks noGrp="1"/>
          </p:cNvSpPr>
          <p:nvPr>
            <p:ph type="ftr" sz="quarter" idx="11"/>
          </p:nvPr>
        </p:nvSpPr>
        <p:spPr>
          <a:xfrm>
            <a:off x="4038600" y="6356352"/>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5148EE30-3075-4927-B018-623194DE48C4}"/>
              </a:ext>
            </a:extLst>
          </p:cNvPr>
          <p:cNvSpPr>
            <a:spLocks noGrp="1"/>
          </p:cNvSpPr>
          <p:nvPr>
            <p:ph type="sldNum" sz="quarter" idx="12"/>
          </p:nvPr>
        </p:nvSpPr>
        <p:spPr>
          <a:xfrm>
            <a:off x="11198469" y="6356352"/>
            <a:ext cx="2743200" cy="365125"/>
          </a:xfrm>
          <a:prstGeom prst="rect">
            <a:avLst/>
          </a:prstGeom>
        </p:spPr>
        <p:txBody>
          <a:bodyPr/>
          <a:lstStyle/>
          <a:p>
            <a:fld id="{9232B33E-6CBB-4C23-BFFD-4D7045B4FE1F}" type="slidenum">
              <a:rPr lang="zh-CN" altLang="en-US" smtClean="0"/>
              <a:t>‹#›</a:t>
            </a:fld>
            <a:endParaRPr lang="zh-CN" altLang="en-US"/>
          </a:p>
        </p:txBody>
      </p:sp>
    </p:spTree>
    <p:extLst>
      <p:ext uri="{BB962C8B-B14F-4D97-AF65-F5344CB8AC3E}">
        <p14:creationId xmlns:p14="http://schemas.microsoft.com/office/powerpoint/2010/main" val="23373868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920BACB-3881-496E-99A3-D6EDA2CF8C2D}"/>
              </a:ext>
            </a:extLst>
          </p:cNvPr>
          <p:cNvSpPr>
            <a:spLocks noGrp="1"/>
          </p:cNvSpPr>
          <p:nvPr>
            <p:ph type="title"/>
          </p:nvPr>
        </p:nvSpPr>
        <p:spPr>
          <a:xfrm>
            <a:off x="838200" y="365126"/>
            <a:ext cx="10515600" cy="1325563"/>
          </a:xfrm>
          <a:prstGeom prst="rect">
            <a:avLst/>
          </a:prstGeom>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13C2E6C1-65B5-434C-9EDE-598DB4F1C2EB}"/>
              </a:ext>
            </a:extLst>
          </p:cNvPr>
          <p:cNvSpPr>
            <a:spLocks noGrp="1"/>
          </p:cNvSpPr>
          <p:nvPr>
            <p:ph idx="1"/>
          </p:nvPr>
        </p:nvSpPr>
        <p:spPr>
          <a:xfrm>
            <a:off x="838200" y="1825625"/>
            <a:ext cx="10515600" cy="4351338"/>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0395A2AB-4BE0-477C-943C-BC12F6D339B7}"/>
              </a:ext>
            </a:extLst>
          </p:cNvPr>
          <p:cNvSpPr>
            <a:spLocks noGrp="1"/>
          </p:cNvSpPr>
          <p:nvPr>
            <p:ph type="dt" sz="half" idx="10"/>
          </p:nvPr>
        </p:nvSpPr>
        <p:spPr>
          <a:xfrm>
            <a:off x="838200" y="6356352"/>
            <a:ext cx="2743200" cy="365125"/>
          </a:xfrm>
          <a:prstGeom prst="rect">
            <a:avLst/>
          </a:prstGeom>
        </p:spPr>
        <p:txBody>
          <a:bodyPr/>
          <a:lstStyle/>
          <a:p>
            <a:fld id="{059C48B1-E390-4472-98B5-BFD759A24720}" type="datetime1">
              <a:rPr lang="zh-CN" altLang="en-US" smtClean="0"/>
              <a:t>2025/5/1</a:t>
            </a:fld>
            <a:endParaRPr lang="zh-CN" altLang="en-US"/>
          </a:p>
        </p:txBody>
      </p:sp>
      <p:sp>
        <p:nvSpPr>
          <p:cNvPr id="5" name="页脚占位符 4">
            <a:extLst>
              <a:ext uri="{FF2B5EF4-FFF2-40B4-BE49-F238E27FC236}">
                <a16:creationId xmlns:a16="http://schemas.microsoft.com/office/drawing/2014/main" id="{9362BA71-0AF6-4452-9F87-D74151624512}"/>
              </a:ext>
            </a:extLst>
          </p:cNvPr>
          <p:cNvSpPr>
            <a:spLocks noGrp="1"/>
          </p:cNvSpPr>
          <p:nvPr>
            <p:ph type="ftr" sz="quarter" idx="11"/>
          </p:nvPr>
        </p:nvSpPr>
        <p:spPr>
          <a:xfrm>
            <a:off x="4038600" y="6356352"/>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520B1EED-DEDF-4B26-B266-140E76B754CD}"/>
              </a:ext>
            </a:extLst>
          </p:cNvPr>
          <p:cNvSpPr>
            <a:spLocks noGrp="1"/>
          </p:cNvSpPr>
          <p:nvPr>
            <p:ph type="sldNum" sz="quarter" idx="12"/>
          </p:nvPr>
        </p:nvSpPr>
        <p:spPr>
          <a:xfrm>
            <a:off x="381000" y="6409104"/>
            <a:ext cx="2743200" cy="365125"/>
          </a:xfrm>
          <a:prstGeom prst="rect">
            <a:avLst/>
          </a:prstGeom>
        </p:spPr>
        <p:txBody>
          <a:bodyPr/>
          <a:lstStyle/>
          <a:p>
            <a:fld id="{9232B33E-6CBB-4C23-BFFD-4D7045B4FE1F}" type="slidenum">
              <a:rPr lang="zh-CN" altLang="en-US" smtClean="0"/>
              <a:t>‹#›</a:t>
            </a:fld>
            <a:endParaRPr lang="zh-CN" altLang="en-US"/>
          </a:p>
        </p:txBody>
      </p:sp>
    </p:spTree>
    <p:extLst>
      <p:ext uri="{BB962C8B-B14F-4D97-AF65-F5344CB8AC3E}">
        <p14:creationId xmlns:p14="http://schemas.microsoft.com/office/powerpoint/2010/main" val="3456746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F7B05EB-5A8A-4240-86FC-2303F2DA07E0}"/>
              </a:ext>
            </a:extLst>
          </p:cNvPr>
          <p:cNvSpPr>
            <a:spLocks noGrp="1"/>
          </p:cNvSpPr>
          <p:nvPr>
            <p:ph type="title"/>
          </p:nvPr>
        </p:nvSpPr>
        <p:spPr>
          <a:xfrm>
            <a:off x="831849" y="1709738"/>
            <a:ext cx="10515600" cy="2852737"/>
          </a:xfrm>
          <a:prstGeom prst="rect">
            <a:avLst/>
          </a:prstGeo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97E79EC7-AF42-493A-826F-7B354E288BA8}"/>
              </a:ext>
            </a:extLst>
          </p:cNvPr>
          <p:cNvSpPr>
            <a:spLocks noGrp="1"/>
          </p:cNvSpPr>
          <p:nvPr>
            <p:ph type="body" idx="1"/>
          </p:nvPr>
        </p:nvSpPr>
        <p:spPr>
          <a:xfrm>
            <a:off x="831849" y="4589465"/>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CA9A03C4-6307-4920-8E7E-3A94FDD6B12D}"/>
              </a:ext>
            </a:extLst>
          </p:cNvPr>
          <p:cNvSpPr>
            <a:spLocks noGrp="1"/>
          </p:cNvSpPr>
          <p:nvPr>
            <p:ph type="dt" sz="half" idx="10"/>
          </p:nvPr>
        </p:nvSpPr>
        <p:spPr>
          <a:xfrm>
            <a:off x="838200" y="6356352"/>
            <a:ext cx="2743200" cy="365125"/>
          </a:xfrm>
          <a:prstGeom prst="rect">
            <a:avLst/>
          </a:prstGeom>
        </p:spPr>
        <p:txBody>
          <a:bodyPr/>
          <a:lstStyle/>
          <a:p>
            <a:fld id="{C931E1A1-808A-4147-90E6-4D70D14E9CDC}" type="datetime1">
              <a:rPr lang="zh-CN" altLang="en-US" smtClean="0"/>
              <a:t>2025/5/1</a:t>
            </a:fld>
            <a:endParaRPr lang="zh-CN" altLang="en-US"/>
          </a:p>
        </p:txBody>
      </p:sp>
      <p:sp>
        <p:nvSpPr>
          <p:cNvPr id="5" name="页脚占位符 4">
            <a:extLst>
              <a:ext uri="{FF2B5EF4-FFF2-40B4-BE49-F238E27FC236}">
                <a16:creationId xmlns:a16="http://schemas.microsoft.com/office/drawing/2014/main" id="{B70487A7-EA63-4A71-87D3-AEFA4D8CE3C4}"/>
              </a:ext>
            </a:extLst>
          </p:cNvPr>
          <p:cNvSpPr>
            <a:spLocks noGrp="1"/>
          </p:cNvSpPr>
          <p:nvPr>
            <p:ph type="ftr" sz="quarter" idx="11"/>
          </p:nvPr>
        </p:nvSpPr>
        <p:spPr>
          <a:xfrm>
            <a:off x="4038600" y="6356352"/>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EA6E58A6-C64C-474A-990D-B3A5B8F35495}"/>
              </a:ext>
            </a:extLst>
          </p:cNvPr>
          <p:cNvSpPr>
            <a:spLocks noGrp="1"/>
          </p:cNvSpPr>
          <p:nvPr>
            <p:ph type="sldNum" sz="quarter" idx="12"/>
          </p:nvPr>
        </p:nvSpPr>
        <p:spPr>
          <a:xfrm>
            <a:off x="8610600" y="6356352"/>
            <a:ext cx="2743200" cy="365125"/>
          </a:xfrm>
          <a:prstGeom prst="rect">
            <a:avLst/>
          </a:prstGeom>
        </p:spPr>
        <p:txBody>
          <a:bodyPr/>
          <a:lstStyle/>
          <a:p>
            <a:fld id="{9232B33E-6CBB-4C23-BFFD-4D7045B4FE1F}" type="slidenum">
              <a:rPr lang="zh-CN" altLang="en-US" smtClean="0"/>
              <a:t>‹#›</a:t>
            </a:fld>
            <a:endParaRPr lang="zh-CN" altLang="en-US"/>
          </a:p>
        </p:txBody>
      </p:sp>
    </p:spTree>
    <p:extLst>
      <p:ext uri="{BB962C8B-B14F-4D97-AF65-F5344CB8AC3E}">
        <p14:creationId xmlns:p14="http://schemas.microsoft.com/office/powerpoint/2010/main" val="42884902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95E114-2FB9-48C1-B866-EFD0BCAD2958}"/>
              </a:ext>
            </a:extLst>
          </p:cNvPr>
          <p:cNvSpPr>
            <a:spLocks noGrp="1"/>
          </p:cNvSpPr>
          <p:nvPr>
            <p:ph type="title"/>
          </p:nvPr>
        </p:nvSpPr>
        <p:spPr>
          <a:xfrm>
            <a:off x="838200" y="365126"/>
            <a:ext cx="10515600" cy="1325563"/>
          </a:xfrm>
          <a:prstGeom prst="rect">
            <a:avLst/>
          </a:prstGeom>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9C249253-0BAD-4170-931E-EA106E692E3B}"/>
              </a:ext>
            </a:extLst>
          </p:cNvPr>
          <p:cNvSpPr>
            <a:spLocks noGrp="1"/>
          </p:cNvSpPr>
          <p:nvPr>
            <p:ph sz="half" idx="1"/>
          </p:nvPr>
        </p:nvSpPr>
        <p:spPr>
          <a:xfrm>
            <a:off x="838200" y="1825625"/>
            <a:ext cx="5181600" cy="4351338"/>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6A638B3C-C922-4A0D-8137-88F6A21CD229}"/>
              </a:ext>
            </a:extLst>
          </p:cNvPr>
          <p:cNvSpPr>
            <a:spLocks noGrp="1"/>
          </p:cNvSpPr>
          <p:nvPr>
            <p:ph sz="half" idx="2"/>
          </p:nvPr>
        </p:nvSpPr>
        <p:spPr>
          <a:xfrm>
            <a:off x="6172200" y="1825625"/>
            <a:ext cx="5181600" cy="4351338"/>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1BCE125E-C9EA-4B5A-8D81-E4E37134BB11}"/>
              </a:ext>
            </a:extLst>
          </p:cNvPr>
          <p:cNvSpPr>
            <a:spLocks noGrp="1"/>
          </p:cNvSpPr>
          <p:nvPr>
            <p:ph type="dt" sz="half" idx="10"/>
          </p:nvPr>
        </p:nvSpPr>
        <p:spPr>
          <a:xfrm>
            <a:off x="838200" y="6356352"/>
            <a:ext cx="2743200" cy="365125"/>
          </a:xfrm>
          <a:prstGeom prst="rect">
            <a:avLst/>
          </a:prstGeom>
        </p:spPr>
        <p:txBody>
          <a:bodyPr/>
          <a:lstStyle/>
          <a:p>
            <a:fld id="{8AA362DE-F006-4C08-AA7B-DB672E6B4B5F}" type="datetime1">
              <a:rPr lang="zh-CN" altLang="en-US" smtClean="0"/>
              <a:t>2025/5/1</a:t>
            </a:fld>
            <a:endParaRPr lang="zh-CN" altLang="en-US"/>
          </a:p>
        </p:txBody>
      </p:sp>
      <p:sp>
        <p:nvSpPr>
          <p:cNvPr id="6" name="页脚占位符 5">
            <a:extLst>
              <a:ext uri="{FF2B5EF4-FFF2-40B4-BE49-F238E27FC236}">
                <a16:creationId xmlns:a16="http://schemas.microsoft.com/office/drawing/2014/main" id="{000428E1-46FD-48E1-BC86-B3A71CBF8256}"/>
              </a:ext>
            </a:extLst>
          </p:cNvPr>
          <p:cNvSpPr>
            <a:spLocks noGrp="1"/>
          </p:cNvSpPr>
          <p:nvPr>
            <p:ph type="ftr" sz="quarter" idx="11"/>
          </p:nvPr>
        </p:nvSpPr>
        <p:spPr>
          <a:xfrm>
            <a:off x="4038600" y="6356352"/>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1D59266A-14C7-4DE5-A04B-31D8FBC84CDF}"/>
              </a:ext>
            </a:extLst>
          </p:cNvPr>
          <p:cNvSpPr>
            <a:spLocks noGrp="1"/>
          </p:cNvSpPr>
          <p:nvPr>
            <p:ph type="sldNum" sz="quarter" idx="12"/>
          </p:nvPr>
        </p:nvSpPr>
        <p:spPr>
          <a:xfrm>
            <a:off x="8610600" y="6356352"/>
            <a:ext cx="2743200" cy="365125"/>
          </a:xfrm>
          <a:prstGeom prst="rect">
            <a:avLst/>
          </a:prstGeom>
        </p:spPr>
        <p:txBody>
          <a:bodyPr/>
          <a:lstStyle/>
          <a:p>
            <a:fld id="{9232B33E-6CBB-4C23-BFFD-4D7045B4FE1F}" type="slidenum">
              <a:rPr lang="zh-CN" altLang="en-US" smtClean="0"/>
              <a:t>‹#›</a:t>
            </a:fld>
            <a:endParaRPr lang="zh-CN" altLang="en-US"/>
          </a:p>
        </p:txBody>
      </p:sp>
    </p:spTree>
    <p:extLst>
      <p:ext uri="{BB962C8B-B14F-4D97-AF65-F5344CB8AC3E}">
        <p14:creationId xmlns:p14="http://schemas.microsoft.com/office/powerpoint/2010/main" val="16377423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D9C49D5-E48B-4C7A-8FEE-7D5862BB3748}"/>
              </a:ext>
            </a:extLst>
          </p:cNvPr>
          <p:cNvSpPr>
            <a:spLocks noGrp="1"/>
          </p:cNvSpPr>
          <p:nvPr>
            <p:ph type="title"/>
          </p:nvPr>
        </p:nvSpPr>
        <p:spPr>
          <a:xfrm>
            <a:off x="839788" y="365126"/>
            <a:ext cx="10515600" cy="1325563"/>
          </a:xfrm>
          <a:prstGeom prst="rect">
            <a:avLst/>
          </a:prstGeo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2361AD89-9D0C-4799-A302-9637414BFF2C}"/>
              </a:ext>
            </a:extLst>
          </p:cNvPr>
          <p:cNvSpPr>
            <a:spLocks noGrp="1"/>
          </p:cNvSpPr>
          <p:nvPr>
            <p:ph type="body" idx="1"/>
          </p:nvPr>
        </p:nvSpPr>
        <p:spPr>
          <a:xfrm>
            <a:off x="839789"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23F202FC-F61C-45F6-9E2E-6AFA37581B3C}"/>
              </a:ext>
            </a:extLst>
          </p:cNvPr>
          <p:cNvSpPr>
            <a:spLocks noGrp="1"/>
          </p:cNvSpPr>
          <p:nvPr>
            <p:ph sz="half" idx="2"/>
          </p:nvPr>
        </p:nvSpPr>
        <p:spPr>
          <a:xfrm>
            <a:off x="839789" y="2505075"/>
            <a:ext cx="5157787" cy="3684588"/>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C8702156-F9C3-450A-B894-485F38144E9E}"/>
              </a:ext>
            </a:extLst>
          </p:cNvPr>
          <p:cNvSpPr>
            <a:spLocks noGrp="1"/>
          </p:cNvSpPr>
          <p:nvPr>
            <p:ph type="body" sz="quarter" idx="3"/>
          </p:nvPr>
        </p:nvSpPr>
        <p:spPr>
          <a:xfrm>
            <a:off x="6172201"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6780E5C1-E12B-41AB-A7DB-FEDC0E5ABEC7}"/>
              </a:ext>
            </a:extLst>
          </p:cNvPr>
          <p:cNvSpPr>
            <a:spLocks noGrp="1"/>
          </p:cNvSpPr>
          <p:nvPr>
            <p:ph sz="quarter" idx="4"/>
          </p:nvPr>
        </p:nvSpPr>
        <p:spPr>
          <a:xfrm>
            <a:off x="6172201" y="2505075"/>
            <a:ext cx="5183188" cy="3684588"/>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D4086F41-F76A-4695-9595-D9FA751743E3}"/>
              </a:ext>
            </a:extLst>
          </p:cNvPr>
          <p:cNvSpPr>
            <a:spLocks noGrp="1"/>
          </p:cNvSpPr>
          <p:nvPr>
            <p:ph type="dt" sz="half" idx="10"/>
          </p:nvPr>
        </p:nvSpPr>
        <p:spPr>
          <a:xfrm>
            <a:off x="838200" y="6356352"/>
            <a:ext cx="2743200" cy="365125"/>
          </a:xfrm>
          <a:prstGeom prst="rect">
            <a:avLst/>
          </a:prstGeom>
        </p:spPr>
        <p:txBody>
          <a:bodyPr/>
          <a:lstStyle/>
          <a:p>
            <a:fld id="{B7F5D9A9-F9F3-4493-B945-B1780FDDA214}" type="datetime1">
              <a:rPr lang="zh-CN" altLang="en-US" smtClean="0"/>
              <a:t>2025/5/1</a:t>
            </a:fld>
            <a:endParaRPr lang="zh-CN" altLang="en-US"/>
          </a:p>
        </p:txBody>
      </p:sp>
      <p:sp>
        <p:nvSpPr>
          <p:cNvPr id="8" name="页脚占位符 7">
            <a:extLst>
              <a:ext uri="{FF2B5EF4-FFF2-40B4-BE49-F238E27FC236}">
                <a16:creationId xmlns:a16="http://schemas.microsoft.com/office/drawing/2014/main" id="{0453AADE-096F-4186-B040-C907E10BF2AC}"/>
              </a:ext>
            </a:extLst>
          </p:cNvPr>
          <p:cNvSpPr>
            <a:spLocks noGrp="1"/>
          </p:cNvSpPr>
          <p:nvPr>
            <p:ph type="ftr" sz="quarter" idx="11"/>
          </p:nvPr>
        </p:nvSpPr>
        <p:spPr>
          <a:xfrm>
            <a:off x="4038600" y="6356352"/>
            <a:ext cx="4114800" cy="365125"/>
          </a:xfrm>
          <a:prstGeom prst="rect">
            <a:avLst/>
          </a:prstGeom>
        </p:spPr>
        <p:txBody>
          <a:bodyPr/>
          <a:lstStyle/>
          <a:p>
            <a:endParaRPr lang="zh-CN" altLang="en-US"/>
          </a:p>
        </p:txBody>
      </p:sp>
      <p:sp>
        <p:nvSpPr>
          <p:cNvPr id="9" name="灯片编号占位符 8">
            <a:extLst>
              <a:ext uri="{FF2B5EF4-FFF2-40B4-BE49-F238E27FC236}">
                <a16:creationId xmlns:a16="http://schemas.microsoft.com/office/drawing/2014/main" id="{894ECDDB-BB5C-4B51-9E1E-E27D2AC6490B}"/>
              </a:ext>
            </a:extLst>
          </p:cNvPr>
          <p:cNvSpPr>
            <a:spLocks noGrp="1"/>
          </p:cNvSpPr>
          <p:nvPr>
            <p:ph type="sldNum" sz="quarter" idx="12"/>
          </p:nvPr>
        </p:nvSpPr>
        <p:spPr>
          <a:xfrm>
            <a:off x="8610600" y="6356352"/>
            <a:ext cx="2743200" cy="365125"/>
          </a:xfrm>
          <a:prstGeom prst="rect">
            <a:avLst/>
          </a:prstGeom>
        </p:spPr>
        <p:txBody>
          <a:bodyPr/>
          <a:lstStyle/>
          <a:p>
            <a:fld id="{9232B33E-6CBB-4C23-BFFD-4D7045B4FE1F}" type="slidenum">
              <a:rPr lang="zh-CN" altLang="en-US" smtClean="0"/>
              <a:t>‹#›</a:t>
            </a:fld>
            <a:endParaRPr lang="zh-CN" altLang="en-US"/>
          </a:p>
        </p:txBody>
      </p:sp>
      <p:sp>
        <p:nvSpPr>
          <p:cNvPr id="11" name="TextBox 10"/>
          <p:cNvSpPr txBox="1"/>
          <p:nvPr userDrawn="1"/>
        </p:nvSpPr>
        <p:spPr>
          <a:xfrm>
            <a:off x="2136305" y="6431420"/>
            <a:ext cx="1800200" cy="123111"/>
          </a:xfrm>
          <a:prstGeom prst="rect">
            <a:avLst/>
          </a:prstGeom>
          <a:noFill/>
        </p:spPr>
        <p:txBody>
          <a:bodyPr wrap="square" rtlCol="0">
            <a:spAutoFit/>
          </a:bodyPr>
          <a:lstStyle/>
          <a:p>
            <a:pPr marL="0" marR="0" lvl="0" indent="0" defTabSz="914400" eaLnBrk="1" fontAlgn="auto" latinLnBrk="0" hangingPunct="1">
              <a:lnSpc>
                <a:spcPct val="200000"/>
              </a:lnSpc>
              <a:spcBef>
                <a:spcPts val="0"/>
              </a:spcBef>
              <a:spcAft>
                <a:spcPts val="0"/>
              </a:spcAft>
              <a:buClrTx/>
              <a:buSzTx/>
              <a:buFontTx/>
              <a:buNone/>
              <a:tabLst/>
              <a:defRPr/>
            </a:pPr>
            <a:r>
              <a:rPr kumimoji="0" lang="en-US" altLang="zh-CN" sz="100" b="0" i="0" u="none" strike="noStrike" kern="0" cap="none" spc="0" normalizeH="0" baseline="0" noProof="0">
                <a:ln>
                  <a:noFill/>
                </a:ln>
                <a:solidFill>
                  <a:prstClr val="black"/>
                </a:solidFill>
                <a:effectLst/>
                <a:uLnTx/>
                <a:uFillTx/>
                <a:hlinkClick r:id="rId2"/>
              </a:rPr>
              <a:t>PPT</a:t>
            </a:r>
            <a:r>
              <a:rPr kumimoji="0" lang="zh-CN" altLang="en-US" sz="100" b="0" i="0" u="none" strike="noStrike" kern="0" cap="none" spc="0" normalizeH="0" baseline="0" noProof="0">
                <a:ln>
                  <a:noFill/>
                </a:ln>
                <a:solidFill>
                  <a:prstClr val="black"/>
                </a:solidFill>
                <a:effectLst/>
                <a:uLnTx/>
                <a:uFillTx/>
                <a:hlinkClick r:id="rId2"/>
              </a:rPr>
              <a:t>模板</a:t>
            </a:r>
            <a:r>
              <a:rPr kumimoji="0" lang="zh-CN" altLang="en-US" sz="100" b="0" i="0" u="none" strike="noStrike" kern="0" cap="none" spc="0" normalizeH="0" baseline="0" noProof="0">
                <a:ln>
                  <a:noFill/>
                </a:ln>
                <a:solidFill>
                  <a:prstClr val="black"/>
                </a:solidFill>
                <a:effectLst/>
                <a:uLnTx/>
                <a:uFillTx/>
              </a:rPr>
              <a:t> </a:t>
            </a:r>
            <a:r>
              <a:rPr kumimoji="0" lang="en-US" altLang="zh-CN" sz="100" b="0" i="0" u="none" strike="noStrike" kern="0" cap="none" spc="0" normalizeH="0" baseline="0" noProof="0">
                <a:ln>
                  <a:noFill/>
                </a:ln>
                <a:solidFill>
                  <a:prstClr val="black"/>
                </a:solidFill>
                <a:effectLst/>
                <a:uLnTx/>
                <a:uFillTx/>
              </a:rPr>
              <a:t>http://www.1ppt.com/moban/</a:t>
            </a:r>
            <a:r>
              <a:rPr kumimoji="0" lang="zh-CN" altLang="en-US" sz="100" b="0" i="0" u="none" strike="noStrike" kern="0" cap="none" spc="0" normalizeH="0" baseline="0" noProof="0">
                <a:ln>
                  <a:noFill/>
                </a:ln>
                <a:solidFill>
                  <a:prstClr val="black"/>
                </a:solidFill>
                <a:effectLst/>
                <a:uLnTx/>
                <a:uFillTx/>
              </a:rPr>
              <a:t> </a:t>
            </a:r>
            <a:endParaRPr kumimoji="0" lang="en-US" altLang="zh-CN" sz="100" b="0" i="0" u="none" strike="noStrike" kern="0" cap="none" spc="0" normalizeH="0" baseline="0" noProof="0">
              <a:ln>
                <a:noFill/>
              </a:ln>
              <a:solidFill>
                <a:prstClr val="black"/>
              </a:solidFill>
              <a:effectLst/>
              <a:uLnTx/>
              <a:uFillTx/>
            </a:endParaRPr>
          </a:p>
        </p:txBody>
      </p:sp>
    </p:spTree>
    <p:extLst>
      <p:ext uri="{BB962C8B-B14F-4D97-AF65-F5344CB8AC3E}">
        <p14:creationId xmlns:p14="http://schemas.microsoft.com/office/powerpoint/2010/main" val="24551771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351667B-BAE5-480C-A68B-73C9A563FA91}"/>
              </a:ext>
            </a:extLst>
          </p:cNvPr>
          <p:cNvSpPr>
            <a:spLocks noGrp="1"/>
          </p:cNvSpPr>
          <p:nvPr>
            <p:ph type="title"/>
          </p:nvPr>
        </p:nvSpPr>
        <p:spPr>
          <a:xfrm>
            <a:off x="838200" y="365126"/>
            <a:ext cx="10515600" cy="1325563"/>
          </a:xfrm>
          <a:prstGeom prst="rect">
            <a:avLst/>
          </a:prstGeom>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C1623138-D28F-4C77-BFEB-E05B3C7A13E3}"/>
              </a:ext>
            </a:extLst>
          </p:cNvPr>
          <p:cNvSpPr>
            <a:spLocks noGrp="1"/>
          </p:cNvSpPr>
          <p:nvPr>
            <p:ph type="dt" sz="half" idx="10"/>
          </p:nvPr>
        </p:nvSpPr>
        <p:spPr>
          <a:xfrm>
            <a:off x="838200" y="6356352"/>
            <a:ext cx="2743200" cy="365125"/>
          </a:xfrm>
          <a:prstGeom prst="rect">
            <a:avLst/>
          </a:prstGeom>
        </p:spPr>
        <p:txBody>
          <a:bodyPr/>
          <a:lstStyle/>
          <a:p>
            <a:fld id="{91CC1F70-3D98-4915-A6A8-27D20FEF6424}" type="datetime1">
              <a:rPr lang="zh-CN" altLang="en-US" smtClean="0"/>
              <a:t>2025/5/1</a:t>
            </a:fld>
            <a:endParaRPr lang="zh-CN" altLang="en-US"/>
          </a:p>
        </p:txBody>
      </p:sp>
      <p:sp>
        <p:nvSpPr>
          <p:cNvPr id="4" name="页脚占位符 3">
            <a:extLst>
              <a:ext uri="{FF2B5EF4-FFF2-40B4-BE49-F238E27FC236}">
                <a16:creationId xmlns:a16="http://schemas.microsoft.com/office/drawing/2014/main" id="{7A68F5B3-D563-4114-AB3B-7BCD072B56D0}"/>
              </a:ext>
            </a:extLst>
          </p:cNvPr>
          <p:cNvSpPr>
            <a:spLocks noGrp="1"/>
          </p:cNvSpPr>
          <p:nvPr>
            <p:ph type="ftr" sz="quarter" idx="11"/>
          </p:nvPr>
        </p:nvSpPr>
        <p:spPr>
          <a:xfrm>
            <a:off x="4038600" y="6356352"/>
            <a:ext cx="4114800" cy="365125"/>
          </a:xfrm>
          <a:prstGeom prst="rect">
            <a:avLst/>
          </a:prstGeom>
        </p:spPr>
        <p:txBody>
          <a:bodyPr/>
          <a:lstStyle/>
          <a:p>
            <a:endParaRPr lang="zh-CN" altLang="en-US"/>
          </a:p>
        </p:txBody>
      </p:sp>
      <p:sp>
        <p:nvSpPr>
          <p:cNvPr id="5" name="灯片编号占位符 4">
            <a:extLst>
              <a:ext uri="{FF2B5EF4-FFF2-40B4-BE49-F238E27FC236}">
                <a16:creationId xmlns:a16="http://schemas.microsoft.com/office/drawing/2014/main" id="{79C7141C-DD11-4C6C-9058-BB46313CCA65}"/>
              </a:ext>
            </a:extLst>
          </p:cNvPr>
          <p:cNvSpPr>
            <a:spLocks noGrp="1"/>
          </p:cNvSpPr>
          <p:nvPr>
            <p:ph type="sldNum" sz="quarter" idx="12"/>
          </p:nvPr>
        </p:nvSpPr>
        <p:spPr>
          <a:xfrm>
            <a:off x="8610600" y="6356352"/>
            <a:ext cx="2743200" cy="365125"/>
          </a:xfrm>
          <a:prstGeom prst="rect">
            <a:avLst/>
          </a:prstGeom>
        </p:spPr>
        <p:txBody>
          <a:bodyPr/>
          <a:lstStyle/>
          <a:p>
            <a:fld id="{9232B33E-6CBB-4C23-BFFD-4D7045B4FE1F}" type="slidenum">
              <a:rPr lang="zh-CN" altLang="en-US" smtClean="0"/>
              <a:t>‹#›</a:t>
            </a:fld>
            <a:endParaRPr lang="zh-CN" altLang="en-US"/>
          </a:p>
        </p:txBody>
      </p:sp>
    </p:spTree>
    <p:extLst>
      <p:ext uri="{BB962C8B-B14F-4D97-AF65-F5344CB8AC3E}">
        <p14:creationId xmlns:p14="http://schemas.microsoft.com/office/powerpoint/2010/main" val="39218354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2A2171D5-85DB-4BE5-9192-21CFE2E08963}"/>
              </a:ext>
            </a:extLst>
          </p:cNvPr>
          <p:cNvSpPr>
            <a:spLocks noGrp="1"/>
          </p:cNvSpPr>
          <p:nvPr>
            <p:ph type="dt" sz="half" idx="10"/>
          </p:nvPr>
        </p:nvSpPr>
        <p:spPr>
          <a:xfrm>
            <a:off x="838200" y="6356352"/>
            <a:ext cx="2743200" cy="365125"/>
          </a:xfrm>
          <a:prstGeom prst="rect">
            <a:avLst/>
          </a:prstGeom>
        </p:spPr>
        <p:txBody>
          <a:bodyPr/>
          <a:lstStyle/>
          <a:p>
            <a:fld id="{B316F03A-050F-443C-9E19-DBE245C6D575}" type="datetime1">
              <a:rPr lang="zh-CN" altLang="en-US" smtClean="0"/>
              <a:t>2025/5/1</a:t>
            </a:fld>
            <a:endParaRPr lang="zh-CN" altLang="en-US"/>
          </a:p>
        </p:txBody>
      </p:sp>
      <p:sp>
        <p:nvSpPr>
          <p:cNvPr id="3" name="页脚占位符 2">
            <a:extLst>
              <a:ext uri="{FF2B5EF4-FFF2-40B4-BE49-F238E27FC236}">
                <a16:creationId xmlns:a16="http://schemas.microsoft.com/office/drawing/2014/main" id="{78728D10-4206-4AC3-99A2-9AE216401A98}"/>
              </a:ext>
            </a:extLst>
          </p:cNvPr>
          <p:cNvSpPr>
            <a:spLocks noGrp="1"/>
          </p:cNvSpPr>
          <p:nvPr>
            <p:ph type="ftr" sz="quarter" idx="11"/>
          </p:nvPr>
        </p:nvSpPr>
        <p:spPr>
          <a:xfrm>
            <a:off x="4038600" y="6356352"/>
            <a:ext cx="4114800" cy="365125"/>
          </a:xfrm>
          <a:prstGeom prst="rect">
            <a:avLst/>
          </a:prstGeom>
        </p:spPr>
        <p:txBody>
          <a:bodyPr/>
          <a:lstStyle/>
          <a:p>
            <a:endParaRPr lang="zh-CN" altLang="en-US"/>
          </a:p>
        </p:txBody>
      </p:sp>
      <p:sp>
        <p:nvSpPr>
          <p:cNvPr id="4" name="灯片编号占位符 3">
            <a:extLst>
              <a:ext uri="{FF2B5EF4-FFF2-40B4-BE49-F238E27FC236}">
                <a16:creationId xmlns:a16="http://schemas.microsoft.com/office/drawing/2014/main" id="{2E38C269-82D3-43D4-9BD9-7D05364A3B7C}"/>
              </a:ext>
            </a:extLst>
          </p:cNvPr>
          <p:cNvSpPr>
            <a:spLocks noGrp="1"/>
          </p:cNvSpPr>
          <p:nvPr>
            <p:ph type="sldNum" sz="quarter" idx="12"/>
          </p:nvPr>
        </p:nvSpPr>
        <p:spPr>
          <a:xfrm>
            <a:off x="8610600" y="6356352"/>
            <a:ext cx="2743200" cy="365125"/>
          </a:xfrm>
          <a:prstGeom prst="rect">
            <a:avLst/>
          </a:prstGeom>
        </p:spPr>
        <p:txBody>
          <a:bodyPr/>
          <a:lstStyle/>
          <a:p>
            <a:fld id="{9232B33E-6CBB-4C23-BFFD-4D7045B4FE1F}" type="slidenum">
              <a:rPr lang="zh-CN" altLang="en-US" smtClean="0"/>
              <a:t>‹#›</a:t>
            </a:fld>
            <a:endParaRPr lang="zh-CN" altLang="en-US"/>
          </a:p>
        </p:txBody>
      </p:sp>
    </p:spTree>
    <p:extLst>
      <p:ext uri="{BB962C8B-B14F-4D97-AF65-F5344CB8AC3E}">
        <p14:creationId xmlns:p14="http://schemas.microsoft.com/office/powerpoint/2010/main" val="34067035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BA2BAD5-1016-48E8-82EB-F74A8ABBFC53}"/>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C01B1831-427D-4EB3-ABF5-F2040CFD3192}"/>
              </a:ext>
            </a:extLst>
          </p:cNvPr>
          <p:cNvSpPr>
            <a:spLocks noGrp="1"/>
          </p:cNvSpPr>
          <p:nvPr>
            <p:ph idx="1"/>
          </p:nvPr>
        </p:nvSpPr>
        <p:spPr>
          <a:xfrm>
            <a:off x="5183188" y="987426"/>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C88BD00D-E082-4717-BA8B-97E2B7F73312}"/>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D371A2CB-57F0-4321-840B-E6957FD10C24}"/>
              </a:ext>
            </a:extLst>
          </p:cNvPr>
          <p:cNvSpPr>
            <a:spLocks noGrp="1"/>
          </p:cNvSpPr>
          <p:nvPr>
            <p:ph type="dt" sz="half" idx="10"/>
          </p:nvPr>
        </p:nvSpPr>
        <p:spPr>
          <a:xfrm>
            <a:off x="838200" y="6356352"/>
            <a:ext cx="2743200" cy="365125"/>
          </a:xfrm>
          <a:prstGeom prst="rect">
            <a:avLst/>
          </a:prstGeom>
        </p:spPr>
        <p:txBody>
          <a:bodyPr/>
          <a:lstStyle/>
          <a:p>
            <a:fld id="{91EFB9BC-9CEF-4B6F-8ADD-2736E445FE52}" type="datetime1">
              <a:rPr lang="zh-CN" altLang="en-US" smtClean="0"/>
              <a:t>2025/5/1</a:t>
            </a:fld>
            <a:endParaRPr lang="zh-CN" altLang="en-US"/>
          </a:p>
        </p:txBody>
      </p:sp>
      <p:sp>
        <p:nvSpPr>
          <p:cNvPr id="6" name="页脚占位符 5">
            <a:extLst>
              <a:ext uri="{FF2B5EF4-FFF2-40B4-BE49-F238E27FC236}">
                <a16:creationId xmlns:a16="http://schemas.microsoft.com/office/drawing/2014/main" id="{431EEDFF-22D8-418E-8002-427500B32544}"/>
              </a:ext>
            </a:extLst>
          </p:cNvPr>
          <p:cNvSpPr>
            <a:spLocks noGrp="1"/>
          </p:cNvSpPr>
          <p:nvPr>
            <p:ph type="ftr" sz="quarter" idx="11"/>
          </p:nvPr>
        </p:nvSpPr>
        <p:spPr>
          <a:xfrm>
            <a:off x="4038600" y="6356352"/>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2573591A-73A5-4062-AD26-7B05DE1F6750}"/>
              </a:ext>
            </a:extLst>
          </p:cNvPr>
          <p:cNvSpPr>
            <a:spLocks noGrp="1"/>
          </p:cNvSpPr>
          <p:nvPr>
            <p:ph type="sldNum" sz="quarter" idx="12"/>
          </p:nvPr>
        </p:nvSpPr>
        <p:spPr>
          <a:xfrm>
            <a:off x="8610600" y="6356352"/>
            <a:ext cx="2743200" cy="365125"/>
          </a:xfrm>
          <a:prstGeom prst="rect">
            <a:avLst/>
          </a:prstGeom>
        </p:spPr>
        <p:txBody>
          <a:bodyPr/>
          <a:lstStyle/>
          <a:p>
            <a:fld id="{9232B33E-6CBB-4C23-BFFD-4D7045B4FE1F}" type="slidenum">
              <a:rPr lang="zh-CN" altLang="en-US" smtClean="0"/>
              <a:t>‹#›</a:t>
            </a:fld>
            <a:endParaRPr lang="zh-CN" altLang="en-US"/>
          </a:p>
        </p:txBody>
      </p:sp>
    </p:spTree>
    <p:extLst>
      <p:ext uri="{BB962C8B-B14F-4D97-AF65-F5344CB8AC3E}">
        <p14:creationId xmlns:p14="http://schemas.microsoft.com/office/powerpoint/2010/main" val="26709627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866A380-BE6E-42B4-85CA-B74A93E94DFB}"/>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D2FBC3BF-3902-4C68-ADE7-DB8A03098359}"/>
              </a:ext>
            </a:extLst>
          </p:cNvPr>
          <p:cNvSpPr>
            <a:spLocks noGrp="1"/>
          </p:cNvSpPr>
          <p:nvPr>
            <p:ph type="pic" idx="1"/>
          </p:nvPr>
        </p:nvSpPr>
        <p:spPr>
          <a:xfrm>
            <a:off x="5183188" y="987426"/>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AA287630-EAD5-4119-B076-11901C3FEC25}"/>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5A2AB513-A53B-4670-B5EA-1AC8FE8E2D01}"/>
              </a:ext>
            </a:extLst>
          </p:cNvPr>
          <p:cNvSpPr>
            <a:spLocks noGrp="1"/>
          </p:cNvSpPr>
          <p:nvPr>
            <p:ph type="dt" sz="half" idx="10"/>
          </p:nvPr>
        </p:nvSpPr>
        <p:spPr>
          <a:xfrm>
            <a:off x="838200" y="6356352"/>
            <a:ext cx="2743200" cy="365125"/>
          </a:xfrm>
          <a:prstGeom prst="rect">
            <a:avLst/>
          </a:prstGeom>
        </p:spPr>
        <p:txBody>
          <a:bodyPr/>
          <a:lstStyle/>
          <a:p>
            <a:fld id="{C148A92D-E863-48C6-97DE-BCCBCECC9A61}" type="datetime1">
              <a:rPr lang="zh-CN" altLang="en-US" smtClean="0"/>
              <a:t>2025/5/1</a:t>
            </a:fld>
            <a:endParaRPr lang="zh-CN" altLang="en-US"/>
          </a:p>
        </p:txBody>
      </p:sp>
      <p:sp>
        <p:nvSpPr>
          <p:cNvPr id="6" name="页脚占位符 5">
            <a:extLst>
              <a:ext uri="{FF2B5EF4-FFF2-40B4-BE49-F238E27FC236}">
                <a16:creationId xmlns:a16="http://schemas.microsoft.com/office/drawing/2014/main" id="{C26D43B6-6420-4F6C-B2AF-BC696A299447}"/>
              </a:ext>
            </a:extLst>
          </p:cNvPr>
          <p:cNvSpPr>
            <a:spLocks noGrp="1"/>
          </p:cNvSpPr>
          <p:nvPr>
            <p:ph type="ftr" sz="quarter" idx="11"/>
          </p:nvPr>
        </p:nvSpPr>
        <p:spPr>
          <a:xfrm>
            <a:off x="4038600" y="6356352"/>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031C1F89-AE2F-49D5-904C-9F5201C1C658}"/>
              </a:ext>
            </a:extLst>
          </p:cNvPr>
          <p:cNvSpPr>
            <a:spLocks noGrp="1"/>
          </p:cNvSpPr>
          <p:nvPr>
            <p:ph type="sldNum" sz="quarter" idx="12"/>
          </p:nvPr>
        </p:nvSpPr>
        <p:spPr>
          <a:xfrm>
            <a:off x="8610600" y="6356352"/>
            <a:ext cx="2743200" cy="365125"/>
          </a:xfrm>
          <a:prstGeom prst="rect">
            <a:avLst/>
          </a:prstGeom>
        </p:spPr>
        <p:txBody>
          <a:bodyPr/>
          <a:lstStyle/>
          <a:p>
            <a:fld id="{9232B33E-6CBB-4C23-BFFD-4D7045B4FE1F}" type="slidenum">
              <a:rPr lang="zh-CN" altLang="en-US" smtClean="0"/>
              <a:t>‹#›</a:t>
            </a:fld>
            <a:endParaRPr lang="zh-CN" altLang="en-US"/>
          </a:p>
        </p:txBody>
      </p:sp>
    </p:spTree>
    <p:extLst>
      <p:ext uri="{BB962C8B-B14F-4D97-AF65-F5344CB8AC3E}">
        <p14:creationId xmlns:p14="http://schemas.microsoft.com/office/powerpoint/2010/main" val="34122739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0C0313-287C-48B7-AB5C-AACE0A5B5BDC}"/>
              </a:ext>
            </a:extLst>
          </p:cNvPr>
          <p:cNvSpPr>
            <a:spLocks noGrp="1"/>
          </p:cNvSpPr>
          <p:nvPr>
            <p:ph type="title"/>
          </p:nvPr>
        </p:nvSpPr>
        <p:spPr>
          <a:xfrm>
            <a:off x="838200" y="365126"/>
            <a:ext cx="10515600" cy="1325563"/>
          </a:xfrm>
          <a:prstGeom prst="rect">
            <a:avLst/>
          </a:prstGeom>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59942371-BA73-4FCB-9AEF-F3D67E66CDBA}"/>
              </a:ext>
            </a:extLst>
          </p:cNvPr>
          <p:cNvSpPr>
            <a:spLocks noGrp="1"/>
          </p:cNvSpPr>
          <p:nvPr>
            <p:ph type="body" orient="vert" idx="1"/>
          </p:nvPr>
        </p:nvSpPr>
        <p:spPr>
          <a:xfrm>
            <a:off x="838200" y="1825625"/>
            <a:ext cx="10515600" cy="4351338"/>
          </a:xfrm>
          <a:prstGeom prst="rect">
            <a:avLst/>
          </a:prstGeo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E0312F4-365F-4368-8D2C-C16B974B96DA}"/>
              </a:ext>
            </a:extLst>
          </p:cNvPr>
          <p:cNvSpPr>
            <a:spLocks noGrp="1"/>
          </p:cNvSpPr>
          <p:nvPr>
            <p:ph type="dt" sz="half" idx="10"/>
          </p:nvPr>
        </p:nvSpPr>
        <p:spPr>
          <a:xfrm>
            <a:off x="838200" y="6356352"/>
            <a:ext cx="2743200" cy="365125"/>
          </a:xfrm>
          <a:prstGeom prst="rect">
            <a:avLst/>
          </a:prstGeom>
        </p:spPr>
        <p:txBody>
          <a:bodyPr/>
          <a:lstStyle/>
          <a:p>
            <a:fld id="{47D18C2F-478C-4E9B-87BD-B5D70FB82834}" type="datetime1">
              <a:rPr lang="zh-CN" altLang="en-US" smtClean="0"/>
              <a:t>2025/5/1</a:t>
            </a:fld>
            <a:endParaRPr lang="zh-CN" altLang="en-US"/>
          </a:p>
        </p:txBody>
      </p:sp>
      <p:sp>
        <p:nvSpPr>
          <p:cNvPr id="5" name="页脚占位符 4">
            <a:extLst>
              <a:ext uri="{FF2B5EF4-FFF2-40B4-BE49-F238E27FC236}">
                <a16:creationId xmlns:a16="http://schemas.microsoft.com/office/drawing/2014/main" id="{05425F38-AD11-48C7-9910-BFDB4FDADC74}"/>
              </a:ext>
            </a:extLst>
          </p:cNvPr>
          <p:cNvSpPr>
            <a:spLocks noGrp="1"/>
          </p:cNvSpPr>
          <p:nvPr>
            <p:ph type="ftr" sz="quarter" idx="11"/>
          </p:nvPr>
        </p:nvSpPr>
        <p:spPr>
          <a:xfrm>
            <a:off x="4038600" y="6356352"/>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B19BBE80-AF79-452E-9830-CED5C25B2295}"/>
              </a:ext>
            </a:extLst>
          </p:cNvPr>
          <p:cNvSpPr>
            <a:spLocks noGrp="1"/>
          </p:cNvSpPr>
          <p:nvPr>
            <p:ph type="sldNum" sz="quarter" idx="12"/>
          </p:nvPr>
        </p:nvSpPr>
        <p:spPr>
          <a:xfrm>
            <a:off x="8610600" y="6356352"/>
            <a:ext cx="2743200" cy="365125"/>
          </a:xfrm>
          <a:prstGeom prst="rect">
            <a:avLst/>
          </a:prstGeom>
        </p:spPr>
        <p:txBody>
          <a:bodyPr/>
          <a:lstStyle/>
          <a:p>
            <a:fld id="{9232B33E-6CBB-4C23-BFFD-4D7045B4FE1F}" type="slidenum">
              <a:rPr lang="zh-CN" altLang="en-US" smtClean="0"/>
              <a:t>‹#›</a:t>
            </a:fld>
            <a:endParaRPr lang="zh-CN" altLang="en-US"/>
          </a:p>
        </p:txBody>
      </p:sp>
    </p:spTree>
    <p:extLst>
      <p:ext uri="{BB962C8B-B14F-4D97-AF65-F5344CB8AC3E}">
        <p14:creationId xmlns:p14="http://schemas.microsoft.com/office/powerpoint/2010/main" val="36693806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457ED591-E1F3-4263-B9A2-10D951839D33}"/>
              </a:ext>
            </a:extLst>
          </p:cNvPr>
          <p:cNvSpPr>
            <a:spLocks noGrp="1"/>
          </p:cNvSpPr>
          <p:nvPr>
            <p:ph type="title" orient="vert"/>
          </p:nvPr>
        </p:nvSpPr>
        <p:spPr>
          <a:xfrm>
            <a:off x="8724901" y="365125"/>
            <a:ext cx="2628900" cy="5811838"/>
          </a:xfrm>
          <a:prstGeom prst="rect">
            <a:avLst/>
          </a:prstGeo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190E7C37-3718-4BD2-B74F-269D8D6D1F97}"/>
              </a:ext>
            </a:extLst>
          </p:cNvPr>
          <p:cNvSpPr>
            <a:spLocks noGrp="1"/>
          </p:cNvSpPr>
          <p:nvPr>
            <p:ph type="body" orient="vert" idx="1"/>
          </p:nvPr>
        </p:nvSpPr>
        <p:spPr>
          <a:xfrm>
            <a:off x="838201" y="365125"/>
            <a:ext cx="7734300" cy="5811838"/>
          </a:xfrm>
          <a:prstGeom prst="rect">
            <a:avLst/>
          </a:prstGeo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E266622C-59D1-45D2-B917-079810188B06}"/>
              </a:ext>
            </a:extLst>
          </p:cNvPr>
          <p:cNvSpPr>
            <a:spLocks noGrp="1"/>
          </p:cNvSpPr>
          <p:nvPr>
            <p:ph type="dt" sz="half" idx="10"/>
          </p:nvPr>
        </p:nvSpPr>
        <p:spPr>
          <a:xfrm>
            <a:off x="838200" y="6356352"/>
            <a:ext cx="2743200" cy="365125"/>
          </a:xfrm>
          <a:prstGeom prst="rect">
            <a:avLst/>
          </a:prstGeom>
        </p:spPr>
        <p:txBody>
          <a:bodyPr/>
          <a:lstStyle/>
          <a:p>
            <a:fld id="{58B307B1-8661-4B80-9CDD-22112D5C78AD}" type="datetime1">
              <a:rPr lang="zh-CN" altLang="en-US" smtClean="0"/>
              <a:t>2025/5/1</a:t>
            </a:fld>
            <a:endParaRPr lang="zh-CN" altLang="en-US"/>
          </a:p>
        </p:txBody>
      </p:sp>
      <p:sp>
        <p:nvSpPr>
          <p:cNvPr id="5" name="页脚占位符 4">
            <a:extLst>
              <a:ext uri="{FF2B5EF4-FFF2-40B4-BE49-F238E27FC236}">
                <a16:creationId xmlns:a16="http://schemas.microsoft.com/office/drawing/2014/main" id="{EFCB819A-74E7-422F-A15F-19F80B8F8EAC}"/>
              </a:ext>
            </a:extLst>
          </p:cNvPr>
          <p:cNvSpPr>
            <a:spLocks noGrp="1"/>
          </p:cNvSpPr>
          <p:nvPr>
            <p:ph type="ftr" sz="quarter" idx="11"/>
          </p:nvPr>
        </p:nvSpPr>
        <p:spPr>
          <a:xfrm>
            <a:off x="4038600" y="6356352"/>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45A4F183-AD35-4C8B-809B-F8FA052EBBBF}"/>
              </a:ext>
            </a:extLst>
          </p:cNvPr>
          <p:cNvSpPr>
            <a:spLocks noGrp="1"/>
          </p:cNvSpPr>
          <p:nvPr>
            <p:ph type="sldNum" sz="quarter" idx="12"/>
          </p:nvPr>
        </p:nvSpPr>
        <p:spPr>
          <a:xfrm>
            <a:off x="8610600" y="6356352"/>
            <a:ext cx="2743200" cy="365125"/>
          </a:xfrm>
          <a:prstGeom prst="rect">
            <a:avLst/>
          </a:prstGeom>
        </p:spPr>
        <p:txBody>
          <a:bodyPr/>
          <a:lstStyle/>
          <a:p>
            <a:fld id="{9232B33E-6CBB-4C23-BFFD-4D7045B4FE1F}" type="slidenum">
              <a:rPr lang="zh-CN" altLang="en-US" smtClean="0"/>
              <a:t>‹#›</a:t>
            </a:fld>
            <a:endParaRPr lang="zh-CN" altLang="en-US"/>
          </a:p>
        </p:txBody>
      </p:sp>
    </p:spTree>
    <p:extLst>
      <p:ext uri="{BB962C8B-B14F-4D97-AF65-F5344CB8AC3E}">
        <p14:creationId xmlns:p14="http://schemas.microsoft.com/office/powerpoint/2010/main" val="8305683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609600" y="1600203"/>
            <a:ext cx="1097280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00" y="6356353"/>
            <a:ext cx="2844800" cy="365125"/>
          </a:xfrm>
          <a:prstGeom prst="rect">
            <a:avLst/>
          </a:prstGeom>
        </p:spPr>
        <p:txBody>
          <a:bodyPr/>
          <a:lstStyle/>
          <a:p>
            <a:fld id="{878A1C3F-AECA-4AD8-952C-CC52A319469E}" type="datetime1">
              <a:rPr lang="zh-CN" altLang="en-US" smtClean="0">
                <a:solidFill>
                  <a:prstClr val="black"/>
                </a:solidFill>
              </a:rPr>
              <a:t>2025/5/1</a:t>
            </a:fld>
            <a:endParaRPr lang="zh-CN" altLang="en-US">
              <a:solidFill>
                <a:prstClr val="black"/>
              </a:solidFill>
            </a:endParaRPr>
          </a:p>
        </p:txBody>
      </p:sp>
      <p:sp>
        <p:nvSpPr>
          <p:cNvPr id="5" name="页脚占位符 4"/>
          <p:cNvSpPr>
            <a:spLocks noGrp="1"/>
          </p:cNvSpPr>
          <p:nvPr>
            <p:ph type="ftr" sz="quarter" idx="11"/>
          </p:nvPr>
        </p:nvSpPr>
        <p:spPr>
          <a:xfrm>
            <a:off x="4165600" y="6356353"/>
            <a:ext cx="3860800"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600" y="6356353"/>
            <a:ext cx="2844800" cy="365125"/>
          </a:xfrm>
          <a:prstGeom prst="rect">
            <a:avLst/>
          </a:prstGeom>
        </p:spPr>
        <p:txBody>
          <a:bodyPr/>
          <a:lstStyle/>
          <a:p>
            <a:fld id="{55ECCFAA-F4FB-487C-9F1E-C8836D0C3DC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42439061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9"/>
            <a:ext cx="8026400"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00" y="6356353"/>
            <a:ext cx="2844800" cy="365125"/>
          </a:xfrm>
          <a:prstGeom prst="rect">
            <a:avLst/>
          </a:prstGeom>
        </p:spPr>
        <p:txBody>
          <a:bodyPr/>
          <a:lstStyle/>
          <a:p>
            <a:fld id="{223F6AED-2601-4229-A4BC-3B325D687922}" type="datetime1">
              <a:rPr lang="zh-CN" altLang="en-US" smtClean="0">
                <a:solidFill>
                  <a:prstClr val="black"/>
                </a:solidFill>
              </a:rPr>
              <a:t>2025/5/1</a:t>
            </a:fld>
            <a:endParaRPr lang="zh-CN" altLang="en-US">
              <a:solidFill>
                <a:prstClr val="black"/>
              </a:solidFill>
            </a:endParaRPr>
          </a:p>
        </p:txBody>
      </p:sp>
      <p:sp>
        <p:nvSpPr>
          <p:cNvPr id="5" name="页脚占位符 4"/>
          <p:cNvSpPr>
            <a:spLocks noGrp="1"/>
          </p:cNvSpPr>
          <p:nvPr>
            <p:ph type="ftr" sz="quarter" idx="11"/>
          </p:nvPr>
        </p:nvSpPr>
        <p:spPr>
          <a:xfrm>
            <a:off x="4165600" y="6356353"/>
            <a:ext cx="3860800"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600" y="6356353"/>
            <a:ext cx="2844800" cy="365125"/>
          </a:xfrm>
          <a:prstGeom prst="rect">
            <a:avLst/>
          </a:prstGeom>
        </p:spPr>
        <p:txBody>
          <a:bodyPr/>
          <a:lstStyle/>
          <a:p>
            <a:fld id="{55ECCFAA-F4FB-487C-9F1E-C8836D0C3DC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266325317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37336089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270812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3332001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2.xml"/><Relationship Id="rId6" Type="http://schemas.openxmlformats.org/officeDocument/2006/relationships/image" Target="../media/image3.emf"/><Relationship Id="rId5" Type="http://schemas.openxmlformats.org/officeDocument/2006/relationships/image" Target="../media/image2.emf"/><Relationship Id="rId4" Type="http://schemas.microsoft.com/office/2018/10/relationships/comments" Target="../comments/modernComment_116_F7A87305.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6.xml"/><Relationship Id="rId5" Type="http://schemas.openxmlformats.org/officeDocument/2006/relationships/image" Target="../media/image5.jpeg"/><Relationship Id="rId4" Type="http://schemas.openxmlformats.org/officeDocument/2006/relationships/image" Target="../media/image4.jpe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7.xml"/><Relationship Id="rId4" Type="http://schemas.microsoft.com/office/2018/10/relationships/comments" Target="../comments/modernComment_121_4DCB7D5A.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10.xml"/><Relationship Id="rId4" Type="http://schemas.microsoft.com/office/2018/10/relationships/comments" Target="../comments/modernComment_12C_413B9239.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文本框 50">
            <a:extLst>
              <a:ext uri="{FF2B5EF4-FFF2-40B4-BE49-F238E27FC236}">
                <a16:creationId xmlns:a16="http://schemas.microsoft.com/office/drawing/2014/main" id="{45155345-7E28-4E63-9873-D7B88A4E7154}"/>
              </a:ext>
            </a:extLst>
          </p:cNvPr>
          <p:cNvSpPr txBox="1"/>
          <p:nvPr/>
        </p:nvSpPr>
        <p:spPr>
          <a:xfrm>
            <a:off x="964325" y="1601342"/>
            <a:ext cx="5510366" cy="923330"/>
          </a:xfrm>
          <a:prstGeom prst="rect">
            <a:avLst/>
          </a:prstGeom>
          <a:noFill/>
        </p:spPr>
        <p:txBody>
          <a:bodyPr wrap="square" rtlCol="0">
            <a:spAutoFit/>
          </a:bodyPr>
          <a:lstStyle/>
          <a:p>
            <a:r>
              <a:rPr lang="zh-TW" altLang="en-US" sz="5400">
                <a:cs typeface="+mn-ea"/>
                <a:sym typeface="+mn-lt"/>
              </a:rPr>
              <a:t>數位通訊</a:t>
            </a:r>
            <a:endParaRPr lang="zh-CN" altLang="en-US" sz="5400">
              <a:cs typeface="+mn-ea"/>
              <a:sym typeface="+mn-lt"/>
            </a:endParaRPr>
          </a:p>
        </p:txBody>
      </p:sp>
      <p:sp>
        <p:nvSpPr>
          <p:cNvPr id="52" name="文本框 51">
            <a:extLst>
              <a:ext uri="{FF2B5EF4-FFF2-40B4-BE49-F238E27FC236}">
                <a16:creationId xmlns:a16="http://schemas.microsoft.com/office/drawing/2014/main" id="{F7EB6928-92C1-41C0-B5E7-039E4E6553D5}"/>
              </a:ext>
            </a:extLst>
          </p:cNvPr>
          <p:cNvSpPr txBox="1"/>
          <p:nvPr/>
        </p:nvSpPr>
        <p:spPr>
          <a:xfrm>
            <a:off x="867569" y="2591867"/>
            <a:ext cx="7843777" cy="1015663"/>
          </a:xfrm>
          <a:prstGeom prst="rect">
            <a:avLst/>
          </a:prstGeom>
          <a:noFill/>
        </p:spPr>
        <p:txBody>
          <a:bodyPr wrap="square" rtlCol="0">
            <a:spAutoFit/>
          </a:bodyPr>
          <a:lstStyle/>
          <a:p>
            <a:r>
              <a:rPr lang="en-US" altLang="zh-TW" sz="6000">
                <a:latin typeface="方正正黑简体" panose="02000000000000000000" pitchFamily="2" charset="-122"/>
                <a:ea typeface="方正正黑简体" panose="02000000000000000000" pitchFamily="2" charset="-122"/>
                <a:cs typeface="+mn-ea"/>
                <a:sym typeface="+mn-lt"/>
              </a:rPr>
              <a:t>2G</a:t>
            </a:r>
            <a:r>
              <a:rPr lang="zh-TW" altLang="en-US" sz="6000">
                <a:latin typeface="方正正黑简体" panose="02000000000000000000" pitchFamily="2" charset="-122"/>
                <a:ea typeface="方正正黑简体" panose="02000000000000000000" pitchFamily="2" charset="-122"/>
                <a:cs typeface="+mn-ea"/>
                <a:sym typeface="+mn-lt"/>
              </a:rPr>
              <a:t>通訊模擬實作</a:t>
            </a:r>
            <a:endParaRPr lang="zh-CN" altLang="en-US" sz="6000">
              <a:latin typeface="方正正黑简体" panose="02000000000000000000" pitchFamily="2" charset="-122"/>
              <a:ea typeface="方正正黑简体" panose="02000000000000000000" pitchFamily="2" charset="-122"/>
              <a:cs typeface="+mn-ea"/>
              <a:sym typeface="+mn-lt"/>
            </a:endParaRPr>
          </a:p>
        </p:txBody>
      </p:sp>
      <p:cxnSp>
        <p:nvCxnSpPr>
          <p:cNvPr id="57" name="直接连接符 56">
            <a:extLst>
              <a:ext uri="{FF2B5EF4-FFF2-40B4-BE49-F238E27FC236}">
                <a16:creationId xmlns:a16="http://schemas.microsoft.com/office/drawing/2014/main" id="{239416FF-00F8-4315-82B0-B6BE31C9B65E}"/>
              </a:ext>
            </a:extLst>
          </p:cNvPr>
          <p:cNvCxnSpPr>
            <a:cxnSpLocks/>
          </p:cNvCxnSpPr>
          <p:nvPr/>
        </p:nvCxnSpPr>
        <p:spPr>
          <a:xfrm>
            <a:off x="1066152" y="4163798"/>
            <a:ext cx="783771"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59" name="文本框 58">
            <a:extLst>
              <a:ext uri="{FF2B5EF4-FFF2-40B4-BE49-F238E27FC236}">
                <a16:creationId xmlns:a16="http://schemas.microsoft.com/office/drawing/2014/main" id="{C7FF26A9-77FE-4032-9442-3D22260DD7DA}"/>
              </a:ext>
            </a:extLst>
          </p:cNvPr>
          <p:cNvSpPr txBox="1"/>
          <p:nvPr/>
        </p:nvSpPr>
        <p:spPr>
          <a:xfrm>
            <a:off x="964325" y="4489918"/>
            <a:ext cx="6381977" cy="1156855"/>
          </a:xfrm>
          <a:prstGeom prst="rect">
            <a:avLst/>
          </a:prstGeom>
          <a:noFill/>
        </p:spPr>
        <p:txBody>
          <a:bodyPr wrap="square" rtlCol="0">
            <a:spAutoFit/>
          </a:bodyPr>
          <a:lstStyle/>
          <a:p>
            <a:pPr>
              <a:lnSpc>
                <a:spcPct val="150000"/>
              </a:lnSpc>
            </a:pPr>
            <a:r>
              <a:rPr lang="zh-TW" altLang="en-US" sz="1600" dirty="0">
                <a:solidFill>
                  <a:schemeClr val="tx1">
                    <a:lumMod val="50000"/>
                    <a:lumOff val="50000"/>
                  </a:schemeClr>
                </a:solidFill>
                <a:cs typeface="+mn-ea"/>
                <a:sym typeface="+mn-lt"/>
              </a:rPr>
              <a:t>第一組</a:t>
            </a:r>
            <a:endParaRPr lang="en-US" altLang="zh-TW" sz="1600" dirty="0">
              <a:solidFill>
                <a:schemeClr val="tx1">
                  <a:lumMod val="50000"/>
                  <a:lumOff val="50000"/>
                </a:schemeClr>
              </a:solidFill>
              <a:cs typeface="+mn-ea"/>
              <a:sym typeface="+mn-lt"/>
            </a:endParaRPr>
          </a:p>
          <a:p>
            <a:pPr>
              <a:lnSpc>
                <a:spcPct val="150000"/>
              </a:lnSpc>
            </a:pPr>
            <a:r>
              <a:rPr lang="zh-TW" altLang="en-US" sz="1600" dirty="0">
                <a:solidFill>
                  <a:schemeClr val="tx1">
                    <a:lumMod val="50000"/>
                    <a:lumOff val="50000"/>
                  </a:schemeClr>
                </a:solidFill>
                <a:cs typeface="+mn-ea"/>
                <a:sym typeface="+mn-lt"/>
              </a:rPr>
              <a:t>資工五甲 </a:t>
            </a:r>
            <a:r>
              <a:rPr lang="en-US" altLang="zh-TW" sz="1600" dirty="0">
                <a:solidFill>
                  <a:schemeClr val="tx1">
                    <a:lumMod val="50000"/>
                    <a:lumOff val="50000"/>
                  </a:schemeClr>
                </a:solidFill>
                <a:cs typeface="+mn-ea"/>
                <a:sym typeface="+mn-lt"/>
              </a:rPr>
              <a:t>1110932038</a:t>
            </a:r>
            <a:r>
              <a:rPr lang="zh-TW" altLang="en-US" sz="1600" dirty="0">
                <a:solidFill>
                  <a:schemeClr val="tx1">
                    <a:lumMod val="50000"/>
                    <a:lumOff val="50000"/>
                  </a:schemeClr>
                </a:solidFill>
                <a:cs typeface="+mn-ea"/>
                <a:sym typeface="+mn-lt"/>
              </a:rPr>
              <a:t> </a:t>
            </a:r>
            <a:endParaRPr lang="en-US" altLang="zh-TW" sz="1600" dirty="0">
              <a:solidFill>
                <a:schemeClr val="tx1">
                  <a:lumMod val="50000"/>
                  <a:lumOff val="50000"/>
                </a:schemeClr>
              </a:solidFill>
              <a:cs typeface="+mn-ea"/>
              <a:sym typeface="+mn-lt"/>
            </a:endParaRPr>
          </a:p>
          <a:p>
            <a:pPr>
              <a:lnSpc>
                <a:spcPct val="150000"/>
              </a:lnSpc>
            </a:pPr>
            <a:r>
              <a:rPr lang="zh-TW" altLang="en-US" sz="1600" dirty="0">
                <a:solidFill>
                  <a:schemeClr val="tx1">
                    <a:lumMod val="50000"/>
                    <a:lumOff val="50000"/>
                  </a:schemeClr>
                </a:solidFill>
                <a:cs typeface="+mn-ea"/>
                <a:sym typeface="+mn-lt"/>
              </a:rPr>
              <a:t>資工五甲 </a:t>
            </a:r>
            <a:r>
              <a:rPr lang="en-US" altLang="zh-TW" sz="1600" dirty="0">
                <a:solidFill>
                  <a:schemeClr val="tx1">
                    <a:lumMod val="50000"/>
                    <a:lumOff val="50000"/>
                  </a:schemeClr>
                </a:solidFill>
                <a:cs typeface="+mn-ea"/>
                <a:sym typeface="+mn-lt"/>
              </a:rPr>
              <a:t>1110932042</a:t>
            </a:r>
            <a:r>
              <a:rPr lang="zh-TW" altLang="en-US" sz="1600">
                <a:solidFill>
                  <a:schemeClr val="tx1">
                    <a:lumMod val="50000"/>
                    <a:lumOff val="50000"/>
                  </a:schemeClr>
                </a:solidFill>
                <a:cs typeface="+mn-ea"/>
                <a:sym typeface="+mn-lt"/>
              </a:rPr>
              <a:t> </a:t>
            </a:r>
            <a:endParaRPr lang="en-US" altLang="zh-TW" sz="1600" dirty="0">
              <a:solidFill>
                <a:schemeClr val="tx1">
                  <a:lumMod val="50000"/>
                  <a:lumOff val="50000"/>
                </a:schemeClr>
              </a:solidFill>
              <a:cs typeface="+mn-ea"/>
              <a:sym typeface="+mn-lt"/>
            </a:endParaRPr>
          </a:p>
        </p:txBody>
      </p:sp>
      <p:grpSp>
        <p:nvGrpSpPr>
          <p:cNvPr id="66" name="组合 65">
            <a:extLst>
              <a:ext uri="{FF2B5EF4-FFF2-40B4-BE49-F238E27FC236}">
                <a16:creationId xmlns:a16="http://schemas.microsoft.com/office/drawing/2014/main" id="{41EC49BF-C072-49CF-98FC-A2F128CF4A03}"/>
              </a:ext>
            </a:extLst>
          </p:cNvPr>
          <p:cNvGrpSpPr/>
          <p:nvPr/>
        </p:nvGrpSpPr>
        <p:grpSpPr>
          <a:xfrm>
            <a:off x="9753600" y="2195097"/>
            <a:ext cx="1111416" cy="2434055"/>
            <a:chOff x="9448800" y="2089837"/>
            <a:chExt cx="1428750" cy="2731515"/>
          </a:xfrm>
        </p:grpSpPr>
        <p:cxnSp>
          <p:nvCxnSpPr>
            <p:cNvPr id="63" name="直接连接符 62">
              <a:extLst>
                <a:ext uri="{FF2B5EF4-FFF2-40B4-BE49-F238E27FC236}">
                  <a16:creationId xmlns:a16="http://schemas.microsoft.com/office/drawing/2014/main" id="{792D400E-BB9C-4D17-AF06-C44BCB2CAD37}"/>
                </a:ext>
              </a:extLst>
            </p:cNvPr>
            <p:cNvCxnSpPr/>
            <p:nvPr/>
          </p:nvCxnSpPr>
          <p:spPr>
            <a:xfrm>
              <a:off x="9448800" y="2089837"/>
              <a:ext cx="1428750" cy="1249448"/>
            </a:xfrm>
            <a:prstGeom prst="line">
              <a:avLst/>
            </a:prstGeom>
            <a:ln w="130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AF72E8F5-ABDB-47B1-8993-F2DD08F67FA2}"/>
                </a:ext>
              </a:extLst>
            </p:cNvPr>
            <p:cNvCxnSpPr/>
            <p:nvPr/>
          </p:nvCxnSpPr>
          <p:spPr>
            <a:xfrm flipH="1">
              <a:off x="9467850" y="3237868"/>
              <a:ext cx="1409700" cy="1583484"/>
            </a:xfrm>
            <a:prstGeom prst="line">
              <a:avLst/>
            </a:prstGeom>
            <a:ln w="130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78" name="组合 77">
            <a:extLst>
              <a:ext uri="{FF2B5EF4-FFF2-40B4-BE49-F238E27FC236}">
                <a16:creationId xmlns:a16="http://schemas.microsoft.com/office/drawing/2014/main" id="{609958DE-A971-4AEF-8647-D13F4017C387}"/>
              </a:ext>
            </a:extLst>
          </p:cNvPr>
          <p:cNvGrpSpPr/>
          <p:nvPr/>
        </p:nvGrpSpPr>
        <p:grpSpPr>
          <a:xfrm>
            <a:off x="0" y="530275"/>
            <a:ext cx="12192000" cy="381000"/>
            <a:chOff x="0" y="530275"/>
            <a:chExt cx="12192000" cy="381000"/>
          </a:xfrm>
        </p:grpSpPr>
        <p:cxnSp>
          <p:nvCxnSpPr>
            <p:cNvPr id="50" name="直接连接符 49">
              <a:extLst>
                <a:ext uri="{FF2B5EF4-FFF2-40B4-BE49-F238E27FC236}">
                  <a16:creationId xmlns:a16="http://schemas.microsoft.com/office/drawing/2014/main" id="{8861FF86-231D-45F9-BEC7-6F9B319E3EB0}"/>
                </a:ext>
              </a:extLst>
            </p:cNvPr>
            <p:cNvCxnSpPr/>
            <p:nvPr/>
          </p:nvCxnSpPr>
          <p:spPr>
            <a:xfrm>
              <a:off x="0" y="718840"/>
              <a:ext cx="12192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8" name="等腰三角形 67">
              <a:extLst>
                <a:ext uri="{FF2B5EF4-FFF2-40B4-BE49-F238E27FC236}">
                  <a16:creationId xmlns:a16="http://schemas.microsoft.com/office/drawing/2014/main" id="{4F6A80D7-9987-47FF-AB0A-01C812EF68CA}"/>
                </a:ext>
              </a:extLst>
            </p:cNvPr>
            <p:cNvSpPr/>
            <p:nvPr/>
          </p:nvSpPr>
          <p:spPr>
            <a:xfrm rot="5400000">
              <a:off x="281152" y="556551"/>
              <a:ext cx="381000" cy="32844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9" name="等腰三角形 68">
              <a:extLst>
                <a:ext uri="{FF2B5EF4-FFF2-40B4-BE49-F238E27FC236}">
                  <a16:creationId xmlns:a16="http://schemas.microsoft.com/office/drawing/2014/main" id="{1812DDB9-AFCF-420B-9644-CF4311FB4A6E}"/>
                </a:ext>
              </a:extLst>
            </p:cNvPr>
            <p:cNvSpPr/>
            <p:nvPr/>
          </p:nvSpPr>
          <p:spPr>
            <a:xfrm rot="5400000">
              <a:off x="609600" y="556551"/>
              <a:ext cx="381000" cy="32844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79" name="组合 78">
            <a:extLst>
              <a:ext uri="{FF2B5EF4-FFF2-40B4-BE49-F238E27FC236}">
                <a16:creationId xmlns:a16="http://schemas.microsoft.com/office/drawing/2014/main" id="{273C4A6A-42FC-4517-9856-5CE2E0584883}"/>
              </a:ext>
            </a:extLst>
          </p:cNvPr>
          <p:cNvGrpSpPr/>
          <p:nvPr/>
        </p:nvGrpSpPr>
        <p:grpSpPr>
          <a:xfrm>
            <a:off x="0" y="6229350"/>
            <a:ext cx="12192000" cy="381000"/>
            <a:chOff x="0" y="6229350"/>
            <a:chExt cx="12192000" cy="381000"/>
          </a:xfrm>
        </p:grpSpPr>
        <p:cxnSp>
          <p:nvCxnSpPr>
            <p:cNvPr id="67" name="直接连接符 66">
              <a:extLst>
                <a:ext uri="{FF2B5EF4-FFF2-40B4-BE49-F238E27FC236}">
                  <a16:creationId xmlns:a16="http://schemas.microsoft.com/office/drawing/2014/main" id="{B928231F-6E27-4A85-8B70-186C8855C4C1}"/>
                </a:ext>
              </a:extLst>
            </p:cNvPr>
            <p:cNvCxnSpPr/>
            <p:nvPr/>
          </p:nvCxnSpPr>
          <p:spPr>
            <a:xfrm>
              <a:off x="0" y="6400800"/>
              <a:ext cx="12192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73" name="组合 72">
              <a:extLst>
                <a:ext uri="{FF2B5EF4-FFF2-40B4-BE49-F238E27FC236}">
                  <a16:creationId xmlns:a16="http://schemas.microsoft.com/office/drawing/2014/main" id="{737C18CD-D616-44C4-874C-FFACB3BC9FAB}"/>
                </a:ext>
              </a:extLst>
            </p:cNvPr>
            <p:cNvGrpSpPr/>
            <p:nvPr/>
          </p:nvGrpSpPr>
          <p:grpSpPr>
            <a:xfrm rot="10800000">
              <a:off x="10865016" y="6229350"/>
              <a:ext cx="656896" cy="381000"/>
              <a:chOff x="10536568" y="6381752"/>
              <a:chExt cx="656896" cy="381000"/>
            </a:xfrm>
          </p:grpSpPr>
          <p:sp>
            <p:nvSpPr>
              <p:cNvPr id="71" name="等腰三角形 70">
                <a:extLst>
                  <a:ext uri="{FF2B5EF4-FFF2-40B4-BE49-F238E27FC236}">
                    <a16:creationId xmlns:a16="http://schemas.microsoft.com/office/drawing/2014/main" id="{1310C947-1533-41A2-AD49-880E3164CFE9}"/>
                  </a:ext>
                </a:extLst>
              </p:cNvPr>
              <p:cNvSpPr/>
              <p:nvPr/>
            </p:nvSpPr>
            <p:spPr>
              <a:xfrm rot="5400000">
                <a:off x="10510292" y="6408028"/>
                <a:ext cx="381000" cy="32844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2" name="等腰三角形 71">
                <a:extLst>
                  <a:ext uri="{FF2B5EF4-FFF2-40B4-BE49-F238E27FC236}">
                    <a16:creationId xmlns:a16="http://schemas.microsoft.com/office/drawing/2014/main" id="{6C4CB927-2B34-4F71-9A56-C3A2378A1131}"/>
                  </a:ext>
                </a:extLst>
              </p:cNvPr>
              <p:cNvSpPr/>
              <p:nvPr/>
            </p:nvSpPr>
            <p:spPr>
              <a:xfrm rot="5400000">
                <a:off x="10838740" y="6408028"/>
                <a:ext cx="381000" cy="32844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sp>
        <p:nvSpPr>
          <p:cNvPr id="77" name="文本框 76">
            <a:extLst>
              <a:ext uri="{FF2B5EF4-FFF2-40B4-BE49-F238E27FC236}">
                <a16:creationId xmlns:a16="http://schemas.microsoft.com/office/drawing/2014/main" id="{8C65279C-389C-4262-A5AB-A140C48D3D10}"/>
              </a:ext>
            </a:extLst>
          </p:cNvPr>
          <p:cNvSpPr txBox="1"/>
          <p:nvPr/>
        </p:nvSpPr>
        <p:spPr>
          <a:xfrm>
            <a:off x="10721812" y="172667"/>
            <a:ext cx="1162760" cy="523220"/>
          </a:xfrm>
          <a:prstGeom prst="rect">
            <a:avLst/>
          </a:prstGeom>
          <a:solidFill>
            <a:schemeClr val="tx1"/>
          </a:solidFill>
        </p:spPr>
        <p:txBody>
          <a:bodyPr wrap="square" rtlCol="0">
            <a:spAutoFit/>
          </a:bodyPr>
          <a:lstStyle/>
          <a:p>
            <a:pPr algn="ctr"/>
            <a:endParaRPr lang="zh-CN" altLang="en-US" sz="2800">
              <a:solidFill>
                <a:schemeClr val="bg1"/>
              </a:solidFill>
              <a:latin typeface="Agency FB" panose="020B0503020202020204" pitchFamily="34" charset="0"/>
              <a:cs typeface="+mn-ea"/>
              <a:sym typeface="+mn-lt"/>
            </a:endParaRPr>
          </a:p>
        </p:txBody>
      </p:sp>
    </p:spTree>
    <p:custDataLst>
      <p:tags r:id="rId1"/>
    </p:custDataLst>
    <p:extLst>
      <p:ext uri="{BB962C8B-B14F-4D97-AF65-F5344CB8AC3E}">
        <p14:creationId xmlns:p14="http://schemas.microsoft.com/office/powerpoint/2010/main" val="2528116346"/>
      </p:ext>
    </p:extLst>
  </p:cSld>
  <p:clrMapOvr>
    <a:masterClrMapping/>
  </p:clrMapOvr>
  <p:transition spd="slow">
    <p:cove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文本框 20">
            <a:extLst>
              <a:ext uri="{FF2B5EF4-FFF2-40B4-BE49-F238E27FC236}">
                <a16:creationId xmlns:a16="http://schemas.microsoft.com/office/drawing/2014/main" id="{F9B8E2E8-4145-4D57-8BBA-B74DFB77DAC4}"/>
              </a:ext>
            </a:extLst>
          </p:cNvPr>
          <p:cNvSpPr txBox="1"/>
          <p:nvPr/>
        </p:nvSpPr>
        <p:spPr>
          <a:xfrm>
            <a:off x="5564012" y="2321916"/>
            <a:ext cx="1055477" cy="584775"/>
          </a:xfrm>
          <a:prstGeom prst="rect">
            <a:avLst/>
          </a:prstGeom>
          <a:noFill/>
        </p:spPr>
        <p:txBody>
          <a:bodyPr wrap="square" rtlCol="0">
            <a:spAutoFit/>
          </a:bodyPr>
          <a:lstStyle/>
          <a:p>
            <a:pPr algn="r"/>
            <a:r>
              <a:rPr lang="en-US" altLang="zh-TW" sz="3200">
                <a:cs typeface="+mn-ea"/>
                <a:sym typeface="+mn-lt"/>
              </a:rPr>
              <a:t>UPD</a:t>
            </a:r>
            <a:endParaRPr lang="zh-CN" altLang="en-US" sz="3200">
              <a:cs typeface="+mn-ea"/>
              <a:sym typeface="+mn-lt"/>
            </a:endParaRPr>
          </a:p>
        </p:txBody>
      </p:sp>
      <p:sp>
        <p:nvSpPr>
          <p:cNvPr id="22" name="文本框 21">
            <a:extLst>
              <a:ext uri="{FF2B5EF4-FFF2-40B4-BE49-F238E27FC236}">
                <a16:creationId xmlns:a16="http://schemas.microsoft.com/office/drawing/2014/main" id="{50547BFB-E852-4279-BD1B-3364B9BCDD4D}"/>
              </a:ext>
            </a:extLst>
          </p:cNvPr>
          <p:cNvSpPr txBox="1"/>
          <p:nvPr/>
        </p:nvSpPr>
        <p:spPr>
          <a:xfrm>
            <a:off x="4966602" y="1208526"/>
            <a:ext cx="2309315" cy="646331"/>
          </a:xfrm>
          <a:prstGeom prst="rect">
            <a:avLst/>
          </a:prstGeom>
          <a:noFill/>
        </p:spPr>
        <p:txBody>
          <a:bodyPr wrap="square" rtlCol="0">
            <a:spAutoFit/>
          </a:bodyPr>
          <a:lstStyle/>
          <a:p>
            <a:pPr algn="ctr"/>
            <a:r>
              <a:rPr lang="zh-TW" altLang="en-US" sz="3600" b="1">
                <a:cs typeface="+mn-ea"/>
                <a:sym typeface="+mn-lt"/>
              </a:rPr>
              <a:t>基本架構</a:t>
            </a:r>
            <a:endParaRPr lang="zh-CN" altLang="en-US" sz="3600" b="1">
              <a:cs typeface="+mn-ea"/>
              <a:sym typeface="+mn-lt"/>
            </a:endParaRPr>
          </a:p>
        </p:txBody>
      </p:sp>
      <p:grpSp>
        <p:nvGrpSpPr>
          <p:cNvPr id="45" name="组合 44">
            <a:extLst>
              <a:ext uri="{FF2B5EF4-FFF2-40B4-BE49-F238E27FC236}">
                <a16:creationId xmlns:a16="http://schemas.microsoft.com/office/drawing/2014/main" id="{FF9F6472-0794-4395-9ECF-50A93A5F7AAD}"/>
              </a:ext>
            </a:extLst>
          </p:cNvPr>
          <p:cNvGrpSpPr/>
          <p:nvPr/>
        </p:nvGrpSpPr>
        <p:grpSpPr>
          <a:xfrm>
            <a:off x="0" y="584035"/>
            <a:ext cx="12192000" cy="381000"/>
            <a:chOff x="0" y="584035"/>
            <a:chExt cx="12192000" cy="381000"/>
          </a:xfrm>
        </p:grpSpPr>
        <p:cxnSp>
          <p:nvCxnSpPr>
            <p:cNvPr id="36" name="直接连接符 35">
              <a:extLst>
                <a:ext uri="{FF2B5EF4-FFF2-40B4-BE49-F238E27FC236}">
                  <a16:creationId xmlns:a16="http://schemas.microsoft.com/office/drawing/2014/main" id="{63F5FAE7-936A-49F6-9A8E-2936FD8AED59}"/>
                </a:ext>
              </a:extLst>
            </p:cNvPr>
            <p:cNvCxnSpPr/>
            <p:nvPr/>
          </p:nvCxnSpPr>
          <p:spPr>
            <a:xfrm>
              <a:off x="0" y="774535"/>
              <a:ext cx="12192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7" name="组合 36">
              <a:extLst>
                <a:ext uri="{FF2B5EF4-FFF2-40B4-BE49-F238E27FC236}">
                  <a16:creationId xmlns:a16="http://schemas.microsoft.com/office/drawing/2014/main" id="{FBBE7AAA-B6E3-4234-90E9-D579CD5554BA}"/>
                </a:ext>
              </a:extLst>
            </p:cNvPr>
            <p:cNvGrpSpPr/>
            <p:nvPr/>
          </p:nvGrpSpPr>
          <p:grpSpPr>
            <a:xfrm rot="10800000">
              <a:off x="11060824" y="584035"/>
              <a:ext cx="656896" cy="381000"/>
              <a:chOff x="307428" y="393221"/>
              <a:chExt cx="656896" cy="381000"/>
            </a:xfrm>
          </p:grpSpPr>
          <p:sp>
            <p:nvSpPr>
              <p:cNvPr id="38" name="等腰三角形 37">
                <a:extLst>
                  <a:ext uri="{FF2B5EF4-FFF2-40B4-BE49-F238E27FC236}">
                    <a16:creationId xmlns:a16="http://schemas.microsoft.com/office/drawing/2014/main" id="{5D3DA7CD-56A1-44D9-8D53-A2794FF3AC1C}"/>
                  </a:ext>
                </a:extLst>
              </p:cNvPr>
              <p:cNvSpPr/>
              <p:nvPr/>
            </p:nvSpPr>
            <p:spPr>
              <a:xfrm rot="5400000">
                <a:off x="281152" y="419497"/>
                <a:ext cx="381000" cy="32844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9" name="等腰三角形 38">
                <a:extLst>
                  <a:ext uri="{FF2B5EF4-FFF2-40B4-BE49-F238E27FC236}">
                    <a16:creationId xmlns:a16="http://schemas.microsoft.com/office/drawing/2014/main" id="{1A651E2A-2DC3-46ED-8288-15D3C4794F41}"/>
                  </a:ext>
                </a:extLst>
              </p:cNvPr>
              <p:cNvSpPr/>
              <p:nvPr/>
            </p:nvSpPr>
            <p:spPr>
              <a:xfrm rot="5400000">
                <a:off x="609600" y="419497"/>
                <a:ext cx="381000" cy="32844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sp>
        <p:nvSpPr>
          <p:cNvPr id="40" name="文本框 39">
            <a:extLst>
              <a:ext uri="{FF2B5EF4-FFF2-40B4-BE49-F238E27FC236}">
                <a16:creationId xmlns:a16="http://schemas.microsoft.com/office/drawing/2014/main" id="{3EA6EC73-9538-466E-B5C2-19AEF042EB8E}"/>
              </a:ext>
            </a:extLst>
          </p:cNvPr>
          <p:cNvSpPr txBox="1"/>
          <p:nvPr/>
        </p:nvSpPr>
        <p:spPr>
          <a:xfrm>
            <a:off x="358324" y="298225"/>
            <a:ext cx="936104" cy="400110"/>
          </a:xfrm>
          <a:prstGeom prst="rect">
            <a:avLst/>
          </a:prstGeom>
          <a:solidFill>
            <a:schemeClr val="tx1"/>
          </a:solidFill>
        </p:spPr>
        <p:txBody>
          <a:bodyPr wrap="square" rtlCol="0">
            <a:spAutoFit/>
          </a:bodyPr>
          <a:lstStyle/>
          <a:p>
            <a:pPr algn="ctr"/>
            <a:endParaRPr lang="zh-CN" altLang="en-US" sz="2000">
              <a:solidFill>
                <a:schemeClr val="bg1"/>
              </a:solidFill>
              <a:cs typeface="+mn-ea"/>
              <a:sym typeface="+mn-lt"/>
            </a:endParaRPr>
          </a:p>
        </p:txBody>
      </p:sp>
      <p:grpSp>
        <p:nvGrpSpPr>
          <p:cNvPr id="61" name="群組 60">
            <a:extLst>
              <a:ext uri="{FF2B5EF4-FFF2-40B4-BE49-F238E27FC236}">
                <a16:creationId xmlns:a16="http://schemas.microsoft.com/office/drawing/2014/main" id="{11CA612E-245D-4C76-DE70-C2F9B46BA404}"/>
              </a:ext>
            </a:extLst>
          </p:cNvPr>
          <p:cNvGrpSpPr/>
          <p:nvPr/>
        </p:nvGrpSpPr>
        <p:grpSpPr>
          <a:xfrm>
            <a:off x="4379540" y="3017121"/>
            <a:ext cx="3399016" cy="381000"/>
            <a:chOff x="4383095" y="3491916"/>
            <a:chExt cx="3399016" cy="381000"/>
          </a:xfrm>
        </p:grpSpPr>
        <p:cxnSp>
          <p:nvCxnSpPr>
            <p:cNvPr id="55" name="直接连接符 35">
              <a:extLst>
                <a:ext uri="{FF2B5EF4-FFF2-40B4-BE49-F238E27FC236}">
                  <a16:creationId xmlns:a16="http://schemas.microsoft.com/office/drawing/2014/main" id="{B187C506-4F28-5835-6A20-C12DC537DE0A}"/>
                </a:ext>
              </a:extLst>
            </p:cNvPr>
            <p:cNvCxnSpPr>
              <a:cxnSpLocks/>
            </p:cNvCxnSpPr>
            <p:nvPr/>
          </p:nvCxnSpPr>
          <p:spPr>
            <a:xfrm>
              <a:off x="4391766" y="3678062"/>
              <a:ext cx="335279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7" name="等腰三角形 56">
              <a:extLst>
                <a:ext uri="{FF2B5EF4-FFF2-40B4-BE49-F238E27FC236}">
                  <a16:creationId xmlns:a16="http://schemas.microsoft.com/office/drawing/2014/main" id="{12217FF2-5E3E-FC9F-196C-A4779189732C}"/>
                </a:ext>
              </a:extLst>
            </p:cNvPr>
            <p:cNvSpPr/>
            <p:nvPr/>
          </p:nvSpPr>
          <p:spPr>
            <a:xfrm rot="5400000">
              <a:off x="7427387" y="3518192"/>
              <a:ext cx="381000" cy="32844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8" name="等腰三角形 57">
              <a:extLst>
                <a:ext uri="{FF2B5EF4-FFF2-40B4-BE49-F238E27FC236}">
                  <a16:creationId xmlns:a16="http://schemas.microsoft.com/office/drawing/2014/main" id="{E14D57B5-C31F-1992-DB77-1D06A8B3FE85}"/>
                </a:ext>
              </a:extLst>
            </p:cNvPr>
            <p:cNvSpPr/>
            <p:nvPr/>
          </p:nvSpPr>
          <p:spPr>
            <a:xfrm rot="16200000">
              <a:off x="4356819" y="3518192"/>
              <a:ext cx="381000" cy="32844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62" name="文本框 20">
            <a:extLst>
              <a:ext uri="{FF2B5EF4-FFF2-40B4-BE49-F238E27FC236}">
                <a16:creationId xmlns:a16="http://schemas.microsoft.com/office/drawing/2014/main" id="{69225A3B-A075-7BAD-179A-F69A5E7ACFFB}"/>
              </a:ext>
            </a:extLst>
          </p:cNvPr>
          <p:cNvSpPr txBox="1"/>
          <p:nvPr/>
        </p:nvSpPr>
        <p:spPr>
          <a:xfrm>
            <a:off x="5593522" y="3592985"/>
            <a:ext cx="1055477" cy="584775"/>
          </a:xfrm>
          <a:prstGeom prst="rect">
            <a:avLst/>
          </a:prstGeom>
          <a:noFill/>
        </p:spPr>
        <p:txBody>
          <a:bodyPr wrap="square" rtlCol="0">
            <a:spAutoFit/>
          </a:bodyPr>
          <a:lstStyle/>
          <a:p>
            <a:pPr algn="ctr"/>
            <a:r>
              <a:rPr lang="en-US" altLang="zh-TW" sz="3200">
                <a:cs typeface="+mn-ea"/>
                <a:sym typeface="+mn-lt"/>
              </a:rPr>
              <a:t>P2P</a:t>
            </a:r>
            <a:endParaRPr lang="zh-CN" altLang="en-US" sz="3200">
              <a:cs typeface="+mn-ea"/>
              <a:sym typeface="+mn-lt"/>
            </a:endParaRPr>
          </a:p>
        </p:txBody>
      </p:sp>
      <p:sp>
        <p:nvSpPr>
          <p:cNvPr id="6" name="投影片編號版面配置區 5">
            <a:extLst>
              <a:ext uri="{FF2B5EF4-FFF2-40B4-BE49-F238E27FC236}">
                <a16:creationId xmlns:a16="http://schemas.microsoft.com/office/drawing/2014/main" id="{B4EE1D1B-CD70-F4B0-4A51-EB0BF049F602}"/>
              </a:ext>
            </a:extLst>
          </p:cNvPr>
          <p:cNvSpPr>
            <a:spLocks noGrp="1"/>
          </p:cNvSpPr>
          <p:nvPr>
            <p:ph type="sldNum" sz="quarter" idx="12"/>
          </p:nvPr>
        </p:nvSpPr>
        <p:spPr/>
        <p:txBody>
          <a:bodyPr/>
          <a:lstStyle/>
          <a:p>
            <a:fld id="{9232B33E-6CBB-4C23-BFFD-4D7045B4FE1F}" type="slidenum">
              <a:rPr lang="zh-CN" altLang="en-US" smtClean="0"/>
              <a:t>1</a:t>
            </a:fld>
            <a:endParaRPr lang="zh-CN" altLang="en-US"/>
          </a:p>
        </p:txBody>
      </p:sp>
      <p:sp>
        <p:nvSpPr>
          <p:cNvPr id="4" name="文本框 20">
            <a:extLst>
              <a:ext uri="{FF2B5EF4-FFF2-40B4-BE49-F238E27FC236}">
                <a16:creationId xmlns:a16="http://schemas.microsoft.com/office/drawing/2014/main" id="{ED4CAA65-6C11-FD9C-A611-A62C3240FE87}"/>
              </a:ext>
            </a:extLst>
          </p:cNvPr>
          <p:cNvSpPr txBox="1"/>
          <p:nvPr/>
        </p:nvSpPr>
        <p:spPr>
          <a:xfrm>
            <a:off x="5796253" y="3038343"/>
            <a:ext cx="610547" cy="338554"/>
          </a:xfrm>
          <a:prstGeom prst="rect">
            <a:avLst/>
          </a:prstGeom>
          <a:solidFill>
            <a:srgbClr val="F3F3F3"/>
          </a:solidFill>
        </p:spPr>
        <p:txBody>
          <a:bodyPr wrap="square" rtlCol="0">
            <a:spAutoFit/>
          </a:bodyPr>
          <a:lstStyle/>
          <a:p>
            <a:pPr algn="ctr"/>
            <a:r>
              <a:rPr lang="en-US" altLang="zh-TW" sz="1600" err="1"/>
              <a:t>WiFi</a:t>
            </a:r>
            <a:endParaRPr lang="zh-CN" altLang="en-US" sz="1600">
              <a:cs typeface="+mn-ea"/>
              <a:sym typeface="+mn-lt"/>
            </a:endParaRPr>
          </a:p>
        </p:txBody>
      </p:sp>
      <p:pic>
        <p:nvPicPr>
          <p:cNvPr id="41" name="图片 40">
            <a:extLst>
              <a:ext uri="{FF2B5EF4-FFF2-40B4-BE49-F238E27FC236}">
                <a16:creationId xmlns:a16="http://schemas.microsoft.com/office/drawing/2014/main" id="{D32B5E1E-5D98-4008-8625-1293AC89008B}"/>
              </a:ext>
            </a:extLst>
          </p:cNvPr>
          <p:cNvPicPr>
            <a:picLocks noChangeAspect="1"/>
          </p:cNvPicPr>
          <p:nvPr/>
        </p:nvPicPr>
        <p:blipFill>
          <a:blip r:embed="rId5"/>
          <a:stretch>
            <a:fillRect/>
          </a:stretch>
        </p:blipFill>
        <p:spPr>
          <a:xfrm>
            <a:off x="2316853" y="4138130"/>
            <a:ext cx="637545" cy="528311"/>
          </a:xfrm>
          <a:prstGeom prst="rect">
            <a:avLst/>
          </a:prstGeom>
        </p:spPr>
      </p:pic>
      <p:pic>
        <p:nvPicPr>
          <p:cNvPr id="43" name="图片 42">
            <a:extLst>
              <a:ext uri="{FF2B5EF4-FFF2-40B4-BE49-F238E27FC236}">
                <a16:creationId xmlns:a16="http://schemas.microsoft.com/office/drawing/2014/main" id="{E86FF950-A526-42FF-B50F-34B262FDEE4A}"/>
              </a:ext>
            </a:extLst>
          </p:cNvPr>
          <p:cNvPicPr>
            <a:picLocks noChangeAspect="1"/>
          </p:cNvPicPr>
          <p:nvPr/>
        </p:nvPicPr>
        <p:blipFill>
          <a:blip r:embed="rId6"/>
          <a:stretch>
            <a:fillRect/>
          </a:stretch>
        </p:blipFill>
        <p:spPr>
          <a:xfrm>
            <a:off x="2333734" y="3194132"/>
            <a:ext cx="548369" cy="530401"/>
          </a:xfrm>
          <a:prstGeom prst="rect">
            <a:avLst/>
          </a:prstGeom>
        </p:spPr>
      </p:pic>
      <p:grpSp>
        <p:nvGrpSpPr>
          <p:cNvPr id="2" name="组合 8">
            <a:extLst>
              <a:ext uri="{FF2B5EF4-FFF2-40B4-BE49-F238E27FC236}">
                <a16:creationId xmlns:a16="http://schemas.microsoft.com/office/drawing/2014/main" id="{E018C736-B834-59AA-1395-8F927E8676C0}"/>
              </a:ext>
            </a:extLst>
          </p:cNvPr>
          <p:cNvGrpSpPr/>
          <p:nvPr/>
        </p:nvGrpSpPr>
        <p:grpSpPr>
          <a:xfrm>
            <a:off x="1338828" y="2352807"/>
            <a:ext cx="2541736" cy="2727232"/>
            <a:chOff x="1427738" y="2571457"/>
            <a:chExt cx="2461847" cy="3108960"/>
          </a:xfrm>
        </p:grpSpPr>
        <p:sp>
          <p:nvSpPr>
            <p:cNvPr id="3" name="矩形 2">
              <a:extLst>
                <a:ext uri="{FF2B5EF4-FFF2-40B4-BE49-F238E27FC236}">
                  <a16:creationId xmlns:a16="http://schemas.microsoft.com/office/drawing/2014/main" id="{56BD913C-8755-03F7-8566-486D451B8AB6}"/>
                </a:ext>
              </a:extLst>
            </p:cNvPr>
            <p:cNvSpPr/>
            <p:nvPr/>
          </p:nvSpPr>
          <p:spPr>
            <a:xfrm>
              <a:off x="1427738" y="2571457"/>
              <a:ext cx="2461847" cy="310896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2" name="等腰三角形 31">
              <a:extLst>
                <a:ext uri="{FF2B5EF4-FFF2-40B4-BE49-F238E27FC236}">
                  <a16:creationId xmlns:a16="http://schemas.microsoft.com/office/drawing/2014/main" id="{0FBACC41-31CE-6087-5C3D-88EE164D719D}"/>
                </a:ext>
              </a:extLst>
            </p:cNvPr>
            <p:cNvSpPr/>
            <p:nvPr/>
          </p:nvSpPr>
          <p:spPr>
            <a:xfrm rot="10800000">
              <a:off x="2312477" y="2571457"/>
              <a:ext cx="688927" cy="400110"/>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8" name="文本框 20">
            <a:extLst>
              <a:ext uri="{FF2B5EF4-FFF2-40B4-BE49-F238E27FC236}">
                <a16:creationId xmlns:a16="http://schemas.microsoft.com/office/drawing/2014/main" id="{9B3BD2DA-C9B0-B8B5-448F-9BA323BA9B1A}"/>
              </a:ext>
            </a:extLst>
          </p:cNvPr>
          <p:cNvSpPr txBox="1"/>
          <p:nvPr/>
        </p:nvSpPr>
        <p:spPr>
          <a:xfrm>
            <a:off x="-40609" y="5356424"/>
            <a:ext cx="5352467" cy="646331"/>
          </a:xfrm>
          <a:prstGeom prst="rect">
            <a:avLst/>
          </a:prstGeom>
          <a:noFill/>
        </p:spPr>
        <p:txBody>
          <a:bodyPr wrap="square" rtlCol="0">
            <a:spAutoFit/>
          </a:bodyPr>
          <a:lstStyle/>
          <a:p>
            <a:pPr algn="ctr"/>
            <a:r>
              <a:rPr lang="zh-TW" altLang="en-US" b="1">
                <a:cs typeface="+mn-ea"/>
                <a:sym typeface="+mn-lt"/>
              </a:rPr>
              <a:t>發送端：</a:t>
            </a:r>
            <a:endParaRPr lang="en-US" altLang="zh-TW" b="1">
              <a:cs typeface="+mn-ea"/>
              <a:sym typeface="+mn-lt"/>
            </a:endParaRPr>
          </a:p>
          <a:p>
            <a:pPr algn="ctr"/>
            <a:r>
              <a:rPr lang="zh-TW" altLang="en-US" b="1">
                <a:cs typeface="+mn-ea"/>
                <a:sym typeface="+mn-lt"/>
              </a:rPr>
              <a:t>捕捉音訊 → 調變與打包 → 經 </a:t>
            </a:r>
            <a:r>
              <a:rPr lang="en-US" altLang="zh-TW" b="1">
                <a:cs typeface="+mn-ea"/>
                <a:sym typeface="+mn-lt"/>
              </a:rPr>
              <a:t>UDP </a:t>
            </a:r>
            <a:r>
              <a:rPr lang="zh-TW" altLang="en-US" b="1">
                <a:cs typeface="+mn-ea"/>
                <a:sym typeface="+mn-lt"/>
              </a:rPr>
              <a:t>發送數據</a:t>
            </a:r>
            <a:endParaRPr lang="zh-CN" altLang="en-US" b="1">
              <a:cs typeface="+mn-ea"/>
              <a:sym typeface="+mn-lt"/>
            </a:endParaRPr>
          </a:p>
        </p:txBody>
      </p:sp>
      <p:pic>
        <p:nvPicPr>
          <p:cNvPr id="49" name="图片 40">
            <a:extLst>
              <a:ext uri="{FF2B5EF4-FFF2-40B4-BE49-F238E27FC236}">
                <a16:creationId xmlns:a16="http://schemas.microsoft.com/office/drawing/2014/main" id="{D32B5E1E-5D98-4008-8625-1293AC89008B}"/>
              </a:ext>
            </a:extLst>
          </p:cNvPr>
          <p:cNvPicPr>
            <a:picLocks noChangeAspect="1"/>
          </p:cNvPicPr>
          <p:nvPr/>
        </p:nvPicPr>
        <p:blipFill>
          <a:blip r:embed="rId5"/>
          <a:stretch>
            <a:fillRect/>
          </a:stretch>
        </p:blipFill>
        <p:spPr>
          <a:xfrm>
            <a:off x="9426862" y="4166406"/>
            <a:ext cx="637545" cy="528311"/>
          </a:xfrm>
          <a:prstGeom prst="rect">
            <a:avLst/>
          </a:prstGeom>
        </p:spPr>
      </p:pic>
      <p:pic>
        <p:nvPicPr>
          <p:cNvPr id="50" name="图片 42">
            <a:extLst>
              <a:ext uri="{FF2B5EF4-FFF2-40B4-BE49-F238E27FC236}">
                <a16:creationId xmlns:a16="http://schemas.microsoft.com/office/drawing/2014/main" id="{E86FF950-A526-42FF-B50F-34B262FDEE4A}"/>
              </a:ext>
            </a:extLst>
          </p:cNvPr>
          <p:cNvPicPr>
            <a:picLocks noChangeAspect="1"/>
          </p:cNvPicPr>
          <p:nvPr/>
        </p:nvPicPr>
        <p:blipFill>
          <a:blip r:embed="rId6"/>
          <a:stretch>
            <a:fillRect/>
          </a:stretch>
        </p:blipFill>
        <p:spPr>
          <a:xfrm>
            <a:off x="9452979" y="3222408"/>
            <a:ext cx="548369" cy="530401"/>
          </a:xfrm>
          <a:prstGeom prst="rect">
            <a:avLst/>
          </a:prstGeom>
        </p:spPr>
      </p:pic>
      <p:grpSp>
        <p:nvGrpSpPr>
          <p:cNvPr id="51" name="组合 8">
            <a:extLst>
              <a:ext uri="{FF2B5EF4-FFF2-40B4-BE49-F238E27FC236}">
                <a16:creationId xmlns:a16="http://schemas.microsoft.com/office/drawing/2014/main" id="{E018C736-B834-59AA-1395-8F927E8676C0}"/>
              </a:ext>
            </a:extLst>
          </p:cNvPr>
          <p:cNvGrpSpPr/>
          <p:nvPr/>
        </p:nvGrpSpPr>
        <p:grpSpPr>
          <a:xfrm>
            <a:off x="8458073" y="2381083"/>
            <a:ext cx="2541736" cy="2727232"/>
            <a:chOff x="1427738" y="2571457"/>
            <a:chExt cx="2461847" cy="3108960"/>
          </a:xfrm>
        </p:grpSpPr>
        <p:sp>
          <p:nvSpPr>
            <p:cNvPr id="52" name="矩形 51">
              <a:extLst>
                <a:ext uri="{FF2B5EF4-FFF2-40B4-BE49-F238E27FC236}">
                  <a16:creationId xmlns:a16="http://schemas.microsoft.com/office/drawing/2014/main" id="{56BD913C-8755-03F7-8566-486D451B8AB6}"/>
                </a:ext>
              </a:extLst>
            </p:cNvPr>
            <p:cNvSpPr/>
            <p:nvPr/>
          </p:nvSpPr>
          <p:spPr>
            <a:xfrm>
              <a:off x="1427738" y="2571457"/>
              <a:ext cx="2461847" cy="310896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3" name="等腰三角形 52">
              <a:extLst>
                <a:ext uri="{FF2B5EF4-FFF2-40B4-BE49-F238E27FC236}">
                  <a16:creationId xmlns:a16="http://schemas.microsoft.com/office/drawing/2014/main" id="{0FBACC41-31CE-6087-5C3D-88EE164D719D}"/>
                </a:ext>
              </a:extLst>
            </p:cNvPr>
            <p:cNvSpPr/>
            <p:nvPr/>
          </p:nvSpPr>
          <p:spPr>
            <a:xfrm rot="10800000">
              <a:off x="2312477" y="2571457"/>
              <a:ext cx="688927" cy="400110"/>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13" name="文字方塊 12">
            <a:extLst>
              <a:ext uri="{FF2B5EF4-FFF2-40B4-BE49-F238E27FC236}">
                <a16:creationId xmlns:a16="http://schemas.microsoft.com/office/drawing/2014/main" id="{A6A42414-CB79-E65A-DB8F-0597926E7DD1}"/>
              </a:ext>
            </a:extLst>
          </p:cNvPr>
          <p:cNvSpPr txBox="1"/>
          <p:nvPr/>
        </p:nvSpPr>
        <p:spPr>
          <a:xfrm>
            <a:off x="7761248" y="5356424"/>
            <a:ext cx="4332861" cy="646331"/>
          </a:xfrm>
          <a:prstGeom prst="rect">
            <a:avLst/>
          </a:prstGeom>
          <a:noFill/>
        </p:spPr>
        <p:txBody>
          <a:bodyPr wrap="square" rtlCol="0">
            <a:spAutoFit/>
          </a:bodyPr>
          <a:lstStyle>
            <a:defPPr>
              <a:defRPr lang="zh-CN"/>
            </a:defPPr>
            <a:lvl1pPr algn="ctr">
              <a:defRPr sz="2000">
                <a:cs typeface="+mn-ea"/>
              </a:defRPr>
            </a:lvl1pPr>
          </a:lstStyle>
          <a:p>
            <a:r>
              <a:rPr lang="zh-TW" altLang="en-US" sz="1800" b="1">
                <a:sym typeface="+mn-lt"/>
              </a:rPr>
              <a:t>接收端：</a:t>
            </a:r>
            <a:endParaRPr lang="en-US" altLang="zh-TW" sz="1800" b="1">
              <a:sym typeface="+mn-lt"/>
            </a:endParaRPr>
          </a:p>
          <a:p>
            <a:r>
              <a:rPr lang="zh-TW" altLang="en-US" sz="1800" b="1">
                <a:sym typeface="+mn-lt"/>
              </a:rPr>
              <a:t>接收數據 → 解調與重組 → 播放音訊</a:t>
            </a:r>
            <a:endParaRPr lang="zh-TW" altLang="en-US" sz="1800" b="1"/>
          </a:p>
        </p:txBody>
      </p:sp>
      <p:sp>
        <p:nvSpPr>
          <p:cNvPr id="14" name="文本框 20">
            <a:extLst>
              <a:ext uri="{FF2B5EF4-FFF2-40B4-BE49-F238E27FC236}">
                <a16:creationId xmlns:a16="http://schemas.microsoft.com/office/drawing/2014/main" id="{1C275458-906B-1200-15A5-74543A1D0C67}"/>
              </a:ext>
            </a:extLst>
          </p:cNvPr>
          <p:cNvSpPr txBox="1"/>
          <p:nvPr/>
        </p:nvSpPr>
        <p:spPr>
          <a:xfrm>
            <a:off x="3536398" y="4306267"/>
            <a:ext cx="5352467" cy="646331"/>
          </a:xfrm>
          <a:prstGeom prst="rect">
            <a:avLst/>
          </a:prstGeom>
          <a:noFill/>
        </p:spPr>
        <p:txBody>
          <a:bodyPr wrap="square" rtlCol="0">
            <a:spAutoFit/>
          </a:bodyPr>
          <a:lstStyle/>
          <a:p>
            <a:pPr algn="ctr"/>
            <a:r>
              <a:rPr lang="zh-TW" altLang="en-US" b="1">
                <a:cs typeface="+mn-ea"/>
                <a:sym typeface="+mn-lt"/>
              </a:rPr>
              <a:t>數據傳輸：</a:t>
            </a:r>
            <a:endParaRPr lang="en-US" altLang="zh-TW" b="1">
              <a:cs typeface="+mn-ea"/>
              <a:sym typeface="+mn-lt"/>
            </a:endParaRPr>
          </a:p>
          <a:p>
            <a:pPr algn="ctr"/>
            <a:r>
              <a:rPr lang="zh-TW" altLang="en-US" b="1">
                <a:cs typeface="+mn-ea"/>
                <a:sym typeface="+mn-lt"/>
              </a:rPr>
              <a:t>分包傳輸→ 可靠性機制 →緩衝區管理</a:t>
            </a:r>
            <a:endParaRPr lang="zh-CN" altLang="en-US" b="1">
              <a:cs typeface="+mn-ea"/>
              <a:sym typeface="+mn-lt"/>
            </a:endParaRPr>
          </a:p>
        </p:txBody>
      </p:sp>
    </p:spTree>
    <p:custDataLst>
      <p:tags r:id="rId1"/>
    </p:custDataLst>
    <p:extLst>
      <p:ext uri="{BB962C8B-B14F-4D97-AF65-F5344CB8AC3E}">
        <p14:creationId xmlns:p14="http://schemas.microsoft.com/office/powerpoint/2010/main" val="4155011845"/>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anim calcmode="lin" valueType="num">
                                      <p:cBhvr additive="base">
                                        <p:cTn id="13" dur="500" fill="hold"/>
                                        <p:tgtEl>
                                          <p:spTgt spid="14"/>
                                        </p:tgtEl>
                                        <p:attrNameLst>
                                          <p:attrName>ppt_x</p:attrName>
                                        </p:attrNameLst>
                                      </p:cBhvr>
                                      <p:tavLst>
                                        <p:tav tm="0">
                                          <p:val>
                                            <p:strVal val="#ppt_x"/>
                                          </p:val>
                                        </p:tav>
                                        <p:tav tm="100000">
                                          <p:val>
                                            <p:strVal val="#ppt_x"/>
                                          </p:val>
                                        </p:tav>
                                      </p:tavLst>
                                    </p:anim>
                                    <p:anim calcmode="lin" valueType="num">
                                      <p:cBhvr additive="base">
                                        <p:cTn id="14"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anim calcmode="lin" valueType="num">
                                      <p:cBhvr additive="base">
                                        <p:cTn id="19" dur="500" fill="hold"/>
                                        <p:tgtEl>
                                          <p:spTgt spid="13"/>
                                        </p:tgtEl>
                                        <p:attrNameLst>
                                          <p:attrName>ppt_x</p:attrName>
                                        </p:attrNameLst>
                                      </p:cBhvr>
                                      <p:tavLst>
                                        <p:tav tm="0">
                                          <p:val>
                                            <p:strVal val="#ppt_x"/>
                                          </p:val>
                                        </p:tav>
                                        <p:tav tm="100000">
                                          <p:val>
                                            <p:strVal val="#ppt_x"/>
                                          </p:val>
                                        </p:tav>
                                      </p:tavLst>
                                    </p:anim>
                                    <p:anim calcmode="lin" valueType="num">
                                      <p:cBhvr additive="base">
                                        <p:cTn id="20"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3" grpId="0"/>
      <p:bldP spid="14" grpId="0"/>
    </p:bldLst>
  </p:timing>
  <p:extLst>
    <p:ext uri="{6950BFC3-D8DA-4A85-94F7-54DA5524770B}">
      <p188:commentRel xmlns:p188="http://schemas.microsoft.com/office/powerpoint/2018/8/main" r:id="rId4"/>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631255-81C7-0A16-E748-6D3B9B4B1014}"/>
            </a:ext>
          </a:extLst>
        </p:cNvPr>
        <p:cNvGrpSpPr/>
        <p:nvPr/>
      </p:nvGrpSpPr>
      <p:grpSpPr>
        <a:xfrm>
          <a:off x="0" y="0"/>
          <a:ext cx="0" cy="0"/>
          <a:chOff x="0" y="0"/>
          <a:chExt cx="0" cy="0"/>
        </a:xfrm>
      </p:grpSpPr>
      <p:grpSp>
        <p:nvGrpSpPr>
          <p:cNvPr id="34" name="组合 33">
            <a:extLst>
              <a:ext uri="{FF2B5EF4-FFF2-40B4-BE49-F238E27FC236}">
                <a16:creationId xmlns:a16="http://schemas.microsoft.com/office/drawing/2014/main" id="{C3DE5770-0E68-94FC-6E12-18CEA13761BF}"/>
              </a:ext>
            </a:extLst>
          </p:cNvPr>
          <p:cNvGrpSpPr/>
          <p:nvPr/>
        </p:nvGrpSpPr>
        <p:grpSpPr>
          <a:xfrm>
            <a:off x="0" y="495445"/>
            <a:ext cx="12192000" cy="381000"/>
            <a:chOff x="0" y="457345"/>
            <a:chExt cx="12192000" cy="381000"/>
          </a:xfrm>
        </p:grpSpPr>
        <p:cxnSp>
          <p:nvCxnSpPr>
            <p:cNvPr id="4" name="直接连接符 3">
              <a:extLst>
                <a:ext uri="{FF2B5EF4-FFF2-40B4-BE49-F238E27FC236}">
                  <a16:creationId xmlns:a16="http://schemas.microsoft.com/office/drawing/2014/main" id="{4A8761B7-48C9-A245-85DF-E5EFB5D323F9}"/>
                </a:ext>
              </a:extLst>
            </p:cNvPr>
            <p:cNvCxnSpPr/>
            <p:nvPr/>
          </p:nvCxnSpPr>
          <p:spPr>
            <a:xfrm>
              <a:off x="0" y="647845"/>
              <a:ext cx="12192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 name="组合 4">
              <a:extLst>
                <a:ext uri="{FF2B5EF4-FFF2-40B4-BE49-F238E27FC236}">
                  <a16:creationId xmlns:a16="http://schemas.microsoft.com/office/drawing/2014/main" id="{F7B84AC6-8839-2B74-F578-4B9A92B4F96C}"/>
                </a:ext>
              </a:extLst>
            </p:cNvPr>
            <p:cNvGrpSpPr/>
            <p:nvPr/>
          </p:nvGrpSpPr>
          <p:grpSpPr>
            <a:xfrm rot="10800000">
              <a:off x="11060824" y="457345"/>
              <a:ext cx="656896" cy="381000"/>
              <a:chOff x="307428" y="393221"/>
              <a:chExt cx="656896" cy="381000"/>
            </a:xfrm>
          </p:grpSpPr>
          <p:sp>
            <p:nvSpPr>
              <p:cNvPr id="6" name="等腰三角形 5">
                <a:extLst>
                  <a:ext uri="{FF2B5EF4-FFF2-40B4-BE49-F238E27FC236}">
                    <a16:creationId xmlns:a16="http://schemas.microsoft.com/office/drawing/2014/main" id="{DAA92A92-21EC-1A6E-30DD-B6455636BA04}"/>
                  </a:ext>
                </a:extLst>
              </p:cNvPr>
              <p:cNvSpPr/>
              <p:nvPr/>
            </p:nvSpPr>
            <p:spPr>
              <a:xfrm rot="5400000">
                <a:off x="281152" y="419497"/>
                <a:ext cx="381000" cy="32844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 name="等腰三角形 6">
                <a:extLst>
                  <a:ext uri="{FF2B5EF4-FFF2-40B4-BE49-F238E27FC236}">
                    <a16:creationId xmlns:a16="http://schemas.microsoft.com/office/drawing/2014/main" id="{6ACAB5AC-022E-8515-BA2C-A56BDE42F7F3}"/>
                  </a:ext>
                </a:extLst>
              </p:cNvPr>
              <p:cNvSpPr/>
              <p:nvPr/>
            </p:nvSpPr>
            <p:spPr>
              <a:xfrm rot="5400000">
                <a:off x="609600" y="419497"/>
                <a:ext cx="381000" cy="32844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sp>
        <p:nvSpPr>
          <p:cNvPr id="8" name="文本框 7">
            <a:extLst>
              <a:ext uri="{FF2B5EF4-FFF2-40B4-BE49-F238E27FC236}">
                <a16:creationId xmlns:a16="http://schemas.microsoft.com/office/drawing/2014/main" id="{839C996D-9225-26EC-EC7E-B4B800A4C0FD}"/>
              </a:ext>
            </a:extLst>
          </p:cNvPr>
          <p:cNvSpPr txBox="1"/>
          <p:nvPr/>
        </p:nvSpPr>
        <p:spPr>
          <a:xfrm>
            <a:off x="358324" y="209635"/>
            <a:ext cx="936104" cy="400110"/>
          </a:xfrm>
          <a:prstGeom prst="rect">
            <a:avLst/>
          </a:prstGeom>
          <a:solidFill>
            <a:schemeClr val="tx1"/>
          </a:solidFill>
        </p:spPr>
        <p:txBody>
          <a:bodyPr wrap="square" rtlCol="0">
            <a:spAutoFit/>
          </a:bodyPr>
          <a:lstStyle/>
          <a:p>
            <a:pPr algn="ctr"/>
            <a:endParaRPr lang="zh-CN" altLang="en-US" sz="2000">
              <a:solidFill>
                <a:schemeClr val="bg1"/>
              </a:solidFill>
              <a:cs typeface="+mn-ea"/>
              <a:sym typeface="+mn-lt"/>
            </a:endParaRPr>
          </a:p>
        </p:txBody>
      </p:sp>
      <p:cxnSp>
        <p:nvCxnSpPr>
          <p:cNvPr id="9" name="直接连接符 8">
            <a:extLst>
              <a:ext uri="{FF2B5EF4-FFF2-40B4-BE49-F238E27FC236}">
                <a16:creationId xmlns:a16="http://schemas.microsoft.com/office/drawing/2014/main" id="{DFDB9C8B-ACB3-3704-A4D2-8D6F4F29DD5A}"/>
              </a:ext>
            </a:extLst>
          </p:cNvPr>
          <p:cNvCxnSpPr>
            <a:cxnSpLocks/>
          </p:cNvCxnSpPr>
          <p:nvPr/>
        </p:nvCxnSpPr>
        <p:spPr>
          <a:xfrm flipV="1">
            <a:off x="1811975" y="4070902"/>
            <a:ext cx="10380025" cy="1905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grpSp>
        <p:nvGrpSpPr>
          <p:cNvPr id="10" name="组合 9">
            <a:extLst>
              <a:ext uri="{FF2B5EF4-FFF2-40B4-BE49-F238E27FC236}">
                <a16:creationId xmlns:a16="http://schemas.microsoft.com/office/drawing/2014/main" id="{8CE745DD-CA65-200E-7B07-4720BAE42846}"/>
              </a:ext>
            </a:extLst>
          </p:cNvPr>
          <p:cNvGrpSpPr/>
          <p:nvPr/>
        </p:nvGrpSpPr>
        <p:grpSpPr>
          <a:xfrm>
            <a:off x="3124198" y="1520226"/>
            <a:ext cx="8756651" cy="2072543"/>
            <a:chOff x="1750601" y="1611478"/>
            <a:chExt cx="2249182" cy="3287634"/>
          </a:xfrm>
        </p:grpSpPr>
        <p:sp>
          <p:nvSpPr>
            <p:cNvPr id="11" name="文本框 10">
              <a:extLst>
                <a:ext uri="{FF2B5EF4-FFF2-40B4-BE49-F238E27FC236}">
                  <a16:creationId xmlns:a16="http://schemas.microsoft.com/office/drawing/2014/main" id="{AACBD51F-9890-A139-C31F-673150B9A31C}"/>
                </a:ext>
              </a:extLst>
            </p:cNvPr>
            <p:cNvSpPr txBox="1"/>
            <p:nvPr/>
          </p:nvSpPr>
          <p:spPr>
            <a:xfrm>
              <a:off x="1750601" y="1611478"/>
              <a:ext cx="1460743" cy="732330"/>
            </a:xfrm>
            <a:prstGeom prst="rect">
              <a:avLst/>
            </a:prstGeom>
            <a:noFill/>
          </p:spPr>
          <p:txBody>
            <a:bodyPr wrap="square" rtlCol="0">
              <a:spAutoFit/>
            </a:bodyPr>
            <a:lstStyle/>
            <a:p>
              <a:r>
                <a:rPr lang="zh-TW" altLang="en-US" sz="2400"/>
                <a:t>音訊捕捉與處理</a:t>
              </a:r>
              <a:endParaRPr lang="zh-CN" altLang="en-US" sz="2400">
                <a:cs typeface="+mn-ea"/>
                <a:sym typeface="+mn-lt"/>
              </a:endParaRPr>
            </a:p>
          </p:txBody>
        </p:sp>
        <p:sp>
          <p:nvSpPr>
            <p:cNvPr id="12" name="文本框 11">
              <a:extLst>
                <a:ext uri="{FF2B5EF4-FFF2-40B4-BE49-F238E27FC236}">
                  <a16:creationId xmlns:a16="http://schemas.microsoft.com/office/drawing/2014/main" id="{A103EFFA-17CB-0064-848E-91A22287635F}"/>
                </a:ext>
              </a:extLst>
            </p:cNvPr>
            <p:cNvSpPr txBox="1"/>
            <p:nvPr/>
          </p:nvSpPr>
          <p:spPr>
            <a:xfrm>
              <a:off x="1750601" y="2249908"/>
              <a:ext cx="2249182" cy="2649204"/>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TW" altLang="en-US" sz="1400" b="1"/>
                <a:t>音訊採集</a:t>
              </a:r>
              <a:r>
                <a:rPr lang="zh-TW" altLang="en-US" sz="1400"/>
                <a:t>：使用麥克風捕捉聲音數據，每次讀取</a:t>
              </a:r>
              <a:r>
                <a:rPr lang="en-US" altLang="zh-TW" sz="1400"/>
                <a:t>CHUNK(1024)</a:t>
              </a:r>
              <a:r>
                <a:rPr lang="zh-TW" altLang="en-US" sz="1400"/>
                <a:t>大小的音訊數據，採樣率為</a:t>
              </a:r>
              <a:r>
                <a:rPr lang="en-US" altLang="zh-TW" sz="1400"/>
                <a:t>44100Hz</a:t>
              </a:r>
              <a:endParaRPr lang="zh-TW" altLang="en-US" sz="1400"/>
            </a:p>
            <a:p>
              <a:pPr marL="285750" indent="-285750">
                <a:lnSpc>
                  <a:spcPct val="150000"/>
                </a:lnSpc>
                <a:buFont typeface="Arial" panose="020B0604020202020204" pitchFamily="34" charset="0"/>
                <a:buChar char="•"/>
              </a:pPr>
              <a:r>
                <a:rPr lang="zh-TW" altLang="en-US" sz="1400" b="1"/>
                <a:t>緩衝溢出檢測</a:t>
              </a:r>
              <a:r>
                <a:rPr lang="zh-TW" altLang="en-US" sz="1400"/>
                <a:t>：確保音訊數據不會超過緩衝區容量，避免數據丟失。</a:t>
              </a:r>
            </a:p>
            <a:p>
              <a:pPr marL="285750" indent="-285750">
                <a:lnSpc>
                  <a:spcPct val="150000"/>
                </a:lnSpc>
                <a:buFont typeface="Arial" panose="020B0604020202020204" pitchFamily="34" charset="0"/>
                <a:buChar char="•"/>
              </a:pPr>
              <a:r>
                <a:rPr lang="zh-TW" altLang="en-US" sz="1400" b="1"/>
                <a:t>音訊電平檢測</a:t>
              </a:r>
              <a:r>
                <a:rPr lang="zh-TW" altLang="en-US" sz="1400"/>
                <a:t>：使用峰值檢測和均方根值檢測，檢查音訊數據的電平值</a:t>
              </a:r>
              <a:r>
                <a:rPr lang="en-US" altLang="zh-TW" sz="1400"/>
                <a:t>(dB)</a:t>
              </a:r>
              <a:r>
                <a:rPr lang="zh-TW" altLang="en-US" sz="1400"/>
                <a:t>，判斷是否達到可處理的標準。</a:t>
              </a:r>
            </a:p>
            <a:p>
              <a:pPr marL="285750" indent="-285750">
                <a:lnSpc>
                  <a:spcPct val="150000"/>
                </a:lnSpc>
                <a:buFont typeface="Arial" panose="020B0604020202020204" pitchFamily="34" charset="0"/>
                <a:buChar char="•"/>
              </a:pPr>
              <a:r>
                <a:rPr lang="zh-TW" altLang="en-US" sz="1400" b="1"/>
                <a:t>靜音檢測</a:t>
              </a:r>
              <a:r>
                <a:rPr lang="zh-TW" altLang="en-US" sz="1400"/>
                <a:t>：利用 </a:t>
              </a:r>
              <a:r>
                <a:rPr lang="en-US" altLang="zh-TW" sz="1400"/>
                <a:t>RMS </a:t>
              </a:r>
              <a:r>
                <a:rPr lang="zh-TW" altLang="en-US" sz="1400"/>
                <a:t>值和峰值判斷音訊是否為有效訊號，濾除靜音部分。</a:t>
              </a:r>
            </a:p>
          </p:txBody>
        </p:sp>
      </p:grpSp>
      <p:grpSp>
        <p:nvGrpSpPr>
          <p:cNvPr id="13" name="组合 12">
            <a:extLst>
              <a:ext uri="{FF2B5EF4-FFF2-40B4-BE49-F238E27FC236}">
                <a16:creationId xmlns:a16="http://schemas.microsoft.com/office/drawing/2014/main" id="{432E7B82-B9CB-87CD-80F7-52A99B1B2F2E}"/>
              </a:ext>
            </a:extLst>
          </p:cNvPr>
          <p:cNvGrpSpPr/>
          <p:nvPr/>
        </p:nvGrpSpPr>
        <p:grpSpPr>
          <a:xfrm>
            <a:off x="6332754" y="4792026"/>
            <a:ext cx="5470095" cy="1167449"/>
            <a:chOff x="3632491" y="4315010"/>
            <a:chExt cx="2702406" cy="1167449"/>
          </a:xfrm>
        </p:grpSpPr>
        <p:sp>
          <p:nvSpPr>
            <p:cNvPr id="14" name="文本框 13">
              <a:extLst>
                <a:ext uri="{FF2B5EF4-FFF2-40B4-BE49-F238E27FC236}">
                  <a16:creationId xmlns:a16="http://schemas.microsoft.com/office/drawing/2014/main" id="{E9B3563C-FB47-65B2-195B-3F484D335C5F}"/>
                </a:ext>
              </a:extLst>
            </p:cNvPr>
            <p:cNvSpPr txBox="1"/>
            <p:nvPr/>
          </p:nvSpPr>
          <p:spPr>
            <a:xfrm>
              <a:off x="3632491" y="4315010"/>
              <a:ext cx="2702406" cy="461665"/>
            </a:xfrm>
            <a:prstGeom prst="rect">
              <a:avLst/>
            </a:prstGeom>
            <a:noFill/>
          </p:spPr>
          <p:txBody>
            <a:bodyPr wrap="square" rtlCol="0">
              <a:spAutoFit/>
            </a:bodyPr>
            <a:lstStyle/>
            <a:p>
              <a:r>
                <a:rPr lang="zh-TW" altLang="en-US" sz="2400"/>
                <a:t>音訊預處理與優化</a:t>
              </a:r>
              <a:endParaRPr lang="zh-CN" altLang="en-US" sz="2400">
                <a:cs typeface="+mn-ea"/>
                <a:sym typeface="+mn-lt"/>
              </a:endParaRPr>
            </a:p>
          </p:txBody>
        </p:sp>
        <p:sp>
          <p:nvSpPr>
            <p:cNvPr id="15" name="文本框 14">
              <a:extLst>
                <a:ext uri="{FF2B5EF4-FFF2-40B4-BE49-F238E27FC236}">
                  <a16:creationId xmlns:a16="http://schemas.microsoft.com/office/drawing/2014/main" id="{CE70995B-5386-E1D3-413E-8E737193D01C}"/>
                </a:ext>
              </a:extLst>
            </p:cNvPr>
            <p:cNvSpPr txBox="1"/>
            <p:nvPr/>
          </p:nvSpPr>
          <p:spPr>
            <a:xfrm>
              <a:off x="3632491" y="4781883"/>
              <a:ext cx="2618393" cy="700576"/>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TW" altLang="en-US" sz="1400" b="1" i="0">
                  <a:effectLst/>
                  <a:latin typeface="gg sans"/>
                </a:rPr>
                <a:t>預處理音訊數據</a:t>
              </a:r>
              <a:r>
                <a:rPr lang="zh-TW" altLang="en-US" sz="1400" b="0" i="0">
                  <a:effectLst/>
                  <a:latin typeface="gg sans"/>
                </a:rPr>
                <a:t>：準備數據進行進一步的處理，如調變與量化。</a:t>
              </a:r>
              <a:endParaRPr lang="en-US" altLang="zh-TW" sz="1400" b="0" i="0">
                <a:effectLst/>
                <a:latin typeface="gg sans"/>
              </a:endParaRPr>
            </a:p>
            <a:p>
              <a:pPr marL="285750" indent="-285750">
                <a:lnSpc>
                  <a:spcPct val="150000"/>
                </a:lnSpc>
                <a:buFont typeface="Arial" panose="020B0604020202020204" pitchFamily="34" charset="0"/>
                <a:buChar char="•"/>
              </a:pPr>
              <a:r>
                <a:rPr lang="zh-TW" altLang="en-US" sz="1400" b="1" i="0">
                  <a:effectLst/>
                  <a:latin typeface="gg sans"/>
                </a:rPr>
                <a:t>噪聲抑制</a:t>
              </a:r>
              <a:r>
                <a:rPr lang="zh-TW" altLang="en-US" sz="1400" b="0" i="0">
                  <a:effectLst/>
                  <a:latin typeface="gg sans"/>
                </a:rPr>
                <a:t>：去除低於閾值的背景噪聲，提升音訊訊號品質。</a:t>
              </a:r>
              <a:endParaRPr lang="zh-CN" altLang="en-US" sz="1400">
                <a:cs typeface="+mn-ea"/>
                <a:sym typeface="+mn-lt"/>
              </a:endParaRPr>
            </a:p>
          </p:txBody>
        </p:sp>
      </p:grpSp>
      <p:grpSp>
        <p:nvGrpSpPr>
          <p:cNvPr id="22" name="组合 21">
            <a:extLst>
              <a:ext uri="{FF2B5EF4-FFF2-40B4-BE49-F238E27FC236}">
                <a16:creationId xmlns:a16="http://schemas.microsoft.com/office/drawing/2014/main" id="{501512A5-FF83-6EEE-D89C-05BB6E114FD7}"/>
              </a:ext>
            </a:extLst>
          </p:cNvPr>
          <p:cNvGrpSpPr/>
          <p:nvPr/>
        </p:nvGrpSpPr>
        <p:grpSpPr>
          <a:xfrm>
            <a:off x="4269411" y="3530775"/>
            <a:ext cx="65431" cy="603522"/>
            <a:chOff x="2822852" y="3101009"/>
            <a:chExt cx="65430" cy="603522"/>
          </a:xfrm>
        </p:grpSpPr>
        <p:cxnSp>
          <p:nvCxnSpPr>
            <p:cNvPr id="23" name="直接连接符 22">
              <a:extLst>
                <a:ext uri="{FF2B5EF4-FFF2-40B4-BE49-F238E27FC236}">
                  <a16:creationId xmlns:a16="http://schemas.microsoft.com/office/drawing/2014/main" id="{68A0A17D-A870-5DCB-0FFE-EAF303E7D269}"/>
                </a:ext>
              </a:extLst>
            </p:cNvPr>
            <p:cNvCxnSpPr/>
            <p:nvPr/>
          </p:nvCxnSpPr>
          <p:spPr>
            <a:xfrm flipV="1">
              <a:off x="2849217" y="3101009"/>
              <a:ext cx="0" cy="569843"/>
            </a:xfrm>
            <a:prstGeom prst="line">
              <a:avLst/>
            </a:prstGeom>
            <a:ln>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sp>
          <p:nvSpPr>
            <p:cNvPr id="24" name="椭圆 23">
              <a:extLst>
                <a:ext uri="{FF2B5EF4-FFF2-40B4-BE49-F238E27FC236}">
                  <a16:creationId xmlns:a16="http://schemas.microsoft.com/office/drawing/2014/main" id="{3ABC3559-D057-14E5-498A-E7C8DAA01AB6}"/>
                </a:ext>
              </a:extLst>
            </p:cNvPr>
            <p:cNvSpPr/>
            <p:nvPr/>
          </p:nvSpPr>
          <p:spPr>
            <a:xfrm>
              <a:off x="2822852" y="3639101"/>
              <a:ext cx="65430" cy="6543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25" name="组合 24">
            <a:extLst>
              <a:ext uri="{FF2B5EF4-FFF2-40B4-BE49-F238E27FC236}">
                <a16:creationId xmlns:a16="http://schemas.microsoft.com/office/drawing/2014/main" id="{035539B0-3B19-70A6-A886-602284DA9918}"/>
              </a:ext>
            </a:extLst>
          </p:cNvPr>
          <p:cNvGrpSpPr/>
          <p:nvPr/>
        </p:nvGrpSpPr>
        <p:grpSpPr>
          <a:xfrm>
            <a:off x="7857159" y="4061377"/>
            <a:ext cx="65431" cy="595550"/>
            <a:chOff x="4797701" y="3645145"/>
            <a:chExt cx="65430" cy="595550"/>
          </a:xfrm>
        </p:grpSpPr>
        <p:cxnSp>
          <p:nvCxnSpPr>
            <p:cNvPr id="26" name="直接连接符 25">
              <a:extLst>
                <a:ext uri="{FF2B5EF4-FFF2-40B4-BE49-F238E27FC236}">
                  <a16:creationId xmlns:a16="http://schemas.microsoft.com/office/drawing/2014/main" id="{D736E436-064F-4B89-7858-0D5D80508CB1}"/>
                </a:ext>
              </a:extLst>
            </p:cNvPr>
            <p:cNvCxnSpPr/>
            <p:nvPr/>
          </p:nvCxnSpPr>
          <p:spPr>
            <a:xfrm flipV="1">
              <a:off x="4827143" y="3670852"/>
              <a:ext cx="0" cy="569843"/>
            </a:xfrm>
            <a:prstGeom prst="line">
              <a:avLst/>
            </a:prstGeom>
            <a:ln>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sp>
          <p:nvSpPr>
            <p:cNvPr id="27" name="椭圆 26">
              <a:extLst>
                <a:ext uri="{FF2B5EF4-FFF2-40B4-BE49-F238E27FC236}">
                  <a16:creationId xmlns:a16="http://schemas.microsoft.com/office/drawing/2014/main" id="{D499294A-7B3A-6546-01CB-D23DA9F90686}"/>
                </a:ext>
              </a:extLst>
            </p:cNvPr>
            <p:cNvSpPr/>
            <p:nvPr/>
          </p:nvSpPr>
          <p:spPr>
            <a:xfrm>
              <a:off x="4797701" y="3645145"/>
              <a:ext cx="65430" cy="6543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cs typeface="+mn-ea"/>
                  <a:sym typeface="+mn-lt"/>
                </a:rPr>
                <a:t> </a:t>
              </a:r>
              <a:endParaRPr lang="zh-CN" altLang="en-US">
                <a:cs typeface="+mn-ea"/>
                <a:sym typeface="+mn-lt"/>
              </a:endParaRPr>
            </a:p>
          </p:txBody>
        </p:sp>
      </p:grpSp>
      <p:sp>
        <p:nvSpPr>
          <p:cNvPr id="3" name="矩形: 圆角 10">
            <a:extLst>
              <a:ext uri="{FF2B5EF4-FFF2-40B4-BE49-F238E27FC236}">
                <a16:creationId xmlns:a16="http://schemas.microsoft.com/office/drawing/2014/main" id="{F7C8E0C6-D764-48D2-6F19-B7373217E619}"/>
              </a:ext>
            </a:extLst>
          </p:cNvPr>
          <p:cNvSpPr/>
          <p:nvPr/>
        </p:nvSpPr>
        <p:spPr>
          <a:xfrm>
            <a:off x="1195828" y="5824886"/>
            <a:ext cx="1016000" cy="309214"/>
          </a:xfrm>
          <a:prstGeom prst="roundRect">
            <a:avLst>
              <a:gd name="adj" fmla="val 33917"/>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a:cs typeface="+mn-ea"/>
              <a:sym typeface="+mn-lt"/>
            </a:endParaRPr>
          </a:p>
        </p:txBody>
      </p:sp>
      <p:sp>
        <p:nvSpPr>
          <p:cNvPr id="37" name="投影片編號版面配置區 36">
            <a:extLst>
              <a:ext uri="{FF2B5EF4-FFF2-40B4-BE49-F238E27FC236}">
                <a16:creationId xmlns:a16="http://schemas.microsoft.com/office/drawing/2014/main" id="{744DF912-3262-A63A-7980-ECF579A93405}"/>
              </a:ext>
            </a:extLst>
          </p:cNvPr>
          <p:cNvSpPr>
            <a:spLocks noGrp="1"/>
          </p:cNvSpPr>
          <p:nvPr>
            <p:ph type="sldNum" sz="quarter" idx="12"/>
          </p:nvPr>
        </p:nvSpPr>
        <p:spPr/>
        <p:txBody>
          <a:bodyPr/>
          <a:lstStyle/>
          <a:p>
            <a:fld id="{9232B33E-6CBB-4C23-BFFD-4D7045B4FE1F}" type="slidenum">
              <a:rPr lang="zh-CN" altLang="en-US" smtClean="0"/>
              <a:t>2</a:t>
            </a:fld>
            <a:endParaRPr lang="zh-CN" altLang="en-US"/>
          </a:p>
        </p:txBody>
      </p:sp>
      <p:sp>
        <p:nvSpPr>
          <p:cNvPr id="19" name="矩形 18">
            <a:extLst>
              <a:ext uri="{FF2B5EF4-FFF2-40B4-BE49-F238E27FC236}">
                <a16:creationId xmlns:a16="http://schemas.microsoft.com/office/drawing/2014/main" id="{FC7DFDB6-984C-857F-4F33-5889FCD66936}"/>
              </a:ext>
            </a:extLst>
          </p:cNvPr>
          <p:cNvSpPr/>
          <p:nvPr/>
        </p:nvSpPr>
        <p:spPr>
          <a:xfrm>
            <a:off x="228952" y="1389937"/>
            <a:ext cx="1857829" cy="46445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dist"/>
            <a:r>
              <a:rPr lang="zh-TW" altLang="en-US">
                <a:cs typeface="+mn-ea"/>
                <a:sym typeface="+mn-lt"/>
              </a:rPr>
              <a:t>發送端的處理</a:t>
            </a:r>
            <a:endParaRPr lang="zh-CN" altLang="en-US">
              <a:cs typeface="+mn-ea"/>
              <a:sym typeface="+mn-lt"/>
            </a:endParaRPr>
          </a:p>
        </p:txBody>
      </p:sp>
    </p:spTree>
    <p:custDataLst>
      <p:tags r:id="rId1"/>
    </p:custDataLst>
    <p:extLst>
      <p:ext uri="{BB962C8B-B14F-4D97-AF65-F5344CB8AC3E}">
        <p14:creationId xmlns:p14="http://schemas.microsoft.com/office/powerpoint/2010/main" val="2266644110"/>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5E0275-6C6E-A5B0-90A4-0B45A8AEE2A0}"/>
            </a:ext>
          </a:extLst>
        </p:cNvPr>
        <p:cNvGrpSpPr/>
        <p:nvPr/>
      </p:nvGrpSpPr>
      <p:grpSpPr>
        <a:xfrm>
          <a:off x="0" y="0"/>
          <a:ext cx="0" cy="0"/>
          <a:chOff x="0" y="0"/>
          <a:chExt cx="0" cy="0"/>
        </a:xfrm>
      </p:grpSpPr>
      <p:grpSp>
        <p:nvGrpSpPr>
          <p:cNvPr id="34" name="组合 33">
            <a:extLst>
              <a:ext uri="{FF2B5EF4-FFF2-40B4-BE49-F238E27FC236}">
                <a16:creationId xmlns:a16="http://schemas.microsoft.com/office/drawing/2014/main" id="{BF328D5D-BB9B-D248-31E3-5D8F41C10B02}"/>
              </a:ext>
            </a:extLst>
          </p:cNvPr>
          <p:cNvGrpSpPr/>
          <p:nvPr/>
        </p:nvGrpSpPr>
        <p:grpSpPr>
          <a:xfrm>
            <a:off x="0" y="495445"/>
            <a:ext cx="12192000" cy="381000"/>
            <a:chOff x="0" y="457345"/>
            <a:chExt cx="12192000" cy="381000"/>
          </a:xfrm>
        </p:grpSpPr>
        <p:cxnSp>
          <p:nvCxnSpPr>
            <p:cNvPr id="4" name="直接连接符 3">
              <a:extLst>
                <a:ext uri="{FF2B5EF4-FFF2-40B4-BE49-F238E27FC236}">
                  <a16:creationId xmlns:a16="http://schemas.microsoft.com/office/drawing/2014/main" id="{E58F2371-8AC4-45F3-407A-7A1DF86B8FD7}"/>
                </a:ext>
              </a:extLst>
            </p:cNvPr>
            <p:cNvCxnSpPr/>
            <p:nvPr/>
          </p:nvCxnSpPr>
          <p:spPr>
            <a:xfrm>
              <a:off x="0" y="647845"/>
              <a:ext cx="12192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 name="组合 4">
              <a:extLst>
                <a:ext uri="{FF2B5EF4-FFF2-40B4-BE49-F238E27FC236}">
                  <a16:creationId xmlns:a16="http://schemas.microsoft.com/office/drawing/2014/main" id="{0B616916-D29A-629E-68AF-3D7452DC7714}"/>
                </a:ext>
              </a:extLst>
            </p:cNvPr>
            <p:cNvGrpSpPr/>
            <p:nvPr/>
          </p:nvGrpSpPr>
          <p:grpSpPr>
            <a:xfrm rot="10800000">
              <a:off x="11060824" y="457345"/>
              <a:ext cx="656896" cy="381000"/>
              <a:chOff x="307428" y="393221"/>
              <a:chExt cx="656896" cy="381000"/>
            </a:xfrm>
          </p:grpSpPr>
          <p:sp>
            <p:nvSpPr>
              <p:cNvPr id="6" name="等腰三角形 5">
                <a:extLst>
                  <a:ext uri="{FF2B5EF4-FFF2-40B4-BE49-F238E27FC236}">
                    <a16:creationId xmlns:a16="http://schemas.microsoft.com/office/drawing/2014/main" id="{E65A1773-DE19-6593-0467-50970C2138B5}"/>
                  </a:ext>
                </a:extLst>
              </p:cNvPr>
              <p:cNvSpPr/>
              <p:nvPr/>
            </p:nvSpPr>
            <p:spPr>
              <a:xfrm rot="5400000">
                <a:off x="281152" y="419497"/>
                <a:ext cx="381000" cy="32844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 name="等腰三角形 6">
                <a:extLst>
                  <a:ext uri="{FF2B5EF4-FFF2-40B4-BE49-F238E27FC236}">
                    <a16:creationId xmlns:a16="http://schemas.microsoft.com/office/drawing/2014/main" id="{65CBA3B3-CC3E-B4EA-8591-1B7B23FDB9D2}"/>
                  </a:ext>
                </a:extLst>
              </p:cNvPr>
              <p:cNvSpPr/>
              <p:nvPr/>
            </p:nvSpPr>
            <p:spPr>
              <a:xfrm rot="5400000">
                <a:off x="609600" y="419497"/>
                <a:ext cx="381000" cy="32844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sp>
        <p:nvSpPr>
          <p:cNvPr id="8" name="文本框 7">
            <a:extLst>
              <a:ext uri="{FF2B5EF4-FFF2-40B4-BE49-F238E27FC236}">
                <a16:creationId xmlns:a16="http://schemas.microsoft.com/office/drawing/2014/main" id="{B6147B62-717A-7673-733E-27115B67017D}"/>
              </a:ext>
            </a:extLst>
          </p:cNvPr>
          <p:cNvSpPr txBox="1"/>
          <p:nvPr/>
        </p:nvSpPr>
        <p:spPr>
          <a:xfrm>
            <a:off x="358324" y="209635"/>
            <a:ext cx="936104" cy="400110"/>
          </a:xfrm>
          <a:prstGeom prst="rect">
            <a:avLst/>
          </a:prstGeom>
          <a:solidFill>
            <a:schemeClr val="tx1"/>
          </a:solidFill>
        </p:spPr>
        <p:txBody>
          <a:bodyPr wrap="square" rtlCol="0">
            <a:spAutoFit/>
          </a:bodyPr>
          <a:lstStyle/>
          <a:p>
            <a:pPr algn="ctr"/>
            <a:endParaRPr lang="zh-CN" altLang="en-US" sz="2000">
              <a:solidFill>
                <a:schemeClr val="bg1"/>
              </a:solidFill>
              <a:cs typeface="+mn-ea"/>
              <a:sym typeface="+mn-lt"/>
            </a:endParaRPr>
          </a:p>
        </p:txBody>
      </p:sp>
      <p:cxnSp>
        <p:nvCxnSpPr>
          <p:cNvPr id="9" name="直接连接符 8">
            <a:extLst>
              <a:ext uri="{FF2B5EF4-FFF2-40B4-BE49-F238E27FC236}">
                <a16:creationId xmlns:a16="http://schemas.microsoft.com/office/drawing/2014/main" id="{ED00C829-ED82-1F8F-06F4-41391F503558}"/>
              </a:ext>
            </a:extLst>
          </p:cNvPr>
          <p:cNvCxnSpPr>
            <a:cxnSpLocks/>
          </p:cNvCxnSpPr>
          <p:nvPr/>
        </p:nvCxnSpPr>
        <p:spPr>
          <a:xfrm flipV="1">
            <a:off x="-64450" y="4061377"/>
            <a:ext cx="11303950" cy="28575"/>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grpSp>
        <p:nvGrpSpPr>
          <p:cNvPr id="10" name="组合 9">
            <a:extLst>
              <a:ext uri="{FF2B5EF4-FFF2-40B4-BE49-F238E27FC236}">
                <a16:creationId xmlns:a16="http://schemas.microsoft.com/office/drawing/2014/main" id="{0E55FD63-BC26-1ACF-5F77-EFED9EFB297C}"/>
              </a:ext>
            </a:extLst>
          </p:cNvPr>
          <p:cNvGrpSpPr/>
          <p:nvPr/>
        </p:nvGrpSpPr>
        <p:grpSpPr>
          <a:xfrm>
            <a:off x="2210328" y="771163"/>
            <a:ext cx="5687053" cy="2750655"/>
            <a:chOff x="1750601" y="1611478"/>
            <a:chExt cx="1460743" cy="4363309"/>
          </a:xfrm>
        </p:grpSpPr>
        <p:sp>
          <p:nvSpPr>
            <p:cNvPr id="11" name="文本框 10">
              <a:extLst>
                <a:ext uri="{FF2B5EF4-FFF2-40B4-BE49-F238E27FC236}">
                  <a16:creationId xmlns:a16="http://schemas.microsoft.com/office/drawing/2014/main" id="{A6050C79-3DAE-C57A-8798-3AE0B957A70D}"/>
                </a:ext>
              </a:extLst>
            </p:cNvPr>
            <p:cNvSpPr txBox="1"/>
            <p:nvPr/>
          </p:nvSpPr>
          <p:spPr>
            <a:xfrm>
              <a:off x="1750601" y="1611478"/>
              <a:ext cx="1460743" cy="732330"/>
            </a:xfrm>
            <a:prstGeom prst="rect">
              <a:avLst/>
            </a:prstGeom>
            <a:noFill/>
          </p:spPr>
          <p:txBody>
            <a:bodyPr wrap="square" rtlCol="0">
              <a:spAutoFit/>
            </a:bodyPr>
            <a:lstStyle/>
            <a:p>
              <a:r>
                <a:rPr lang="zh-TW" altLang="en-US" sz="2400" dirty="0"/>
                <a:t>音訊數據編碼與加密</a:t>
              </a:r>
              <a:endParaRPr lang="zh-CN" altLang="en-US" sz="2400" dirty="0">
                <a:cs typeface="+mn-ea"/>
                <a:sym typeface="+mn-lt"/>
              </a:endParaRPr>
            </a:p>
          </p:txBody>
        </p:sp>
        <p:sp>
          <p:nvSpPr>
            <p:cNvPr id="12" name="文本框 11">
              <a:extLst>
                <a:ext uri="{FF2B5EF4-FFF2-40B4-BE49-F238E27FC236}">
                  <a16:creationId xmlns:a16="http://schemas.microsoft.com/office/drawing/2014/main" id="{70D76BBB-058C-12E7-0FCE-62D799DF7C20}"/>
                </a:ext>
              </a:extLst>
            </p:cNvPr>
            <p:cNvSpPr txBox="1"/>
            <p:nvPr/>
          </p:nvSpPr>
          <p:spPr>
            <a:xfrm>
              <a:off x="1750601" y="2300323"/>
              <a:ext cx="1299405" cy="3674464"/>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altLang="zh-TW" sz="1400" b="1" dirty="0"/>
                <a:t>FSK </a:t>
              </a:r>
              <a:r>
                <a:rPr lang="zh-TW" altLang="en-US" sz="1400" b="1" dirty="0"/>
                <a:t>調變</a:t>
              </a:r>
              <a:r>
                <a:rPr lang="zh-TW" altLang="en-US" sz="1400" dirty="0"/>
                <a:t>：將音訊訊號轉換為兩個頻率的調變訊號，</a:t>
              </a:r>
              <a:r>
                <a:rPr lang="zh-TW" altLang="en-US" sz="1400" b="0" i="0" dirty="0">
                  <a:effectLst/>
                  <a:latin typeface="gg sans"/>
                </a:rPr>
                <a:t>提高抗干擾能力</a:t>
              </a:r>
              <a:r>
                <a:rPr lang="zh-TW" altLang="en-US" sz="1400" dirty="0"/>
                <a:t>。</a:t>
              </a:r>
              <a:endParaRPr lang="en-US" altLang="zh-TW" sz="1400" dirty="0"/>
            </a:p>
            <a:p>
              <a:pPr marL="285750" indent="-285750">
                <a:lnSpc>
                  <a:spcPct val="150000"/>
                </a:lnSpc>
                <a:buFont typeface="Arial" panose="020B0604020202020204" pitchFamily="34" charset="0"/>
                <a:buChar char="•"/>
              </a:pPr>
              <a:r>
                <a:rPr lang="zh-TW" altLang="en-US" sz="1400" b="1" dirty="0"/>
                <a:t>量化音訊數據</a:t>
              </a:r>
              <a:r>
                <a:rPr lang="zh-TW" altLang="en-US" sz="1400" dirty="0"/>
                <a:t>：將浮點數訊號轉換為</a:t>
              </a:r>
              <a:r>
                <a:rPr lang="en-US" altLang="zh-TW" sz="1400" dirty="0"/>
                <a:t>8 </a:t>
              </a:r>
              <a:r>
                <a:rPr lang="zh-TW" altLang="en-US" sz="1400" dirty="0"/>
                <a:t>或 </a:t>
              </a:r>
              <a:r>
                <a:rPr lang="en-US" altLang="zh-TW" sz="1400" dirty="0"/>
                <a:t>16 </a:t>
              </a:r>
              <a:r>
                <a:rPr lang="zh-TW" altLang="en-US" sz="1400" dirty="0"/>
                <a:t>位的數據格式。</a:t>
              </a:r>
              <a:endParaRPr lang="en-US" altLang="zh-TW" sz="1400" dirty="0"/>
            </a:p>
            <a:p>
              <a:pPr marL="285750" indent="-285750">
                <a:lnSpc>
                  <a:spcPct val="150000"/>
                </a:lnSpc>
                <a:buFont typeface="Arial" panose="020B0604020202020204" pitchFamily="34" charset="0"/>
                <a:buChar char="•"/>
              </a:pPr>
              <a:r>
                <a:rPr lang="zh-TW" altLang="en-US" sz="1400" b="1" dirty="0"/>
                <a:t>交錯處理</a:t>
              </a:r>
              <a:r>
                <a:rPr lang="zh-TW" altLang="en-US" sz="1400" dirty="0"/>
                <a:t>：重新排列數據順序，</a:t>
              </a:r>
              <a:r>
                <a:rPr lang="zh-TW" altLang="en-US" sz="1400" b="0" i="0" dirty="0">
                  <a:effectLst/>
                  <a:latin typeface="gg sans"/>
                </a:rPr>
                <a:t>分散突發錯誤的影響</a:t>
              </a:r>
              <a:r>
                <a:rPr lang="zh-TW" altLang="en-US" sz="1400" dirty="0"/>
                <a:t>。</a:t>
              </a:r>
              <a:endParaRPr lang="en-US" altLang="zh-TW" sz="1400" dirty="0"/>
            </a:p>
            <a:p>
              <a:pPr marL="285750" indent="-285750">
                <a:lnSpc>
                  <a:spcPct val="150000"/>
                </a:lnSpc>
                <a:buFont typeface="Arial" panose="020B0604020202020204" pitchFamily="34" charset="0"/>
                <a:buChar char="•"/>
              </a:pPr>
              <a:r>
                <a:rPr lang="zh-TW" altLang="en-US" sz="1400" b="1" dirty="0"/>
                <a:t>轉換量化後的數據為位元組</a:t>
              </a:r>
              <a:r>
                <a:rPr lang="zh-TW" altLang="en-US" sz="1400" dirty="0"/>
                <a:t>：將處理後的數據打包為位元組，方便傳輸。</a:t>
              </a:r>
              <a:endParaRPr lang="en-US" altLang="zh-TW" sz="1400" dirty="0"/>
            </a:p>
            <a:p>
              <a:pPr marL="285750" indent="-285750">
                <a:lnSpc>
                  <a:spcPct val="150000"/>
                </a:lnSpc>
                <a:buFont typeface="Arial" panose="020B0604020202020204" pitchFamily="34" charset="0"/>
                <a:buChar char="•"/>
              </a:pPr>
              <a:r>
                <a:rPr lang="en-US" altLang="zh-TW" sz="1400" b="1" dirty="0"/>
                <a:t>XOR </a:t>
              </a:r>
              <a:r>
                <a:rPr lang="zh-TW" altLang="en-US" sz="1400" b="1" dirty="0"/>
                <a:t>加密</a:t>
              </a:r>
              <a:r>
                <a:rPr lang="zh-TW" altLang="en-US" sz="1400" dirty="0"/>
                <a:t>：對數據進行加密處理，保護數據安全性。</a:t>
              </a:r>
              <a:endParaRPr lang="zh-CN" altLang="en-US" sz="1400" dirty="0">
                <a:cs typeface="+mn-ea"/>
                <a:sym typeface="+mn-lt"/>
              </a:endParaRPr>
            </a:p>
          </p:txBody>
        </p:sp>
      </p:grpSp>
      <p:grpSp>
        <p:nvGrpSpPr>
          <p:cNvPr id="13" name="组合 12">
            <a:extLst>
              <a:ext uri="{FF2B5EF4-FFF2-40B4-BE49-F238E27FC236}">
                <a16:creationId xmlns:a16="http://schemas.microsoft.com/office/drawing/2014/main" id="{F6C54755-7E98-5B32-24C9-90A16949E2EC}"/>
              </a:ext>
            </a:extLst>
          </p:cNvPr>
          <p:cNvGrpSpPr/>
          <p:nvPr/>
        </p:nvGrpSpPr>
        <p:grpSpPr>
          <a:xfrm>
            <a:off x="4739789" y="4622430"/>
            <a:ext cx="6796410" cy="2136946"/>
            <a:chOff x="3632491" y="4315010"/>
            <a:chExt cx="3357649" cy="2136946"/>
          </a:xfrm>
        </p:grpSpPr>
        <p:sp>
          <p:nvSpPr>
            <p:cNvPr id="14" name="文本框 13">
              <a:extLst>
                <a:ext uri="{FF2B5EF4-FFF2-40B4-BE49-F238E27FC236}">
                  <a16:creationId xmlns:a16="http://schemas.microsoft.com/office/drawing/2014/main" id="{7950FE83-DF4F-0F2B-302B-926572BC6E8B}"/>
                </a:ext>
              </a:extLst>
            </p:cNvPr>
            <p:cNvSpPr txBox="1"/>
            <p:nvPr/>
          </p:nvSpPr>
          <p:spPr>
            <a:xfrm>
              <a:off x="3632491" y="4315010"/>
              <a:ext cx="2702406" cy="461665"/>
            </a:xfrm>
            <a:prstGeom prst="rect">
              <a:avLst/>
            </a:prstGeom>
            <a:noFill/>
          </p:spPr>
          <p:txBody>
            <a:bodyPr wrap="square" rtlCol="0">
              <a:spAutoFit/>
            </a:bodyPr>
            <a:lstStyle/>
            <a:p>
              <a:r>
                <a:rPr lang="zh-TW" altLang="en-US" sz="2400" dirty="0"/>
                <a:t>數據打包與發送</a:t>
              </a:r>
              <a:endParaRPr lang="zh-CN" altLang="en-US" sz="2400" dirty="0">
                <a:cs typeface="+mn-ea"/>
                <a:sym typeface="+mn-lt"/>
              </a:endParaRPr>
            </a:p>
          </p:txBody>
        </p:sp>
        <p:sp>
          <p:nvSpPr>
            <p:cNvPr id="15" name="文本框 14">
              <a:extLst>
                <a:ext uri="{FF2B5EF4-FFF2-40B4-BE49-F238E27FC236}">
                  <a16:creationId xmlns:a16="http://schemas.microsoft.com/office/drawing/2014/main" id="{0BD7D3E5-A61B-0AB3-4FE2-CF79B6D78DEC}"/>
                </a:ext>
              </a:extLst>
            </p:cNvPr>
            <p:cNvSpPr txBox="1"/>
            <p:nvPr/>
          </p:nvSpPr>
          <p:spPr>
            <a:xfrm>
              <a:off x="3632491" y="4781883"/>
              <a:ext cx="3357649" cy="1670073"/>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TW" altLang="en-US" sz="1400" b="1" dirty="0"/>
                <a:t>分包發送</a:t>
              </a:r>
              <a:r>
                <a:rPr lang="zh-TW" altLang="en-US" sz="1400" dirty="0"/>
                <a:t>：將音訊數據分割成小數據包（最大</a:t>
              </a:r>
              <a:r>
                <a:rPr lang="en-US" altLang="zh-TW" sz="1400" dirty="0"/>
                <a:t>1020byte</a:t>
              </a:r>
              <a:r>
                <a:rPr lang="zh-TW" altLang="en-US" sz="1400" dirty="0"/>
                <a:t>）以符合 </a:t>
              </a:r>
              <a:r>
                <a:rPr lang="en-US" altLang="zh-TW" sz="1400" dirty="0"/>
                <a:t>UDP </a:t>
              </a:r>
              <a:r>
                <a:rPr lang="zh-TW" altLang="en-US" sz="1400" dirty="0"/>
                <a:t>傳輸要求。</a:t>
              </a:r>
              <a:endParaRPr lang="en-US" altLang="zh-TW" sz="1400" dirty="0"/>
            </a:p>
            <a:p>
              <a:pPr marL="285750" indent="-285750">
                <a:lnSpc>
                  <a:spcPct val="150000"/>
                </a:lnSpc>
                <a:buFont typeface="Arial" panose="020B0604020202020204" pitchFamily="34" charset="0"/>
                <a:buChar char="•"/>
              </a:pPr>
              <a:r>
                <a:rPr lang="zh-TW" altLang="en-US" sz="1400" b="1" dirty="0"/>
                <a:t>計算 </a:t>
              </a:r>
              <a:r>
                <a:rPr lang="en-US" altLang="zh-TW" sz="1400" b="1" dirty="0"/>
                <a:t>CRC </a:t>
              </a:r>
              <a:r>
                <a:rPr lang="zh-TW" altLang="en-US" sz="1400" b="1" dirty="0"/>
                <a:t>校驗碼</a:t>
              </a:r>
              <a:r>
                <a:rPr lang="zh-TW" altLang="en-US" sz="1400" dirty="0"/>
                <a:t>：生成 </a:t>
              </a:r>
              <a:r>
                <a:rPr lang="en-US" altLang="zh-TW" sz="1400" dirty="0"/>
                <a:t>CRC </a:t>
              </a:r>
              <a:r>
                <a:rPr lang="zh-TW" altLang="en-US" sz="1400" dirty="0"/>
                <a:t>碼，用於接收端驗證數據完整性。</a:t>
              </a:r>
              <a:endParaRPr lang="en-US" altLang="zh-TW" sz="1400" dirty="0"/>
            </a:p>
            <a:p>
              <a:pPr marL="285750" indent="-285750">
                <a:lnSpc>
                  <a:spcPct val="150000"/>
                </a:lnSpc>
                <a:buFont typeface="Arial" panose="020B0604020202020204" pitchFamily="34" charset="0"/>
                <a:buChar char="•"/>
              </a:pPr>
              <a:r>
                <a:rPr lang="zh-TW" altLang="en-US" sz="1400" b="1" dirty="0"/>
                <a:t>裝數據包</a:t>
              </a:r>
              <a:r>
                <a:rPr lang="zh-TW" altLang="en-US" sz="1400" dirty="0"/>
                <a:t>：</a:t>
              </a:r>
            </a:p>
            <a:p>
              <a:pPr marL="742950" lvl="1" indent="-285750">
                <a:lnSpc>
                  <a:spcPct val="150000"/>
                </a:lnSpc>
                <a:buFont typeface="微软雅黑" panose="020B0503020204020204" pitchFamily="34" charset="-122"/>
                <a:buChar char="-"/>
              </a:pPr>
              <a:r>
                <a:rPr lang="zh-TW" altLang="en-US" sz="1400" b="1" dirty="0"/>
                <a:t>內容</a:t>
              </a:r>
              <a:r>
                <a:rPr lang="zh-TW" altLang="en-US" sz="1400" dirty="0"/>
                <a:t>：包號 </a:t>
              </a:r>
              <a:r>
                <a:rPr lang="en-US" altLang="zh-TW" sz="1400" dirty="0"/>
                <a:t>+ </a:t>
              </a:r>
              <a:r>
                <a:rPr lang="zh-TW" altLang="en-US" sz="1400" dirty="0"/>
                <a:t>塊索引 </a:t>
              </a:r>
              <a:r>
                <a:rPr lang="en-US" altLang="zh-TW" sz="1400" dirty="0"/>
                <a:t>+ </a:t>
              </a:r>
              <a:r>
                <a:rPr lang="zh-TW" altLang="en-US" sz="1400" dirty="0"/>
                <a:t>總塊數 </a:t>
              </a:r>
              <a:r>
                <a:rPr lang="en-US" altLang="zh-TW" sz="1400" dirty="0"/>
                <a:t>+ CRC </a:t>
              </a:r>
              <a:r>
                <a:rPr lang="zh-TW" altLang="en-US" sz="1400" dirty="0"/>
                <a:t>校驗碼 </a:t>
              </a:r>
              <a:r>
                <a:rPr lang="en-US" altLang="zh-TW" sz="1400" dirty="0"/>
                <a:t>+ </a:t>
              </a:r>
              <a:r>
                <a:rPr lang="zh-TW" altLang="en-US" sz="1400" dirty="0"/>
                <a:t>音訊數據。</a:t>
              </a:r>
            </a:p>
            <a:p>
              <a:pPr marL="742950" lvl="1" indent="-285750">
                <a:lnSpc>
                  <a:spcPct val="150000"/>
                </a:lnSpc>
                <a:buFont typeface="微软雅黑" panose="020B0503020204020204" pitchFamily="34" charset="-122"/>
                <a:buChar char="-"/>
              </a:pPr>
              <a:r>
                <a:rPr lang="zh-TW" altLang="en-US" sz="1400" dirty="0"/>
                <a:t>確保數據包結構完整，便於接收端正確解析。</a:t>
              </a:r>
            </a:p>
          </p:txBody>
        </p:sp>
      </p:grpSp>
      <p:grpSp>
        <p:nvGrpSpPr>
          <p:cNvPr id="22" name="组合 21">
            <a:extLst>
              <a:ext uri="{FF2B5EF4-FFF2-40B4-BE49-F238E27FC236}">
                <a16:creationId xmlns:a16="http://schemas.microsoft.com/office/drawing/2014/main" id="{4A7A6390-26D9-F480-6E26-787E8EEB8B26}"/>
              </a:ext>
            </a:extLst>
          </p:cNvPr>
          <p:cNvGrpSpPr/>
          <p:nvPr/>
        </p:nvGrpSpPr>
        <p:grpSpPr>
          <a:xfrm>
            <a:off x="3091484" y="3521818"/>
            <a:ext cx="65431" cy="603522"/>
            <a:chOff x="2822852" y="3101009"/>
            <a:chExt cx="65430" cy="603522"/>
          </a:xfrm>
        </p:grpSpPr>
        <p:cxnSp>
          <p:nvCxnSpPr>
            <p:cNvPr id="23" name="直接连接符 22">
              <a:extLst>
                <a:ext uri="{FF2B5EF4-FFF2-40B4-BE49-F238E27FC236}">
                  <a16:creationId xmlns:a16="http://schemas.microsoft.com/office/drawing/2014/main" id="{DCBDABC4-CB2F-8E7D-50B9-1862C1E67BF0}"/>
                </a:ext>
              </a:extLst>
            </p:cNvPr>
            <p:cNvCxnSpPr/>
            <p:nvPr/>
          </p:nvCxnSpPr>
          <p:spPr>
            <a:xfrm flipV="1">
              <a:off x="2849217" y="3101009"/>
              <a:ext cx="0" cy="569843"/>
            </a:xfrm>
            <a:prstGeom prst="line">
              <a:avLst/>
            </a:prstGeom>
            <a:ln>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sp>
          <p:nvSpPr>
            <p:cNvPr id="24" name="椭圆 23">
              <a:extLst>
                <a:ext uri="{FF2B5EF4-FFF2-40B4-BE49-F238E27FC236}">
                  <a16:creationId xmlns:a16="http://schemas.microsoft.com/office/drawing/2014/main" id="{F55B530F-2C06-6B31-773A-1FC28DA4DD55}"/>
                </a:ext>
              </a:extLst>
            </p:cNvPr>
            <p:cNvSpPr/>
            <p:nvPr/>
          </p:nvSpPr>
          <p:spPr>
            <a:xfrm>
              <a:off x="2822852" y="3639101"/>
              <a:ext cx="65430" cy="6543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3" name="矩形: 圆角 10">
            <a:extLst>
              <a:ext uri="{FF2B5EF4-FFF2-40B4-BE49-F238E27FC236}">
                <a16:creationId xmlns:a16="http://schemas.microsoft.com/office/drawing/2014/main" id="{D7274EE4-01D3-C520-367B-891B5DB13689}"/>
              </a:ext>
            </a:extLst>
          </p:cNvPr>
          <p:cNvSpPr/>
          <p:nvPr/>
        </p:nvSpPr>
        <p:spPr>
          <a:xfrm>
            <a:off x="1195828" y="5824886"/>
            <a:ext cx="1016000" cy="309214"/>
          </a:xfrm>
          <a:prstGeom prst="roundRect">
            <a:avLst>
              <a:gd name="adj" fmla="val 33917"/>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a:cs typeface="+mn-ea"/>
              <a:sym typeface="+mn-lt"/>
            </a:endParaRPr>
          </a:p>
        </p:txBody>
      </p:sp>
      <p:sp>
        <p:nvSpPr>
          <p:cNvPr id="37" name="投影片編號版面配置區 36">
            <a:extLst>
              <a:ext uri="{FF2B5EF4-FFF2-40B4-BE49-F238E27FC236}">
                <a16:creationId xmlns:a16="http://schemas.microsoft.com/office/drawing/2014/main" id="{8735406E-B806-4184-6021-9D11EAB1920C}"/>
              </a:ext>
            </a:extLst>
          </p:cNvPr>
          <p:cNvSpPr>
            <a:spLocks noGrp="1"/>
          </p:cNvSpPr>
          <p:nvPr>
            <p:ph type="sldNum" sz="quarter" idx="12"/>
          </p:nvPr>
        </p:nvSpPr>
        <p:spPr/>
        <p:txBody>
          <a:bodyPr/>
          <a:lstStyle/>
          <a:p>
            <a:fld id="{9232B33E-6CBB-4C23-BFFD-4D7045B4FE1F}" type="slidenum">
              <a:rPr lang="zh-CN" altLang="en-US" smtClean="0"/>
              <a:t>3</a:t>
            </a:fld>
            <a:endParaRPr lang="zh-CN" altLang="en-US"/>
          </a:p>
        </p:txBody>
      </p:sp>
      <p:sp>
        <p:nvSpPr>
          <p:cNvPr id="19" name="矩形 18">
            <a:extLst>
              <a:ext uri="{FF2B5EF4-FFF2-40B4-BE49-F238E27FC236}">
                <a16:creationId xmlns:a16="http://schemas.microsoft.com/office/drawing/2014/main" id="{E8551C24-45DB-42A5-8096-7BA83AE35338}"/>
              </a:ext>
            </a:extLst>
          </p:cNvPr>
          <p:cNvSpPr/>
          <p:nvPr/>
        </p:nvSpPr>
        <p:spPr>
          <a:xfrm>
            <a:off x="228952" y="1389937"/>
            <a:ext cx="1857829" cy="46445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dist"/>
            <a:r>
              <a:rPr lang="zh-TW" altLang="en-US">
                <a:cs typeface="+mn-ea"/>
                <a:sym typeface="+mn-lt"/>
              </a:rPr>
              <a:t>發送端的處理</a:t>
            </a:r>
            <a:endParaRPr lang="zh-CN" altLang="en-US">
              <a:cs typeface="+mn-ea"/>
              <a:sym typeface="+mn-lt"/>
            </a:endParaRPr>
          </a:p>
        </p:txBody>
      </p:sp>
      <p:grpSp>
        <p:nvGrpSpPr>
          <p:cNvPr id="67" name="组合 21">
            <a:extLst>
              <a:ext uri="{FF2B5EF4-FFF2-40B4-BE49-F238E27FC236}">
                <a16:creationId xmlns:a16="http://schemas.microsoft.com/office/drawing/2014/main" id="{B932532A-04C7-6477-E75D-206D83AA69DB}"/>
              </a:ext>
            </a:extLst>
          </p:cNvPr>
          <p:cNvGrpSpPr/>
          <p:nvPr/>
        </p:nvGrpSpPr>
        <p:grpSpPr>
          <a:xfrm>
            <a:off x="8811992" y="3514495"/>
            <a:ext cx="65431" cy="603522"/>
            <a:chOff x="2822852" y="3101009"/>
            <a:chExt cx="65430" cy="603522"/>
          </a:xfrm>
        </p:grpSpPr>
        <p:cxnSp>
          <p:nvCxnSpPr>
            <p:cNvPr id="68" name="直接连接符 22">
              <a:extLst>
                <a:ext uri="{FF2B5EF4-FFF2-40B4-BE49-F238E27FC236}">
                  <a16:creationId xmlns:a16="http://schemas.microsoft.com/office/drawing/2014/main" id="{7C9CCD0E-8C7A-6978-4CD2-C55B76321302}"/>
                </a:ext>
              </a:extLst>
            </p:cNvPr>
            <p:cNvCxnSpPr/>
            <p:nvPr/>
          </p:nvCxnSpPr>
          <p:spPr>
            <a:xfrm flipV="1">
              <a:off x="2849217" y="3101009"/>
              <a:ext cx="0" cy="569843"/>
            </a:xfrm>
            <a:prstGeom prst="line">
              <a:avLst/>
            </a:prstGeom>
            <a:ln>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sp>
          <p:nvSpPr>
            <p:cNvPr id="69" name="椭圆 23">
              <a:extLst>
                <a:ext uri="{FF2B5EF4-FFF2-40B4-BE49-F238E27FC236}">
                  <a16:creationId xmlns:a16="http://schemas.microsoft.com/office/drawing/2014/main" id="{C6A27483-DB8F-BAAD-8F89-09E9A1E91FEB}"/>
                </a:ext>
              </a:extLst>
            </p:cNvPr>
            <p:cNvSpPr/>
            <p:nvPr/>
          </p:nvSpPr>
          <p:spPr>
            <a:xfrm>
              <a:off x="2822852" y="3639101"/>
              <a:ext cx="65430" cy="6543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70" name="组合 9">
            <a:extLst>
              <a:ext uri="{FF2B5EF4-FFF2-40B4-BE49-F238E27FC236}">
                <a16:creationId xmlns:a16="http://schemas.microsoft.com/office/drawing/2014/main" id="{5450B5F8-8070-0F98-C33C-CBC6C54B73DE}"/>
              </a:ext>
            </a:extLst>
          </p:cNvPr>
          <p:cNvGrpSpPr/>
          <p:nvPr/>
        </p:nvGrpSpPr>
        <p:grpSpPr>
          <a:xfrm>
            <a:off x="7826030" y="1854395"/>
            <a:ext cx="4025040" cy="1457994"/>
            <a:chOff x="1750601" y="1611478"/>
            <a:chExt cx="1460743" cy="2312786"/>
          </a:xfrm>
        </p:grpSpPr>
        <p:sp>
          <p:nvSpPr>
            <p:cNvPr id="71" name="文本框 10">
              <a:extLst>
                <a:ext uri="{FF2B5EF4-FFF2-40B4-BE49-F238E27FC236}">
                  <a16:creationId xmlns:a16="http://schemas.microsoft.com/office/drawing/2014/main" id="{2394EE15-CBE1-494A-65C4-D9633CBD8205}"/>
                </a:ext>
              </a:extLst>
            </p:cNvPr>
            <p:cNvSpPr txBox="1"/>
            <p:nvPr/>
          </p:nvSpPr>
          <p:spPr>
            <a:xfrm>
              <a:off x="1750601" y="1611478"/>
              <a:ext cx="1460743" cy="732330"/>
            </a:xfrm>
            <a:prstGeom prst="rect">
              <a:avLst/>
            </a:prstGeom>
            <a:noFill/>
          </p:spPr>
          <p:txBody>
            <a:bodyPr wrap="square" rtlCol="0">
              <a:spAutoFit/>
            </a:bodyPr>
            <a:lstStyle/>
            <a:p>
              <a:r>
                <a:rPr lang="zh-TW" altLang="en-US" sz="2400" dirty="0"/>
                <a:t>發送與錯誤處理</a:t>
              </a:r>
              <a:endParaRPr lang="zh-CN" altLang="en-US" sz="2400" dirty="0">
                <a:cs typeface="+mn-ea"/>
                <a:sym typeface="+mn-lt"/>
              </a:endParaRPr>
            </a:p>
          </p:txBody>
        </p:sp>
        <p:sp>
          <p:nvSpPr>
            <p:cNvPr id="72" name="文本框 11">
              <a:extLst>
                <a:ext uri="{FF2B5EF4-FFF2-40B4-BE49-F238E27FC236}">
                  <a16:creationId xmlns:a16="http://schemas.microsoft.com/office/drawing/2014/main" id="{7942D4BF-3258-85DB-0A7C-E20116AD704A}"/>
                </a:ext>
              </a:extLst>
            </p:cNvPr>
            <p:cNvSpPr txBox="1"/>
            <p:nvPr/>
          </p:nvSpPr>
          <p:spPr>
            <a:xfrm>
              <a:off x="1750601" y="2300323"/>
              <a:ext cx="1460742" cy="1623941"/>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TW" altLang="en-US" sz="1400" b="1" dirty="0"/>
                <a:t>發送錯誤處理機制</a:t>
              </a:r>
              <a:r>
                <a:rPr lang="zh-TW" altLang="en-US" sz="1400" dirty="0"/>
                <a:t>：監控數據包是否成功發送，未成功時執行重傳。</a:t>
              </a:r>
              <a:endParaRPr lang="en-US" altLang="zh-TW" sz="1400" dirty="0"/>
            </a:p>
            <a:p>
              <a:pPr marL="285750" indent="-285750">
                <a:lnSpc>
                  <a:spcPct val="150000"/>
                </a:lnSpc>
                <a:buFont typeface="Arial" panose="020B0604020202020204" pitchFamily="34" charset="0"/>
                <a:buChar char="•"/>
              </a:pPr>
              <a:r>
                <a:rPr lang="zh-TW" altLang="en-US" sz="1400" dirty="0"/>
                <a:t>檢測丟包或異常情況，記錄並嘗試修復問題。</a:t>
              </a:r>
            </a:p>
          </p:txBody>
        </p:sp>
      </p:grpSp>
      <p:grpSp>
        <p:nvGrpSpPr>
          <p:cNvPr id="73" name="组合 24">
            <a:extLst>
              <a:ext uri="{FF2B5EF4-FFF2-40B4-BE49-F238E27FC236}">
                <a16:creationId xmlns:a16="http://schemas.microsoft.com/office/drawing/2014/main" id="{F94C42CA-8755-2C86-B420-AE8BB251A777}"/>
              </a:ext>
            </a:extLst>
          </p:cNvPr>
          <p:cNvGrpSpPr/>
          <p:nvPr/>
        </p:nvGrpSpPr>
        <p:grpSpPr>
          <a:xfrm>
            <a:off x="5951738" y="4059668"/>
            <a:ext cx="65431" cy="595550"/>
            <a:chOff x="4797701" y="3645145"/>
            <a:chExt cx="65430" cy="595550"/>
          </a:xfrm>
        </p:grpSpPr>
        <p:cxnSp>
          <p:nvCxnSpPr>
            <p:cNvPr id="74" name="直接连接符 25">
              <a:extLst>
                <a:ext uri="{FF2B5EF4-FFF2-40B4-BE49-F238E27FC236}">
                  <a16:creationId xmlns:a16="http://schemas.microsoft.com/office/drawing/2014/main" id="{EC2ECE88-E7B7-B08D-26AB-457545167FFB}"/>
                </a:ext>
              </a:extLst>
            </p:cNvPr>
            <p:cNvCxnSpPr/>
            <p:nvPr/>
          </p:nvCxnSpPr>
          <p:spPr>
            <a:xfrm flipV="1">
              <a:off x="4827143" y="3670852"/>
              <a:ext cx="0" cy="569843"/>
            </a:xfrm>
            <a:prstGeom prst="line">
              <a:avLst/>
            </a:prstGeom>
            <a:ln>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sp>
          <p:nvSpPr>
            <p:cNvPr id="75" name="椭圆 26">
              <a:extLst>
                <a:ext uri="{FF2B5EF4-FFF2-40B4-BE49-F238E27FC236}">
                  <a16:creationId xmlns:a16="http://schemas.microsoft.com/office/drawing/2014/main" id="{FBF293C5-6617-A022-08C1-9D632B665BE5}"/>
                </a:ext>
              </a:extLst>
            </p:cNvPr>
            <p:cNvSpPr/>
            <p:nvPr/>
          </p:nvSpPr>
          <p:spPr>
            <a:xfrm>
              <a:off x="4797701" y="3645145"/>
              <a:ext cx="65430" cy="6543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cs typeface="+mn-ea"/>
                  <a:sym typeface="+mn-lt"/>
                </a:rPr>
                <a:t> </a:t>
              </a:r>
              <a:endParaRPr lang="zh-CN" altLang="en-US">
                <a:cs typeface="+mn-ea"/>
                <a:sym typeface="+mn-lt"/>
              </a:endParaRPr>
            </a:p>
          </p:txBody>
        </p:sp>
      </p:grpSp>
    </p:spTree>
    <p:custDataLst>
      <p:tags r:id="rId1"/>
    </p:custDataLst>
    <p:extLst>
      <p:ext uri="{BB962C8B-B14F-4D97-AF65-F5344CB8AC3E}">
        <p14:creationId xmlns:p14="http://schemas.microsoft.com/office/powerpoint/2010/main" val="6766595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70"/>
                                        </p:tgtEl>
                                        <p:attrNameLst>
                                          <p:attrName>style.visibility</p:attrName>
                                        </p:attrNameLst>
                                      </p:cBhvr>
                                      <p:to>
                                        <p:strVal val="visible"/>
                                      </p:to>
                                    </p:set>
                                    <p:animEffect transition="in" filter="fade">
                                      <p:cBhvr>
                                        <p:cTn id="14" dur="1000"/>
                                        <p:tgtEl>
                                          <p:spTgt spid="70"/>
                                        </p:tgtEl>
                                      </p:cBhvr>
                                    </p:animEffect>
                                    <p:anim calcmode="lin" valueType="num">
                                      <p:cBhvr>
                                        <p:cTn id="15" dur="1000" fill="hold"/>
                                        <p:tgtEl>
                                          <p:spTgt spid="70"/>
                                        </p:tgtEl>
                                        <p:attrNameLst>
                                          <p:attrName>ppt_x</p:attrName>
                                        </p:attrNameLst>
                                      </p:cBhvr>
                                      <p:tavLst>
                                        <p:tav tm="0">
                                          <p:val>
                                            <p:strVal val="#ppt_x"/>
                                          </p:val>
                                        </p:tav>
                                        <p:tav tm="100000">
                                          <p:val>
                                            <p:strVal val="#ppt_x"/>
                                          </p:val>
                                        </p:tav>
                                      </p:tavLst>
                                    </p:anim>
                                    <p:anim calcmode="lin" valueType="num">
                                      <p:cBhvr>
                                        <p:cTn id="16" dur="1000" fill="hold"/>
                                        <p:tgtEl>
                                          <p:spTgt spid="7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86EC52-0FCB-071B-313B-6075B66113B2}"/>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CB590A27-8290-05EF-2206-605FA8849F99}"/>
              </a:ext>
            </a:extLst>
          </p:cNvPr>
          <p:cNvSpPr/>
          <p:nvPr/>
        </p:nvSpPr>
        <p:spPr>
          <a:xfrm>
            <a:off x="1603617" y="2185987"/>
            <a:ext cx="2952751" cy="3562350"/>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 name="矩形 4">
            <a:extLst>
              <a:ext uri="{FF2B5EF4-FFF2-40B4-BE49-F238E27FC236}">
                <a16:creationId xmlns:a16="http://schemas.microsoft.com/office/drawing/2014/main" id="{6C7E5539-6494-CEE9-5B4A-A47977D9A6C8}"/>
              </a:ext>
            </a:extLst>
          </p:cNvPr>
          <p:cNvSpPr/>
          <p:nvPr/>
        </p:nvSpPr>
        <p:spPr>
          <a:xfrm>
            <a:off x="1249483" y="1888837"/>
            <a:ext cx="2819400" cy="3562350"/>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 name="文本框 5">
            <a:extLst>
              <a:ext uri="{FF2B5EF4-FFF2-40B4-BE49-F238E27FC236}">
                <a16:creationId xmlns:a16="http://schemas.microsoft.com/office/drawing/2014/main" id="{848A6E47-E83E-FBFA-F40B-731AC153FC75}"/>
              </a:ext>
            </a:extLst>
          </p:cNvPr>
          <p:cNvSpPr txBox="1"/>
          <p:nvPr/>
        </p:nvSpPr>
        <p:spPr>
          <a:xfrm>
            <a:off x="1489632" y="3399261"/>
            <a:ext cx="2339102" cy="523220"/>
          </a:xfrm>
          <a:prstGeom prst="rect">
            <a:avLst/>
          </a:prstGeom>
          <a:noFill/>
        </p:spPr>
        <p:txBody>
          <a:bodyPr wrap="none" rtlCol="0">
            <a:spAutoFit/>
          </a:bodyPr>
          <a:lstStyle/>
          <a:p>
            <a:r>
              <a:rPr lang="zh-TW" altLang="en-US" sz="2800">
                <a:solidFill>
                  <a:schemeClr val="accent4">
                    <a:lumMod val="50000"/>
                  </a:schemeClr>
                </a:solidFill>
                <a:cs typeface="+mn-ea"/>
                <a:sym typeface="+mn-lt"/>
              </a:rPr>
              <a:t>數據傳輸技術</a:t>
            </a:r>
            <a:endParaRPr lang="zh-CN" altLang="en-US" sz="2800">
              <a:solidFill>
                <a:schemeClr val="accent4">
                  <a:lumMod val="50000"/>
                </a:schemeClr>
              </a:solidFill>
              <a:cs typeface="+mn-ea"/>
              <a:sym typeface="+mn-lt"/>
            </a:endParaRPr>
          </a:p>
        </p:txBody>
      </p:sp>
      <p:sp>
        <p:nvSpPr>
          <p:cNvPr id="9" name="矩形 8">
            <a:extLst>
              <a:ext uri="{FF2B5EF4-FFF2-40B4-BE49-F238E27FC236}">
                <a16:creationId xmlns:a16="http://schemas.microsoft.com/office/drawing/2014/main" id="{D46D8037-BA90-985D-64F6-010BDD6EE92C}"/>
              </a:ext>
            </a:extLst>
          </p:cNvPr>
          <p:cNvSpPr/>
          <p:nvPr/>
        </p:nvSpPr>
        <p:spPr>
          <a:xfrm>
            <a:off x="6400800" y="1724484"/>
            <a:ext cx="4838701" cy="1240879"/>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 name="椭圆 9">
            <a:extLst>
              <a:ext uri="{FF2B5EF4-FFF2-40B4-BE49-F238E27FC236}">
                <a16:creationId xmlns:a16="http://schemas.microsoft.com/office/drawing/2014/main" id="{3FC0C1EB-CD16-229B-EB68-88FCEBBD493C}"/>
              </a:ext>
            </a:extLst>
          </p:cNvPr>
          <p:cNvSpPr/>
          <p:nvPr/>
        </p:nvSpPr>
        <p:spPr>
          <a:xfrm>
            <a:off x="5467350" y="1951910"/>
            <a:ext cx="704850" cy="70485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文本框 10">
            <a:extLst>
              <a:ext uri="{FF2B5EF4-FFF2-40B4-BE49-F238E27FC236}">
                <a16:creationId xmlns:a16="http://schemas.microsoft.com/office/drawing/2014/main" id="{92C6E4D1-B0CB-35C9-12A1-D660BCC1CE9E}"/>
              </a:ext>
            </a:extLst>
          </p:cNvPr>
          <p:cNvSpPr txBox="1"/>
          <p:nvPr/>
        </p:nvSpPr>
        <p:spPr>
          <a:xfrm>
            <a:off x="6760336" y="1951910"/>
            <a:ext cx="4119627" cy="830997"/>
          </a:xfrm>
          <a:prstGeom prst="rect">
            <a:avLst/>
          </a:prstGeom>
          <a:noFill/>
        </p:spPr>
        <p:txBody>
          <a:bodyPr wrap="square" rtlCol="0">
            <a:spAutoFit/>
          </a:bodyPr>
          <a:lstStyle/>
          <a:p>
            <a:r>
              <a:rPr lang="zh-TW" altLang="en-US" sz="1600">
                <a:cs typeface="+mn-ea"/>
                <a:sym typeface="+mn-lt"/>
              </a:rPr>
              <a:t>分包傳輸：</a:t>
            </a:r>
          </a:p>
          <a:p>
            <a:pPr marL="285750" indent="-285750">
              <a:buFont typeface="微软雅黑" panose="020B0503020204020204" pitchFamily="34" charset="-122"/>
              <a:buChar char="−"/>
            </a:pPr>
            <a:r>
              <a:rPr lang="zh-TW" altLang="en-US" sz="1600">
                <a:cs typeface="+mn-ea"/>
                <a:sym typeface="+mn-lt"/>
              </a:rPr>
              <a:t>將大數據分割成小包傳輸，每個包大小不超過 </a:t>
            </a:r>
            <a:r>
              <a:rPr lang="en-US" altLang="zh-TW" sz="1600">
                <a:cs typeface="+mn-ea"/>
                <a:sym typeface="+mn-lt"/>
              </a:rPr>
              <a:t>1020 bytes</a:t>
            </a:r>
          </a:p>
        </p:txBody>
      </p:sp>
      <p:grpSp>
        <p:nvGrpSpPr>
          <p:cNvPr id="25" name="组合 24">
            <a:extLst>
              <a:ext uri="{FF2B5EF4-FFF2-40B4-BE49-F238E27FC236}">
                <a16:creationId xmlns:a16="http://schemas.microsoft.com/office/drawing/2014/main" id="{C9A33A3D-CB50-F15F-1999-43ACE3F51856}"/>
              </a:ext>
            </a:extLst>
          </p:cNvPr>
          <p:cNvGrpSpPr/>
          <p:nvPr/>
        </p:nvGrpSpPr>
        <p:grpSpPr>
          <a:xfrm>
            <a:off x="0" y="584035"/>
            <a:ext cx="12192000" cy="381000"/>
            <a:chOff x="0" y="584035"/>
            <a:chExt cx="12192000" cy="381000"/>
          </a:xfrm>
        </p:grpSpPr>
        <p:cxnSp>
          <p:nvCxnSpPr>
            <p:cNvPr id="20" name="直接连接符 19">
              <a:extLst>
                <a:ext uri="{FF2B5EF4-FFF2-40B4-BE49-F238E27FC236}">
                  <a16:creationId xmlns:a16="http://schemas.microsoft.com/office/drawing/2014/main" id="{5C3CC970-D3C0-D79D-0EB3-6D3C0E3CB60C}"/>
                </a:ext>
              </a:extLst>
            </p:cNvPr>
            <p:cNvCxnSpPr/>
            <p:nvPr/>
          </p:nvCxnSpPr>
          <p:spPr>
            <a:xfrm>
              <a:off x="0" y="774535"/>
              <a:ext cx="12192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1" name="组合 20">
              <a:extLst>
                <a:ext uri="{FF2B5EF4-FFF2-40B4-BE49-F238E27FC236}">
                  <a16:creationId xmlns:a16="http://schemas.microsoft.com/office/drawing/2014/main" id="{A2BFC5A8-9FEC-4852-03AF-E076628C611D}"/>
                </a:ext>
              </a:extLst>
            </p:cNvPr>
            <p:cNvGrpSpPr/>
            <p:nvPr/>
          </p:nvGrpSpPr>
          <p:grpSpPr>
            <a:xfrm rot="10800000">
              <a:off x="11060824" y="584035"/>
              <a:ext cx="656896" cy="381000"/>
              <a:chOff x="307428" y="393221"/>
              <a:chExt cx="656896" cy="381000"/>
            </a:xfrm>
          </p:grpSpPr>
          <p:sp>
            <p:nvSpPr>
              <p:cNvPr id="22" name="等腰三角形 21">
                <a:extLst>
                  <a:ext uri="{FF2B5EF4-FFF2-40B4-BE49-F238E27FC236}">
                    <a16:creationId xmlns:a16="http://schemas.microsoft.com/office/drawing/2014/main" id="{522AD5B0-378C-DE21-B4E0-1A2DE3C5F156}"/>
                  </a:ext>
                </a:extLst>
              </p:cNvPr>
              <p:cNvSpPr/>
              <p:nvPr/>
            </p:nvSpPr>
            <p:spPr>
              <a:xfrm rot="5400000">
                <a:off x="281152" y="419497"/>
                <a:ext cx="381000" cy="32844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3" name="等腰三角形 22">
                <a:extLst>
                  <a:ext uri="{FF2B5EF4-FFF2-40B4-BE49-F238E27FC236}">
                    <a16:creationId xmlns:a16="http://schemas.microsoft.com/office/drawing/2014/main" id="{9BC4D2A2-9597-A27A-2A4D-2D0EC84B2189}"/>
                  </a:ext>
                </a:extLst>
              </p:cNvPr>
              <p:cNvSpPr/>
              <p:nvPr/>
            </p:nvSpPr>
            <p:spPr>
              <a:xfrm rot="5400000">
                <a:off x="609600" y="419497"/>
                <a:ext cx="381000" cy="32844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sp>
        <p:nvSpPr>
          <p:cNvPr id="24" name="文本框 23">
            <a:extLst>
              <a:ext uri="{FF2B5EF4-FFF2-40B4-BE49-F238E27FC236}">
                <a16:creationId xmlns:a16="http://schemas.microsoft.com/office/drawing/2014/main" id="{C44EDE64-BBF7-E7B7-4DAF-CB4143B12AA8}"/>
              </a:ext>
            </a:extLst>
          </p:cNvPr>
          <p:cNvSpPr txBox="1"/>
          <p:nvPr/>
        </p:nvSpPr>
        <p:spPr>
          <a:xfrm>
            <a:off x="358324" y="298225"/>
            <a:ext cx="936104" cy="400110"/>
          </a:xfrm>
          <a:prstGeom prst="rect">
            <a:avLst/>
          </a:prstGeom>
          <a:solidFill>
            <a:schemeClr val="tx1"/>
          </a:solidFill>
        </p:spPr>
        <p:txBody>
          <a:bodyPr wrap="square" rtlCol="0">
            <a:spAutoFit/>
          </a:bodyPr>
          <a:lstStyle/>
          <a:p>
            <a:pPr algn="ctr"/>
            <a:endParaRPr lang="zh-CN" altLang="en-US" sz="2000">
              <a:solidFill>
                <a:schemeClr val="bg1"/>
              </a:solidFill>
              <a:cs typeface="+mn-ea"/>
              <a:sym typeface="+mn-lt"/>
            </a:endParaRPr>
          </a:p>
        </p:txBody>
      </p:sp>
      <p:sp>
        <p:nvSpPr>
          <p:cNvPr id="26" name="投影片編號版面配置區 25">
            <a:extLst>
              <a:ext uri="{FF2B5EF4-FFF2-40B4-BE49-F238E27FC236}">
                <a16:creationId xmlns:a16="http://schemas.microsoft.com/office/drawing/2014/main" id="{B070DC49-06F3-F2CE-5285-4C61F67E24C9}"/>
              </a:ext>
            </a:extLst>
          </p:cNvPr>
          <p:cNvSpPr>
            <a:spLocks noGrp="1"/>
          </p:cNvSpPr>
          <p:nvPr>
            <p:ph type="sldNum" sz="quarter" idx="12"/>
          </p:nvPr>
        </p:nvSpPr>
        <p:spPr/>
        <p:txBody>
          <a:bodyPr/>
          <a:lstStyle/>
          <a:p>
            <a:fld id="{9232B33E-6CBB-4C23-BFFD-4D7045B4FE1F}" type="slidenum">
              <a:rPr lang="zh-CN" altLang="en-US" smtClean="0"/>
              <a:t>4</a:t>
            </a:fld>
            <a:endParaRPr lang="zh-CN" altLang="en-US"/>
          </a:p>
        </p:txBody>
      </p:sp>
      <p:sp>
        <p:nvSpPr>
          <p:cNvPr id="28" name="矩形 27">
            <a:extLst>
              <a:ext uri="{FF2B5EF4-FFF2-40B4-BE49-F238E27FC236}">
                <a16:creationId xmlns:a16="http://schemas.microsoft.com/office/drawing/2014/main" id="{55F03FED-7A36-CBD9-12E0-4A1FCF084EBE}"/>
              </a:ext>
            </a:extLst>
          </p:cNvPr>
          <p:cNvSpPr/>
          <p:nvPr/>
        </p:nvSpPr>
        <p:spPr>
          <a:xfrm>
            <a:off x="6400800" y="3111435"/>
            <a:ext cx="4838701" cy="1240879"/>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9" name="椭圆 9">
            <a:extLst>
              <a:ext uri="{FF2B5EF4-FFF2-40B4-BE49-F238E27FC236}">
                <a16:creationId xmlns:a16="http://schemas.microsoft.com/office/drawing/2014/main" id="{07657B74-48BF-DF24-F5BC-788B14273384}"/>
              </a:ext>
            </a:extLst>
          </p:cNvPr>
          <p:cNvSpPr/>
          <p:nvPr/>
        </p:nvSpPr>
        <p:spPr>
          <a:xfrm>
            <a:off x="5467350" y="3338861"/>
            <a:ext cx="704850" cy="70485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0" name="文本框 10">
            <a:extLst>
              <a:ext uri="{FF2B5EF4-FFF2-40B4-BE49-F238E27FC236}">
                <a16:creationId xmlns:a16="http://schemas.microsoft.com/office/drawing/2014/main" id="{A1B10218-5038-3F49-6C16-E63B4E234685}"/>
              </a:ext>
            </a:extLst>
          </p:cNvPr>
          <p:cNvSpPr txBox="1"/>
          <p:nvPr/>
        </p:nvSpPr>
        <p:spPr>
          <a:xfrm>
            <a:off x="6760336" y="3192789"/>
            <a:ext cx="4300488" cy="1107996"/>
          </a:xfrm>
          <a:prstGeom prst="rect">
            <a:avLst/>
          </a:prstGeom>
          <a:noFill/>
        </p:spPr>
        <p:txBody>
          <a:bodyPr wrap="square" rtlCol="0">
            <a:spAutoFit/>
          </a:bodyPr>
          <a:lstStyle/>
          <a:p>
            <a:r>
              <a:rPr lang="zh-TW" altLang="en-US" sz="1600">
                <a:cs typeface="+mn-ea"/>
                <a:sym typeface="+mn-lt"/>
              </a:rPr>
              <a:t>可靠性機制：</a:t>
            </a:r>
          </a:p>
          <a:p>
            <a:pPr marL="285750" indent="-285750">
              <a:buFont typeface="微软雅黑" panose="020B0503020204020204" pitchFamily="34" charset="-122"/>
              <a:buChar char="−"/>
            </a:pPr>
            <a:r>
              <a:rPr lang="zh-TW" altLang="en-US" sz="1600">
                <a:cs typeface="+mn-ea"/>
                <a:sym typeface="+mn-lt"/>
              </a:rPr>
              <a:t>序列號追踪：</a:t>
            </a:r>
            <a:r>
              <a:rPr lang="zh-TW" altLang="en-US" sz="1600"/>
              <a:t>數據包附帶唯一的序列號</a:t>
            </a:r>
            <a:endParaRPr lang="en-US" altLang="zh-TW" sz="1600">
              <a:cs typeface="+mn-ea"/>
              <a:sym typeface="+mn-lt"/>
            </a:endParaRPr>
          </a:p>
          <a:p>
            <a:pPr marL="285750" indent="-285750">
              <a:buFont typeface="微软雅黑" panose="020B0503020204020204" pitchFamily="34" charset="-122"/>
              <a:buChar char="−"/>
            </a:pPr>
            <a:r>
              <a:rPr lang="en-US" altLang="zh-TW" sz="1600">
                <a:cs typeface="+mn-ea"/>
                <a:sym typeface="+mn-lt"/>
              </a:rPr>
              <a:t>CRC</a:t>
            </a:r>
            <a:r>
              <a:rPr lang="zh-TW" altLang="en-US" sz="1600">
                <a:cs typeface="+mn-ea"/>
                <a:sym typeface="+mn-lt"/>
              </a:rPr>
              <a:t>校驗：</a:t>
            </a:r>
            <a:r>
              <a:rPr lang="zh-TW" altLang="en-US" sz="1600"/>
              <a:t>計算並檢驗每個數據包的校驗</a:t>
            </a:r>
            <a:endParaRPr lang="en-US" altLang="zh-TW" sz="1600">
              <a:cs typeface="+mn-ea"/>
              <a:sym typeface="+mn-lt"/>
            </a:endParaRPr>
          </a:p>
          <a:p>
            <a:pPr marL="285750" indent="-285750">
              <a:buFont typeface="微软雅黑" panose="020B0503020204020204" pitchFamily="34" charset="-122"/>
              <a:buChar char="−"/>
            </a:pPr>
            <a:r>
              <a:rPr lang="zh-TW" altLang="en-US" sz="1600">
                <a:cs typeface="+mn-ea"/>
                <a:sym typeface="+mn-lt"/>
              </a:rPr>
              <a:t>重傳機制：最多</a:t>
            </a:r>
            <a:r>
              <a:rPr lang="en-US" altLang="zh-TW" sz="1600">
                <a:cs typeface="+mn-ea"/>
                <a:sym typeface="+mn-lt"/>
              </a:rPr>
              <a:t>3</a:t>
            </a:r>
            <a:r>
              <a:rPr lang="zh-TW" altLang="en-US" sz="1600">
                <a:cs typeface="+mn-ea"/>
                <a:sym typeface="+mn-lt"/>
              </a:rPr>
              <a:t>次</a:t>
            </a:r>
            <a:r>
              <a:rPr lang="zh-TW" altLang="en-US" sz="1600"/>
              <a:t>數據丟失或校驗失敗</a:t>
            </a:r>
            <a:endParaRPr lang="en-US" altLang="zh-TW" sz="1600">
              <a:cs typeface="+mn-ea"/>
              <a:sym typeface="+mn-lt"/>
            </a:endParaRPr>
          </a:p>
        </p:txBody>
      </p:sp>
      <p:sp>
        <p:nvSpPr>
          <p:cNvPr id="32" name="矩形 31">
            <a:extLst>
              <a:ext uri="{FF2B5EF4-FFF2-40B4-BE49-F238E27FC236}">
                <a16:creationId xmlns:a16="http://schemas.microsoft.com/office/drawing/2014/main" id="{1C72BB7E-CF70-E5A9-5D5F-ABE950F404D7}"/>
              </a:ext>
            </a:extLst>
          </p:cNvPr>
          <p:cNvSpPr/>
          <p:nvPr/>
        </p:nvSpPr>
        <p:spPr>
          <a:xfrm>
            <a:off x="6386347" y="4498386"/>
            <a:ext cx="4838701" cy="1240879"/>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3" name="椭圆 9">
            <a:extLst>
              <a:ext uri="{FF2B5EF4-FFF2-40B4-BE49-F238E27FC236}">
                <a16:creationId xmlns:a16="http://schemas.microsoft.com/office/drawing/2014/main" id="{07BD9F0E-2106-AD20-571C-C915CB7B7503}"/>
              </a:ext>
            </a:extLst>
          </p:cNvPr>
          <p:cNvSpPr/>
          <p:nvPr/>
        </p:nvSpPr>
        <p:spPr>
          <a:xfrm>
            <a:off x="5452897" y="4725812"/>
            <a:ext cx="704850" cy="70485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4" name="文本框 10">
            <a:extLst>
              <a:ext uri="{FF2B5EF4-FFF2-40B4-BE49-F238E27FC236}">
                <a16:creationId xmlns:a16="http://schemas.microsoft.com/office/drawing/2014/main" id="{B5C48179-D86E-D579-8244-D79A09D06137}"/>
              </a:ext>
            </a:extLst>
          </p:cNvPr>
          <p:cNvSpPr txBox="1"/>
          <p:nvPr/>
        </p:nvSpPr>
        <p:spPr>
          <a:xfrm>
            <a:off x="6745883" y="4725812"/>
            <a:ext cx="4119627" cy="830997"/>
          </a:xfrm>
          <a:prstGeom prst="rect">
            <a:avLst/>
          </a:prstGeom>
          <a:noFill/>
        </p:spPr>
        <p:txBody>
          <a:bodyPr wrap="square" rtlCol="0">
            <a:spAutoFit/>
          </a:bodyPr>
          <a:lstStyle/>
          <a:p>
            <a:r>
              <a:rPr lang="zh-TW" altLang="en-US" sz="1600">
                <a:cs typeface="+mn-ea"/>
                <a:sym typeface="+mn-lt"/>
              </a:rPr>
              <a:t>緩衝區管理：</a:t>
            </a:r>
          </a:p>
          <a:p>
            <a:pPr marL="285750" indent="-285750">
              <a:buFont typeface="微软雅黑" panose="020B0503020204020204" pitchFamily="34" charset="-122"/>
              <a:buChar char="−"/>
            </a:pPr>
            <a:r>
              <a:rPr lang="zh-TW" altLang="en-US" sz="1600">
                <a:cs typeface="+mn-ea"/>
                <a:sym typeface="+mn-lt"/>
              </a:rPr>
              <a:t>檢測緩衝區溢出</a:t>
            </a:r>
          </a:p>
          <a:p>
            <a:pPr marL="285750" indent="-285750">
              <a:buFont typeface="微软雅黑" panose="020B0503020204020204" pitchFamily="34" charset="-122"/>
              <a:buChar char="−"/>
            </a:pPr>
            <a:r>
              <a:rPr lang="zh-TW" altLang="en-US" sz="1600">
                <a:cs typeface="+mn-ea"/>
                <a:sym typeface="+mn-lt"/>
              </a:rPr>
              <a:t>動態調整數據大小</a:t>
            </a:r>
            <a:endParaRPr lang="en-US" altLang="zh-TW" sz="1600">
              <a:cs typeface="+mn-ea"/>
              <a:sym typeface="+mn-lt"/>
            </a:endParaRPr>
          </a:p>
        </p:txBody>
      </p:sp>
    </p:spTree>
    <p:custDataLst>
      <p:tags r:id="rId1"/>
    </p:custDataLst>
    <p:extLst>
      <p:ext uri="{BB962C8B-B14F-4D97-AF65-F5344CB8AC3E}">
        <p14:creationId xmlns:p14="http://schemas.microsoft.com/office/powerpoint/2010/main" val="97079326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1000"/>
                                        <p:tgtEl>
                                          <p:spTgt spid="30"/>
                                        </p:tgtEl>
                                      </p:cBhvr>
                                    </p:animEffect>
                                    <p:anim calcmode="lin" valueType="num">
                                      <p:cBhvr>
                                        <p:cTn id="8" dur="1000" fill="hold"/>
                                        <p:tgtEl>
                                          <p:spTgt spid="30"/>
                                        </p:tgtEl>
                                        <p:attrNameLst>
                                          <p:attrName>ppt_x</p:attrName>
                                        </p:attrNameLst>
                                      </p:cBhvr>
                                      <p:tavLst>
                                        <p:tav tm="0">
                                          <p:val>
                                            <p:strVal val="#ppt_x"/>
                                          </p:val>
                                        </p:tav>
                                        <p:tav tm="100000">
                                          <p:val>
                                            <p:strVal val="#ppt_x"/>
                                          </p:val>
                                        </p:tav>
                                      </p:tavLst>
                                    </p:anim>
                                    <p:anim calcmode="lin" valueType="num">
                                      <p:cBhvr>
                                        <p:cTn id="9" dur="1000" fill="hold"/>
                                        <p:tgtEl>
                                          <p:spTgt spid="30"/>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4"/>
                                        </p:tgtEl>
                                        <p:attrNameLst>
                                          <p:attrName>style.visibility</p:attrName>
                                        </p:attrNameLst>
                                      </p:cBhvr>
                                      <p:to>
                                        <p:strVal val="visible"/>
                                      </p:to>
                                    </p:set>
                                    <p:animEffect transition="in" filter="fade">
                                      <p:cBhvr>
                                        <p:cTn id="14" dur="1000"/>
                                        <p:tgtEl>
                                          <p:spTgt spid="34"/>
                                        </p:tgtEl>
                                      </p:cBhvr>
                                    </p:animEffect>
                                    <p:anim calcmode="lin" valueType="num">
                                      <p:cBhvr>
                                        <p:cTn id="15" dur="1000" fill="hold"/>
                                        <p:tgtEl>
                                          <p:spTgt spid="34"/>
                                        </p:tgtEl>
                                        <p:attrNameLst>
                                          <p:attrName>ppt_x</p:attrName>
                                        </p:attrNameLst>
                                      </p:cBhvr>
                                      <p:tavLst>
                                        <p:tav tm="0">
                                          <p:val>
                                            <p:strVal val="#ppt_x"/>
                                          </p:val>
                                        </p:tav>
                                        <p:tav tm="100000">
                                          <p:val>
                                            <p:strVal val="#ppt_x"/>
                                          </p:val>
                                        </p:tav>
                                      </p:tavLst>
                                    </p:anim>
                                    <p:anim calcmode="lin" valueType="num">
                                      <p:cBhvr>
                                        <p:cTn id="16" dur="1000" fill="hold"/>
                                        <p:tgtEl>
                                          <p:spTgt spid="3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3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709E35-7B67-6F2C-03F1-72FD779625EA}"/>
            </a:ext>
          </a:extLst>
        </p:cNvPr>
        <p:cNvGrpSpPr/>
        <p:nvPr/>
      </p:nvGrpSpPr>
      <p:grpSpPr>
        <a:xfrm>
          <a:off x="0" y="0"/>
          <a:ext cx="0" cy="0"/>
          <a:chOff x="0" y="0"/>
          <a:chExt cx="0" cy="0"/>
        </a:xfrm>
      </p:grpSpPr>
      <p:grpSp>
        <p:nvGrpSpPr>
          <p:cNvPr id="22" name="组合 21">
            <a:extLst>
              <a:ext uri="{FF2B5EF4-FFF2-40B4-BE49-F238E27FC236}">
                <a16:creationId xmlns:a16="http://schemas.microsoft.com/office/drawing/2014/main" id="{2865C278-A74C-1355-3694-901F7417702B}"/>
              </a:ext>
            </a:extLst>
          </p:cNvPr>
          <p:cNvGrpSpPr/>
          <p:nvPr/>
        </p:nvGrpSpPr>
        <p:grpSpPr>
          <a:xfrm>
            <a:off x="0" y="517338"/>
            <a:ext cx="12192000" cy="381000"/>
            <a:chOff x="0" y="517338"/>
            <a:chExt cx="12192000" cy="381000"/>
          </a:xfrm>
        </p:grpSpPr>
        <p:cxnSp>
          <p:nvCxnSpPr>
            <p:cNvPr id="4" name="直接连接符 3">
              <a:extLst>
                <a:ext uri="{FF2B5EF4-FFF2-40B4-BE49-F238E27FC236}">
                  <a16:creationId xmlns:a16="http://schemas.microsoft.com/office/drawing/2014/main" id="{6E6C38A9-4AF9-F138-FF55-D72853A88F77}"/>
                </a:ext>
              </a:extLst>
            </p:cNvPr>
            <p:cNvCxnSpPr/>
            <p:nvPr/>
          </p:nvCxnSpPr>
          <p:spPr>
            <a:xfrm>
              <a:off x="0" y="707838"/>
              <a:ext cx="12192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 name="组合 4">
              <a:extLst>
                <a:ext uri="{FF2B5EF4-FFF2-40B4-BE49-F238E27FC236}">
                  <a16:creationId xmlns:a16="http://schemas.microsoft.com/office/drawing/2014/main" id="{50F3F490-7C2D-F762-4CB9-FE924772D4A7}"/>
                </a:ext>
              </a:extLst>
            </p:cNvPr>
            <p:cNvGrpSpPr/>
            <p:nvPr/>
          </p:nvGrpSpPr>
          <p:grpSpPr>
            <a:xfrm rot="10800000">
              <a:off x="11060824" y="517338"/>
              <a:ext cx="656896" cy="381000"/>
              <a:chOff x="307428" y="393221"/>
              <a:chExt cx="656896" cy="381000"/>
            </a:xfrm>
          </p:grpSpPr>
          <p:sp>
            <p:nvSpPr>
              <p:cNvPr id="6" name="等腰三角形 5">
                <a:extLst>
                  <a:ext uri="{FF2B5EF4-FFF2-40B4-BE49-F238E27FC236}">
                    <a16:creationId xmlns:a16="http://schemas.microsoft.com/office/drawing/2014/main" id="{9CA2E84B-F378-7033-EA0E-672B582A1BBE}"/>
                  </a:ext>
                </a:extLst>
              </p:cNvPr>
              <p:cNvSpPr/>
              <p:nvPr/>
            </p:nvSpPr>
            <p:spPr>
              <a:xfrm rot="5400000">
                <a:off x="281152" y="419497"/>
                <a:ext cx="381000" cy="32844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 name="等腰三角形 6">
                <a:extLst>
                  <a:ext uri="{FF2B5EF4-FFF2-40B4-BE49-F238E27FC236}">
                    <a16:creationId xmlns:a16="http://schemas.microsoft.com/office/drawing/2014/main" id="{ECD4B79D-AE92-73C0-7011-B5878CB37886}"/>
                  </a:ext>
                </a:extLst>
              </p:cNvPr>
              <p:cNvSpPr/>
              <p:nvPr/>
            </p:nvSpPr>
            <p:spPr>
              <a:xfrm rot="5400000">
                <a:off x="609600" y="419497"/>
                <a:ext cx="381000" cy="32844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sp>
        <p:nvSpPr>
          <p:cNvPr id="8" name="文本框 7">
            <a:extLst>
              <a:ext uri="{FF2B5EF4-FFF2-40B4-BE49-F238E27FC236}">
                <a16:creationId xmlns:a16="http://schemas.microsoft.com/office/drawing/2014/main" id="{2AF26F5B-5DDE-107F-7838-4394EFBF4FBE}"/>
              </a:ext>
            </a:extLst>
          </p:cNvPr>
          <p:cNvSpPr txBox="1"/>
          <p:nvPr/>
        </p:nvSpPr>
        <p:spPr>
          <a:xfrm>
            <a:off x="358324" y="231528"/>
            <a:ext cx="936104" cy="400110"/>
          </a:xfrm>
          <a:prstGeom prst="rect">
            <a:avLst/>
          </a:prstGeom>
          <a:solidFill>
            <a:schemeClr val="tx1"/>
          </a:solidFill>
        </p:spPr>
        <p:txBody>
          <a:bodyPr wrap="square" rtlCol="0">
            <a:spAutoFit/>
          </a:bodyPr>
          <a:lstStyle/>
          <a:p>
            <a:pPr algn="ctr"/>
            <a:endParaRPr lang="zh-CN" altLang="en-US" sz="2000">
              <a:solidFill>
                <a:schemeClr val="bg1"/>
              </a:solidFill>
              <a:cs typeface="+mn-ea"/>
              <a:sym typeface="+mn-lt"/>
            </a:endParaRPr>
          </a:p>
        </p:txBody>
      </p:sp>
      <p:sp>
        <p:nvSpPr>
          <p:cNvPr id="10" name="矩形 9">
            <a:extLst>
              <a:ext uri="{FF2B5EF4-FFF2-40B4-BE49-F238E27FC236}">
                <a16:creationId xmlns:a16="http://schemas.microsoft.com/office/drawing/2014/main" id="{777D9797-7A90-E1AC-9033-AFA76CC4B10D}"/>
              </a:ext>
            </a:extLst>
          </p:cNvPr>
          <p:cNvSpPr/>
          <p:nvPr/>
        </p:nvSpPr>
        <p:spPr>
          <a:xfrm>
            <a:off x="998130" y="1222268"/>
            <a:ext cx="10195739" cy="504904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8" name="投影片編號版面配置區 17">
            <a:extLst>
              <a:ext uri="{FF2B5EF4-FFF2-40B4-BE49-F238E27FC236}">
                <a16:creationId xmlns:a16="http://schemas.microsoft.com/office/drawing/2014/main" id="{9178F85B-987A-814A-DD70-B9D810BAD61F}"/>
              </a:ext>
            </a:extLst>
          </p:cNvPr>
          <p:cNvSpPr>
            <a:spLocks noGrp="1"/>
          </p:cNvSpPr>
          <p:nvPr>
            <p:ph type="sldNum" sz="quarter" idx="12"/>
          </p:nvPr>
        </p:nvSpPr>
        <p:spPr/>
        <p:txBody>
          <a:bodyPr/>
          <a:lstStyle/>
          <a:p>
            <a:fld id="{9232B33E-6CBB-4C23-BFFD-4D7045B4FE1F}" type="slidenum">
              <a:rPr lang="zh-CN" altLang="en-US" smtClean="0"/>
              <a:t>5</a:t>
            </a:fld>
            <a:endParaRPr lang="zh-CN" altLang="en-US"/>
          </a:p>
        </p:txBody>
      </p:sp>
      <p:pic>
        <p:nvPicPr>
          <p:cNvPr id="24" name="圖片 23" descr="一張含有 文字, 螢幕擷取畫面, 字型, 數字 的圖片&#10;&#10;自動產生的描述">
            <a:extLst>
              <a:ext uri="{FF2B5EF4-FFF2-40B4-BE49-F238E27FC236}">
                <a16:creationId xmlns:a16="http://schemas.microsoft.com/office/drawing/2014/main" id="{321BE166-12FC-855D-B24D-4A85B61EE7A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90348" y="1463457"/>
            <a:ext cx="2049983" cy="4588492"/>
          </a:xfrm>
          <a:prstGeom prst="rect">
            <a:avLst/>
          </a:prstGeom>
          <a:ln>
            <a:noFill/>
          </a:ln>
          <a:effectLst>
            <a:outerShdw blurRad="190500" algn="tl" rotWithShape="0">
              <a:srgbClr val="000000">
                <a:alpha val="70000"/>
              </a:srgbClr>
            </a:outerShdw>
          </a:effectLst>
        </p:spPr>
      </p:pic>
      <p:sp>
        <p:nvSpPr>
          <p:cNvPr id="25" name="文本框 10">
            <a:extLst>
              <a:ext uri="{FF2B5EF4-FFF2-40B4-BE49-F238E27FC236}">
                <a16:creationId xmlns:a16="http://schemas.microsoft.com/office/drawing/2014/main" id="{B6189D15-51E3-F812-6D19-07289BB45997}"/>
              </a:ext>
            </a:extLst>
          </p:cNvPr>
          <p:cNvSpPr txBox="1"/>
          <p:nvPr/>
        </p:nvSpPr>
        <p:spPr>
          <a:xfrm>
            <a:off x="3998783" y="1928262"/>
            <a:ext cx="4566497" cy="4480842"/>
          </a:xfrm>
          <a:prstGeom prst="rect">
            <a:avLst/>
          </a:prstGeom>
          <a:noFill/>
        </p:spPr>
        <p:txBody>
          <a:bodyPr wrap="square" rtlCol="0">
            <a:spAutoFit/>
          </a:bodyPr>
          <a:lstStyle/>
          <a:p>
            <a:pPr marL="342900" indent="-342900">
              <a:lnSpc>
                <a:spcPct val="150000"/>
              </a:lnSpc>
              <a:buFont typeface="+mj-lt"/>
              <a:buAutoNum type="arabicPeriod"/>
            </a:pPr>
            <a:r>
              <a:rPr lang="zh-TW" altLang="en-US" sz="1600" b="0" i="0">
                <a:effectLst/>
                <a:latin typeface="gg sans"/>
              </a:rPr>
              <a:t>量化等級</a:t>
            </a:r>
            <a:r>
              <a:rPr lang="zh-TW" altLang="en-US" sz="1600">
                <a:cs typeface="+mn-ea"/>
                <a:sym typeface="+mn-lt"/>
              </a:rPr>
              <a:t>：</a:t>
            </a:r>
          </a:p>
          <a:p>
            <a:pPr marL="742950" lvl="1" indent="-285750">
              <a:lnSpc>
                <a:spcPct val="150000"/>
              </a:lnSpc>
              <a:buFont typeface="微软雅黑" panose="020B0503020204020204" pitchFamily="34" charset="-122"/>
              <a:buChar char="−"/>
            </a:pPr>
            <a:r>
              <a:rPr lang="zh-TW" altLang="en-US" sz="1600">
                <a:cs typeface="+mn-ea"/>
              </a:rPr>
              <a:t>將連續的音訊訊號轉換為離散的數字值</a:t>
            </a:r>
            <a:endParaRPr lang="en-US" altLang="zh-TW" sz="1600">
              <a:cs typeface="+mn-ea"/>
            </a:endParaRPr>
          </a:p>
          <a:p>
            <a:pPr marL="742950" lvl="1" indent="-285750">
              <a:lnSpc>
                <a:spcPct val="150000"/>
              </a:lnSpc>
              <a:buFont typeface="微软雅黑" panose="020B0503020204020204" pitchFamily="34" charset="-122"/>
              <a:buChar char="−"/>
            </a:pPr>
            <a:r>
              <a:rPr lang="zh-TW" altLang="en-US" sz="1600">
                <a:cs typeface="+mn-ea"/>
              </a:rPr>
              <a:t>影響音訊的動態範圍和精確度</a:t>
            </a:r>
            <a:endParaRPr lang="en-US" altLang="zh-TW" sz="1600">
              <a:cs typeface="+mn-ea"/>
            </a:endParaRPr>
          </a:p>
          <a:p>
            <a:pPr marL="342900" indent="-342900">
              <a:lnSpc>
                <a:spcPct val="150000"/>
              </a:lnSpc>
              <a:buFont typeface="+mj-lt"/>
              <a:buAutoNum type="arabicPeriod"/>
            </a:pPr>
            <a:r>
              <a:rPr lang="zh-TW" altLang="en-US" sz="1600" b="0" i="0">
                <a:effectLst/>
                <a:latin typeface="gg sans"/>
              </a:rPr>
              <a:t>截止頻率</a:t>
            </a:r>
            <a:r>
              <a:rPr lang="en-US" altLang="zh-TW" sz="1600" b="0" i="0">
                <a:effectLst/>
                <a:latin typeface="gg sans"/>
              </a:rPr>
              <a:t>:</a:t>
            </a:r>
          </a:p>
          <a:p>
            <a:pPr marL="800100" lvl="1" indent="-342900">
              <a:lnSpc>
                <a:spcPct val="150000"/>
              </a:lnSpc>
              <a:buFontTx/>
              <a:buChar char="─"/>
            </a:pPr>
            <a:r>
              <a:rPr lang="zh-TW" altLang="en-US" sz="1600">
                <a:cs typeface="+mn-ea"/>
              </a:rPr>
              <a:t>決定低通濾波器的截止頻率</a:t>
            </a:r>
            <a:endParaRPr lang="en-US" altLang="zh-TW" sz="1600">
              <a:cs typeface="+mn-ea"/>
            </a:endParaRPr>
          </a:p>
          <a:p>
            <a:pPr marL="800100" lvl="1" indent="-342900">
              <a:lnSpc>
                <a:spcPct val="150000"/>
              </a:lnSpc>
              <a:buFontTx/>
              <a:buChar char="─"/>
            </a:pPr>
            <a:r>
              <a:rPr lang="zh-TW" altLang="en-US" sz="1600">
                <a:cs typeface="+mn-ea"/>
              </a:rPr>
              <a:t>過濾掉高於此頻率的聲音 </a:t>
            </a:r>
            <a:endParaRPr lang="en-US" altLang="zh-TW" sz="1600">
              <a:cs typeface="+mn-ea"/>
            </a:endParaRPr>
          </a:p>
          <a:p>
            <a:pPr marL="800100" lvl="1" indent="-342900">
              <a:lnSpc>
                <a:spcPct val="150000"/>
              </a:lnSpc>
              <a:buFontTx/>
              <a:buChar char="─"/>
            </a:pPr>
            <a:r>
              <a:rPr lang="zh-TW" altLang="en-US" sz="1600">
                <a:cs typeface="+mn-ea"/>
              </a:rPr>
              <a:t>控制音訊的頻寬</a:t>
            </a:r>
            <a:endParaRPr lang="en-US" altLang="zh-TW" sz="1600">
              <a:cs typeface="+mn-ea"/>
            </a:endParaRPr>
          </a:p>
          <a:p>
            <a:pPr marL="342900" indent="-342900">
              <a:lnSpc>
                <a:spcPct val="150000"/>
              </a:lnSpc>
              <a:buFont typeface="+mj-lt"/>
              <a:buAutoNum type="arabicPeriod"/>
            </a:pPr>
            <a:r>
              <a:rPr lang="zh-TW" altLang="en-US" sz="1600" b="0" i="0">
                <a:effectLst/>
                <a:latin typeface="gg sans"/>
              </a:rPr>
              <a:t>濾波器階數</a:t>
            </a:r>
            <a:r>
              <a:rPr lang="en-US" altLang="zh-TW" sz="1600" b="0" i="0">
                <a:effectLst/>
                <a:latin typeface="gg sans"/>
              </a:rPr>
              <a:t>:</a:t>
            </a:r>
          </a:p>
          <a:p>
            <a:pPr marL="800100" lvl="1" indent="-342900">
              <a:lnSpc>
                <a:spcPct val="150000"/>
              </a:lnSpc>
              <a:buFontTx/>
              <a:buChar char="−"/>
            </a:pPr>
            <a:r>
              <a:rPr lang="zh-TW" altLang="en-US" sz="1600">
                <a:cs typeface="+mn-ea"/>
              </a:rPr>
              <a:t>決定濾波器的複雜度和精確度 </a:t>
            </a:r>
            <a:endParaRPr lang="en-US" altLang="zh-TW" sz="1600">
              <a:cs typeface="+mn-ea"/>
            </a:endParaRPr>
          </a:p>
          <a:p>
            <a:pPr marL="800100" lvl="1" indent="-342900">
              <a:lnSpc>
                <a:spcPct val="150000"/>
              </a:lnSpc>
              <a:buFontTx/>
              <a:buChar char="−"/>
            </a:pPr>
            <a:r>
              <a:rPr lang="zh-TW" altLang="en-US" sz="1600">
                <a:cs typeface="+mn-ea"/>
              </a:rPr>
              <a:t>影響濾波器的頻率響應特性 </a:t>
            </a:r>
            <a:endParaRPr lang="en-US" altLang="zh-TW" sz="1600">
              <a:cs typeface="+mn-ea"/>
            </a:endParaRPr>
          </a:p>
          <a:p>
            <a:pPr marL="800100" lvl="1" indent="-342900">
              <a:lnSpc>
                <a:spcPct val="150000"/>
              </a:lnSpc>
              <a:buFontTx/>
              <a:buChar char="−"/>
            </a:pPr>
            <a:r>
              <a:rPr lang="zh-TW" altLang="en-US" sz="1600">
                <a:cs typeface="+mn-ea"/>
              </a:rPr>
              <a:t>控制濾波器的相位延遲</a:t>
            </a:r>
            <a:endParaRPr lang="en-US" altLang="zh-TW" sz="1600">
              <a:cs typeface="+mn-ea"/>
              <a:sym typeface="+mn-lt"/>
            </a:endParaRPr>
          </a:p>
          <a:p>
            <a:pPr>
              <a:lnSpc>
                <a:spcPct val="150000"/>
              </a:lnSpc>
            </a:pPr>
            <a:endParaRPr lang="en-US" altLang="zh-TW" sz="1600">
              <a:cs typeface="+mn-ea"/>
              <a:sym typeface="+mn-lt"/>
            </a:endParaRPr>
          </a:p>
        </p:txBody>
      </p:sp>
      <p:pic>
        <p:nvPicPr>
          <p:cNvPr id="3" name="圖片 2" descr="一張含有 文字, 螢幕擷取畫面, 字型, 數字 的圖片&#10;&#10;自動產生的描述">
            <a:extLst>
              <a:ext uri="{FF2B5EF4-FFF2-40B4-BE49-F238E27FC236}">
                <a16:creationId xmlns:a16="http://schemas.microsoft.com/office/drawing/2014/main" id="{7E48E4DA-08FD-588F-C414-774000E4FF4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484296" y="1463457"/>
            <a:ext cx="2181175" cy="4588492"/>
          </a:xfrm>
          <a:prstGeom prst="rect">
            <a:avLst/>
          </a:prstGeom>
          <a:ln>
            <a:noFill/>
          </a:ln>
          <a:effectLst>
            <a:outerShdw blurRad="190500" algn="tl" rotWithShape="0">
              <a:srgbClr val="000000">
                <a:alpha val="70000"/>
              </a:srgbClr>
            </a:outerShdw>
          </a:effectLst>
        </p:spPr>
      </p:pic>
      <p:sp>
        <p:nvSpPr>
          <p:cNvPr id="29" name="矩形 28">
            <a:extLst>
              <a:ext uri="{FF2B5EF4-FFF2-40B4-BE49-F238E27FC236}">
                <a16:creationId xmlns:a16="http://schemas.microsoft.com/office/drawing/2014/main" id="{96BF159C-236A-633E-464A-8FE2C191BE85}"/>
              </a:ext>
            </a:extLst>
          </p:cNvPr>
          <p:cNvSpPr/>
          <p:nvPr/>
        </p:nvSpPr>
        <p:spPr>
          <a:xfrm>
            <a:off x="8527180" y="2229833"/>
            <a:ext cx="1921745" cy="1151541"/>
          </a:xfrm>
          <a:prstGeom prst="rect">
            <a:avLst/>
          </a:prstGeom>
          <a:noFill/>
          <a:ln w="28575">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3" name="矩形 32">
            <a:extLst>
              <a:ext uri="{FF2B5EF4-FFF2-40B4-BE49-F238E27FC236}">
                <a16:creationId xmlns:a16="http://schemas.microsoft.com/office/drawing/2014/main" id="{B2C0310A-222D-E453-8654-02FA1F202CA5}"/>
              </a:ext>
            </a:extLst>
          </p:cNvPr>
          <p:cNvSpPr/>
          <p:nvPr/>
        </p:nvSpPr>
        <p:spPr>
          <a:xfrm>
            <a:off x="5167084" y="1411496"/>
            <a:ext cx="1857829" cy="46445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a:t>GUI</a:t>
            </a:r>
            <a:r>
              <a:rPr lang="zh-TW" altLang="en-US"/>
              <a:t>界面</a:t>
            </a:r>
            <a:endParaRPr lang="zh-CN" altLang="en-US">
              <a:cs typeface="+mn-ea"/>
              <a:sym typeface="+mn-lt"/>
            </a:endParaRPr>
          </a:p>
        </p:txBody>
      </p:sp>
      <p:sp>
        <p:nvSpPr>
          <p:cNvPr id="2" name="矩形 1">
            <a:extLst>
              <a:ext uri="{FF2B5EF4-FFF2-40B4-BE49-F238E27FC236}">
                <a16:creationId xmlns:a16="http://schemas.microsoft.com/office/drawing/2014/main" id="{9B58E2C6-86C4-F526-90C0-C54530C2B89B}"/>
              </a:ext>
            </a:extLst>
          </p:cNvPr>
          <p:cNvSpPr/>
          <p:nvPr/>
        </p:nvSpPr>
        <p:spPr>
          <a:xfrm>
            <a:off x="1653314" y="2229834"/>
            <a:ext cx="1885950" cy="537910"/>
          </a:xfrm>
          <a:prstGeom prst="rect">
            <a:avLst/>
          </a:prstGeom>
          <a:noFill/>
          <a:ln w="38100">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solidFill>
                <a:srgbClr val="FF0000"/>
              </a:solidFill>
            </a:endParaRPr>
          </a:p>
        </p:txBody>
      </p:sp>
    </p:spTree>
    <p:custDataLst>
      <p:tags r:id="rId1"/>
    </p:custDataLst>
    <p:extLst>
      <p:ext uri="{BB962C8B-B14F-4D97-AF65-F5344CB8AC3E}">
        <p14:creationId xmlns:p14="http://schemas.microsoft.com/office/powerpoint/2010/main" val="141315273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9"/>
                                        </p:tgtEl>
                                        <p:attrNameLst>
                                          <p:attrName>style.visibility</p:attrName>
                                        </p:attrNameLst>
                                      </p:cBhvr>
                                      <p:to>
                                        <p:strVal val="visible"/>
                                      </p:to>
                                    </p:set>
                                    <p:animEffect transition="in" filter="fade">
                                      <p:cBhvr>
                                        <p:cTn id="14" dur="1000"/>
                                        <p:tgtEl>
                                          <p:spTgt spid="29"/>
                                        </p:tgtEl>
                                      </p:cBhvr>
                                    </p:animEffect>
                                    <p:anim calcmode="lin" valueType="num">
                                      <p:cBhvr>
                                        <p:cTn id="15" dur="1000" fill="hold"/>
                                        <p:tgtEl>
                                          <p:spTgt spid="29"/>
                                        </p:tgtEl>
                                        <p:attrNameLst>
                                          <p:attrName>ppt_x</p:attrName>
                                        </p:attrNameLst>
                                      </p:cBhvr>
                                      <p:tavLst>
                                        <p:tav tm="0">
                                          <p:val>
                                            <p:strVal val="#ppt_x"/>
                                          </p:val>
                                        </p:tav>
                                        <p:tav tm="100000">
                                          <p:val>
                                            <p:strVal val="#ppt_x"/>
                                          </p:val>
                                        </p:tav>
                                      </p:tavLst>
                                    </p:anim>
                                    <p:anim calcmode="lin" valueType="num">
                                      <p:cBhvr>
                                        <p:cTn id="16"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D1B180-79C1-9609-A232-40FD0EA793A8}"/>
            </a:ext>
          </a:extLst>
        </p:cNvPr>
        <p:cNvGrpSpPr/>
        <p:nvPr/>
      </p:nvGrpSpPr>
      <p:grpSpPr>
        <a:xfrm>
          <a:off x="0" y="0"/>
          <a:ext cx="0" cy="0"/>
          <a:chOff x="0" y="0"/>
          <a:chExt cx="0" cy="0"/>
        </a:xfrm>
      </p:grpSpPr>
      <p:grpSp>
        <p:nvGrpSpPr>
          <p:cNvPr id="34" name="组合 33">
            <a:extLst>
              <a:ext uri="{FF2B5EF4-FFF2-40B4-BE49-F238E27FC236}">
                <a16:creationId xmlns:a16="http://schemas.microsoft.com/office/drawing/2014/main" id="{2D0E7399-C868-6754-C2B8-35EDA3E52C51}"/>
              </a:ext>
            </a:extLst>
          </p:cNvPr>
          <p:cNvGrpSpPr/>
          <p:nvPr/>
        </p:nvGrpSpPr>
        <p:grpSpPr>
          <a:xfrm>
            <a:off x="0" y="495445"/>
            <a:ext cx="12192000" cy="381000"/>
            <a:chOff x="0" y="457345"/>
            <a:chExt cx="12192000" cy="381000"/>
          </a:xfrm>
        </p:grpSpPr>
        <p:cxnSp>
          <p:nvCxnSpPr>
            <p:cNvPr id="4" name="直接连接符 3">
              <a:extLst>
                <a:ext uri="{FF2B5EF4-FFF2-40B4-BE49-F238E27FC236}">
                  <a16:creationId xmlns:a16="http://schemas.microsoft.com/office/drawing/2014/main" id="{B1E3AA53-3164-FA7F-B10C-BDAD351B587F}"/>
                </a:ext>
              </a:extLst>
            </p:cNvPr>
            <p:cNvCxnSpPr/>
            <p:nvPr/>
          </p:nvCxnSpPr>
          <p:spPr>
            <a:xfrm>
              <a:off x="0" y="647845"/>
              <a:ext cx="12192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 name="组合 4">
              <a:extLst>
                <a:ext uri="{FF2B5EF4-FFF2-40B4-BE49-F238E27FC236}">
                  <a16:creationId xmlns:a16="http://schemas.microsoft.com/office/drawing/2014/main" id="{7A4FF8A7-0992-0287-EA4F-C5BA378B6F7D}"/>
                </a:ext>
              </a:extLst>
            </p:cNvPr>
            <p:cNvGrpSpPr/>
            <p:nvPr/>
          </p:nvGrpSpPr>
          <p:grpSpPr>
            <a:xfrm rot="10800000">
              <a:off x="11060824" y="457345"/>
              <a:ext cx="656896" cy="381000"/>
              <a:chOff x="307428" y="393221"/>
              <a:chExt cx="656896" cy="381000"/>
            </a:xfrm>
          </p:grpSpPr>
          <p:sp>
            <p:nvSpPr>
              <p:cNvPr id="6" name="等腰三角形 5">
                <a:extLst>
                  <a:ext uri="{FF2B5EF4-FFF2-40B4-BE49-F238E27FC236}">
                    <a16:creationId xmlns:a16="http://schemas.microsoft.com/office/drawing/2014/main" id="{E55ECCDD-12D5-955D-D099-19B270BC7E8B}"/>
                  </a:ext>
                </a:extLst>
              </p:cNvPr>
              <p:cNvSpPr/>
              <p:nvPr/>
            </p:nvSpPr>
            <p:spPr>
              <a:xfrm rot="5400000">
                <a:off x="281152" y="419497"/>
                <a:ext cx="381000" cy="32844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 name="等腰三角形 6">
                <a:extLst>
                  <a:ext uri="{FF2B5EF4-FFF2-40B4-BE49-F238E27FC236}">
                    <a16:creationId xmlns:a16="http://schemas.microsoft.com/office/drawing/2014/main" id="{EF5DB043-01B3-9052-15BD-E808A9AE932B}"/>
                  </a:ext>
                </a:extLst>
              </p:cNvPr>
              <p:cNvSpPr/>
              <p:nvPr/>
            </p:nvSpPr>
            <p:spPr>
              <a:xfrm rot="5400000">
                <a:off x="609600" y="419497"/>
                <a:ext cx="381000" cy="32844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sp>
        <p:nvSpPr>
          <p:cNvPr id="8" name="文本框 7">
            <a:extLst>
              <a:ext uri="{FF2B5EF4-FFF2-40B4-BE49-F238E27FC236}">
                <a16:creationId xmlns:a16="http://schemas.microsoft.com/office/drawing/2014/main" id="{9FB7280D-A1DD-F28D-D310-9786D30D9187}"/>
              </a:ext>
            </a:extLst>
          </p:cNvPr>
          <p:cNvSpPr txBox="1"/>
          <p:nvPr/>
        </p:nvSpPr>
        <p:spPr>
          <a:xfrm>
            <a:off x="358324" y="209635"/>
            <a:ext cx="936104" cy="400110"/>
          </a:xfrm>
          <a:prstGeom prst="rect">
            <a:avLst/>
          </a:prstGeom>
          <a:solidFill>
            <a:schemeClr val="tx1"/>
          </a:solidFill>
        </p:spPr>
        <p:txBody>
          <a:bodyPr wrap="square" rtlCol="0">
            <a:spAutoFit/>
          </a:bodyPr>
          <a:lstStyle/>
          <a:p>
            <a:pPr algn="ctr"/>
            <a:endParaRPr lang="zh-CN" altLang="en-US" sz="2000">
              <a:solidFill>
                <a:schemeClr val="bg1"/>
              </a:solidFill>
              <a:cs typeface="+mn-ea"/>
              <a:sym typeface="+mn-lt"/>
            </a:endParaRPr>
          </a:p>
        </p:txBody>
      </p:sp>
      <p:cxnSp>
        <p:nvCxnSpPr>
          <p:cNvPr id="9" name="直接连接符 8">
            <a:extLst>
              <a:ext uri="{FF2B5EF4-FFF2-40B4-BE49-F238E27FC236}">
                <a16:creationId xmlns:a16="http://schemas.microsoft.com/office/drawing/2014/main" id="{D2F12137-CCC6-E252-B629-C4F03EEE6E04}"/>
              </a:ext>
            </a:extLst>
          </p:cNvPr>
          <p:cNvCxnSpPr>
            <a:cxnSpLocks/>
          </p:cNvCxnSpPr>
          <p:nvPr/>
        </p:nvCxnSpPr>
        <p:spPr>
          <a:xfrm flipV="1">
            <a:off x="1965975" y="3880579"/>
            <a:ext cx="10292700" cy="11648"/>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grpSp>
        <p:nvGrpSpPr>
          <p:cNvPr id="10" name="组合 9">
            <a:extLst>
              <a:ext uri="{FF2B5EF4-FFF2-40B4-BE49-F238E27FC236}">
                <a16:creationId xmlns:a16="http://schemas.microsoft.com/office/drawing/2014/main" id="{F450BD68-E080-F0E3-0ED9-9EFC8FC1BE2E}"/>
              </a:ext>
            </a:extLst>
          </p:cNvPr>
          <p:cNvGrpSpPr/>
          <p:nvPr/>
        </p:nvGrpSpPr>
        <p:grpSpPr>
          <a:xfrm>
            <a:off x="2599069" y="959545"/>
            <a:ext cx="3796856" cy="2351191"/>
            <a:chOff x="1750601" y="1611478"/>
            <a:chExt cx="2336210" cy="2351191"/>
          </a:xfrm>
        </p:grpSpPr>
        <p:sp>
          <p:nvSpPr>
            <p:cNvPr id="11" name="文本框 10">
              <a:extLst>
                <a:ext uri="{FF2B5EF4-FFF2-40B4-BE49-F238E27FC236}">
                  <a16:creationId xmlns:a16="http://schemas.microsoft.com/office/drawing/2014/main" id="{B0A93B1C-7FCC-E76A-DC45-8683EDF3F935}"/>
                </a:ext>
              </a:extLst>
            </p:cNvPr>
            <p:cNvSpPr txBox="1"/>
            <p:nvPr/>
          </p:nvSpPr>
          <p:spPr>
            <a:xfrm>
              <a:off x="1750601" y="1611478"/>
              <a:ext cx="2013515" cy="461665"/>
            </a:xfrm>
            <a:prstGeom prst="rect">
              <a:avLst/>
            </a:prstGeom>
            <a:noFill/>
          </p:spPr>
          <p:txBody>
            <a:bodyPr wrap="square" rtlCol="0">
              <a:spAutoFit/>
            </a:bodyPr>
            <a:lstStyle/>
            <a:p>
              <a:r>
                <a:rPr lang="zh-CN" altLang="en-US" sz="2400">
                  <a:cs typeface="+mn-ea"/>
                  <a:sym typeface="+mn-lt"/>
                </a:rPr>
                <a:t>數據接收</a:t>
              </a:r>
              <a:r>
                <a:rPr lang="zh-TW" altLang="en-US" sz="2400"/>
                <a:t>與處理</a:t>
              </a:r>
              <a:endParaRPr lang="zh-CN" altLang="en-US" sz="2400">
                <a:cs typeface="+mn-ea"/>
                <a:sym typeface="+mn-lt"/>
              </a:endParaRPr>
            </a:p>
          </p:txBody>
        </p:sp>
        <p:sp>
          <p:nvSpPr>
            <p:cNvPr id="12" name="文本框 11">
              <a:extLst>
                <a:ext uri="{FF2B5EF4-FFF2-40B4-BE49-F238E27FC236}">
                  <a16:creationId xmlns:a16="http://schemas.microsoft.com/office/drawing/2014/main" id="{150D876D-0592-4279-4D50-037B1B263285}"/>
                </a:ext>
              </a:extLst>
            </p:cNvPr>
            <p:cNvSpPr txBox="1"/>
            <p:nvPr/>
          </p:nvSpPr>
          <p:spPr>
            <a:xfrm>
              <a:off x="1750601" y="1969431"/>
              <a:ext cx="2336210" cy="1993238"/>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TW" altLang="en-US" sz="1400" b="1"/>
                <a:t>接收數據包</a:t>
              </a:r>
              <a:r>
                <a:rPr lang="zh-TW" altLang="en-US" sz="1400">
                  <a:cs typeface="+mn-ea"/>
                  <a:sym typeface="+mn-lt"/>
                </a:rPr>
                <a:t>：</a:t>
              </a:r>
              <a:r>
                <a:rPr lang="zh-TW" altLang="en-US" sz="1400"/>
                <a:t>通過 </a:t>
              </a:r>
              <a:r>
                <a:rPr lang="en-US" altLang="zh-TW" sz="1400"/>
                <a:t>UDP </a:t>
              </a:r>
              <a:r>
                <a:rPr lang="zh-TW" altLang="en-US" sz="1400"/>
                <a:t>接收數據包。</a:t>
              </a:r>
              <a:endParaRPr lang="en-US" altLang="zh-TW" sz="1400"/>
            </a:p>
            <a:p>
              <a:pPr marL="285750" indent="-285750">
                <a:lnSpc>
                  <a:spcPct val="150000"/>
                </a:lnSpc>
                <a:buFont typeface="Arial" panose="020B0604020202020204" pitchFamily="34" charset="0"/>
                <a:buChar char="•"/>
              </a:pPr>
              <a:r>
                <a:rPr lang="zh-TW" altLang="en-US" sz="1400" b="1"/>
                <a:t>檢查數據包長度</a:t>
              </a:r>
              <a:r>
                <a:rPr lang="zh-TW" altLang="en-US" sz="1400"/>
                <a:t>：確保符合預期長度，避免空包或不完整。</a:t>
              </a:r>
              <a:endParaRPr lang="en-US" altLang="zh-TW" sz="1400"/>
            </a:p>
            <a:p>
              <a:pPr marL="285750" indent="-285750">
                <a:lnSpc>
                  <a:spcPct val="150000"/>
                </a:lnSpc>
                <a:buFont typeface="Arial" panose="020B0604020202020204" pitchFamily="34" charset="0"/>
                <a:buChar char="•"/>
              </a:pPr>
              <a:r>
                <a:rPr lang="zh-TW" altLang="en-US" sz="1400" b="1"/>
                <a:t>解析數據包</a:t>
              </a:r>
              <a:r>
                <a:rPr lang="zh-TW" altLang="en-US" sz="1400"/>
                <a:t>：提取序號、有效數據和校驗碼等關鍵資訊。</a:t>
              </a:r>
              <a:endParaRPr lang="en-US" altLang="zh-TW" sz="1400"/>
            </a:p>
            <a:p>
              <a:pPr marL="285750" indent="-285750">
                <a:lnSpc>
                  <a:spcPct val="150000"/>
                </a:lnSpc>
                <a:buFont typeface="Arial" panose="020B0604020202020204" pitchFamily="34" charset="0"/>
                <a:buChar char="•"/>
              </a:pPr>
              <a:r>
                <a:rPr lang="zh-TW" altLang="en-US" sz="1400" b="1">
                  <a:cs typeface="+mn-ea"/>
                  <a:sym typeface="+mn-lt"/>
                </a:rPr>
                <a:t>驗證 </a:t>
              </a:r>
              <a:r>
                <a:rPr lang="en-US" altLang="zh-TW" sz="1400" b="1">
                  <a:cs typeface="+mn-ea"/>
                  <a:sym typeface="+mn-lt"/>
                </a:rPr>
                <a:t>CRC </a:t>
              </a:r>
              <a:r>
                <a:rPr lang="zh-TW" altLang="en-US" sz="1400" b="1">
                  <a:cs typeface="+mn-ea"/>
                  <a:sym typeface="+mn-lt"/>
                </a:rPr>
                <a:t>校驗碼</a:t>
              </a:r>
              <a:r>
                <a:rPr lang="zh-TW" altLang="en-US" sz="1400"/>
                <a:t>：確保數據未受損或篡改。</a:t>
              </a:r>
              <a:endParaRPr lang="en-US" altLang="zh-TW" sz="1400">
                <a:cs typeface="+mn-ea"/>
                <a:sym typeface="+mn-lt"/>
              </a:endParaRPr>
            </a:p>
          </p:txBody>
        </p:sp>
      </p:grpSp>
      <p:grpSp>
        <p:nvGrpSpPr>
          <p:cNvPr id="13" name="组合 12">
            <a:extLst>
              <a:ext uri="{FF2B5EF4-FFF2-40B4-BE49-F238E27FC236}">
                <a16:creationId xmlns:a16="http://schemas.microsoft.com/office/drawing/2014/main" id="{8756BF05-F4F9-643C-D76B-9E207419AB53}"/>
              </a:ext>
            </a:extLst>
          </p:cNvPr>
          <p:cNvGrpSpPr/>
          <p:nvPr/>
        </p:nvGrpSpPr>
        <p:grpSpPr>
          <a:xfrm>
            <a:off x="4729499" y="4482892"/>
            <a:ext cx="4098877" cy="2136946"/>
            <a:chOff x="3632490" y="4315010"/>
            <a:chExt cx="2759080" cy="2136946"/>
          </a:xfrm>
        </p:grpSpPr>
        <p:sp>
          <p:nvSpPr>
            <p:cNvPr id="14" name="文本框 13">
              <a:extLst>
                <a:ext uri="{FF2B5EF4-FFF2-40B4-BE49-F238E27FC236}">
                  <a16:creationId xmlns:a16="http://schemas.microsoft.com/office/drawing/2014/main" id="{9FC5F6D4-F97E-D25F-0B74-A80D71837523}"/>
                </a:ext>
              </a:extLst>
            </p:cNvPr>
            <p:cNvSpPr txBox="1"/>
            <p:nvPr/>
          </p:nvSpPr>
          <p:spPr>
            <a:xfrm>
              <a:off x="3632490" y="4315010"/>
              <a:ext cx="2759080" cy="461665"/>
            </a:xfrm>
            <a:prstGeom prst="rect">
              <a:avLst/>
            </a:prstGeom>
            <a:noFill/>
          </p:spPr>
          <p:txBody>
            <a:bodyPr wrap="square" rtlCol="0">
              <a:spAutoFit/>
            </a:bodyPr>
            <a:lstStyle/>
            <a:p>
              <a:r>
                <a:rPr lang="zh-TW" altLang="en-US" sz="2400">
                  <a:cs typeface="+mn-ea"/>
                  <a:sym typeface="+mn-lt"/>
                </a:rPr>
                <a:t>數據組裝與緩衝處理</a:t>
              </a:r>
              <a:endParaRPr lang="zh-CN" altLang="en-US" sz="2400">
                <a:cs typeface="+mn-ea"/>
                <a:sym typeface="+mn-lt"/>
              </a:endParaRPr>
            </a:p>
          </p:txBody>
        </p:sp>
        <p:sp>
          <p:nvSpPr>
            <p:cNvPr id="15" name="文本框 14">
              <a:extLst>
                <a:ext uri="{FF2B5EF4-FFF2-40B4-BE49-F238E27FC236}">
                  <a16:creationId xmlns:a16="http://schemas.microsoft.com/office/drawing/2014/main" id="{AB7C4C67-E864-C8A7-8663-2454B778B579}"/>
                </a:ext>
              </a:extLst>
            </p:cNvPr>
            <p:cNvSpPr txBox="1"/>
            <p:nvPr/>
          </p:nvSpPr>
          <p:spPr>
            <a:xfrm>
              <a:off x="3632491" y="4781883"/>
              <a:ext cx="2618393" cy="1670073"/>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TW" altLang="en-US" sz="1400" b="1">
                  <a:cs typeface="+mn-ea"/>
                  <a:sym typeface="+mn-lt"/>
                </a:rPr>
                <a:t>緩衝區處理</a:t>
              </a:r>
              <a:r>
                <a:rPr lang="zh-TW" altLang="en-US" sz="1400">
                  <a:cs typeface="+mn-ea"/>
                  <a:sym typeface="+mn-lt"/>
                </a:rPr>
                <a:t>：將接收到的數據包存入緩衝區。</a:t>
              </a:r>
              <a:endParaRPr lang="en-US" altLang="zh-TW" sz="1400">
                <a:cs typeface="+mn-ea"/>
                <a:sym typeface="+mn-lt"/>
              </a:endParaRPr>
            </a:p>
            <a:p>
              <a:pPr marL="285750" indent="-285750">
                <a:lnSpc>
                  <a:spcPct val="150000"/>
                </a:lnSpc>
                <a:buFont typeface="Arial" panose="020B0604020202020204" pitchFamily="34" charset="0"/>
                <a:buChar char="•"/>
              </a:pPr>
              <a:r>
                <a:rPr lang="zh-TW" altLang="en-US" sz="1400" b="1">
                  <a:cs typeface="+mn-ea"/>
                  <a:sym typeface="+mn-lt"/>
                </a:rPr>
                <a:t>檢查完整數據包</a:t>
              </a:r>
              <a:r>
                <a:rPr lang="zh-TW" altLang="en-US" sz="1400">
                  <a:cs typeface="+mn-ea"/>
                  <a:sym typeface="+mn-lt"/>
                </a:rPr>
                <a:t>：判斷是否已接收完所有數據包，準備組裝完整數據。</a:t>
              </a:r>
              <a:endParaRPr lang="en-US" altLang="zh-TW" sz="1400">
                <a:cs typeface="+mn-ea"/>
                <a:sym typeface="+mn-lt"/>
              </a:endParaRPr>
            </a:p>
            <a:p>
              <a:pPr marL="285750" indent="-285750">
                <a:lnSpc>
                  <a:spcPct val="150000"/>
                </a:lnSpc>
                <a:buFont typeface="Arial" panose="020B0604020202020204" pitchFamily="34" charset="0"/>
                <a:buChar char="•"/>
              </a:pPr>
              <a:r>
                <a:rPr lang="zh-TW" altLang="en-US" sz="1400" b="1">
                  <a:cs typeface="+mn-ea"/>
                  <a:sym typeface="+mn-lt"/>
                </a:rPr>
                <a:t>組裝完整數據包</a:t>
              </a:r>
              <a:r>
                <a:rPr lang="zh-TW" altLang="en-US" sz="1400">
                  <a:cs typeface="+mn-ea"/>
                  <a:sym typeface="+mn-lt"/>
                </a:rPr>
                <a:t>：根據序號排序並組裝所有數據包，還原完整的語音數據塊。</a:t>
              </a:r>
              <a:endParaRPr lang="zh-CN" altLang="en-US" sz="1400">
                <a:cs typeface="+mn-ea"/>
                <a:sym typeface="+mn-lt"/>
              </a:endParaRPr>
            </a:p>
          </p:txBody>
        </p:sp>
      </p:grpSp>
      <p:grpSp>
        <p:nvGrpSpPr>
          <p:cNvPr id="16" name="组合 15">
            <a:extLst>
              <a:ext uri="{FF2B5EF4-FFF2-40B4-BE49-F238E27FC236}">
                <a16:creationId xmlns:a16="http://schemas.microsoft.com/office/drawing/2014/main" id="{CFE0D496-55E7-6B4F-429C-F9259017E047}"/>
              </a:ext>
            </a:extLst>
          </p:cNvPr>
          <p:cNvGrpSpPr/>
          <p:nvPr/>
        </p:nvGrpSpPr>
        <p:grpSpPr>
          <a:xfrm>
            <a:off x="7103235" y="909760"/>
            <a:ext cx="4614485" cy="2340824"/>
            <a:chOff x="5881220" y="1632525"/>
            <a:chExt cx="2497773" cy="2902307"/>
          </a:xfrm>
        </p:grpSpPr>
        <p:sp>
          <p:nvSpPr>
            <p:cNvPr id="17" name="文本框 16">
              <a:extLst>
                <a:ext uri="{FF2B5EF4-FFF2-40B4-BE49-F238E27FC236}">
                  <a16:creationId xmlns:a16="http://schemas.microsoft.com/office/drawing/2014/main" id="{07463759-E782-74E2-DDB5-BFB985864FBC}"/>
                </a:ext>
              </a:extLst>
            </p:cNvPr>
            <p:cNvSpPr txBox="1"/>
            <p:nvPr/>
          </p:nvSpPr>
          <p:spPr>
            <a:xfrm>
              <a:off x="5881220" y="1632525"/>
              <a:ext cx="1828800" cy="461665"/>
            </a:xfrm>
            <a:prstGeom prst="rect">
              <a:avLst/>
            </a:prstGeom>
            <a:noFill/>
          </p:spPr>
          <p:txBody>
            <a:bodyPr wrap="square" rtlCol="0">
              <a:spAutoFit/>
            </a:bodyPr>
            <a:lstStyle/>
            <a:p>
              <a:r>
                <a:rPr lang="zh-TW" altLang="en-US" sz="2400">
                  <a:cs typeface="+mn-ea"/>
                  <a:sym typeface="+mn-lt"/>
                </a:rPr>
                <a:t>數據還原與處理</a:t>
              </a:r>
              <a:endParaRPr lang="zh-CN" altLang="en-US" sz="2400">
                <a:cs typeface="+mn-ea"/>
                <a:sym typeface="+mn-lt"/>
              </a:endParaRPr>
            </a:p>
          </p:txBody>
        </p:sp>
        <p:sp>
          <p:nvSpPr>
            <p:cNvPr id="18" name="文本框 17">
              <a:extLst>
                <a:ext uri="{FF2B5EF4-FFF2-40B4-BE49-F238E27FC236}">
                  <a16:creationId xmlns:a16="http://schemas.microsoft.com/office/drawing/2014/main" id="{AF16CD67-633C-0786-DE89-1FFB333F386D}"/>
                </a:ext>
              </a:extLst>
            </p:cNvPr>
            <p:cNvSpPr txBox="1"/>
            <p:nvPr/>
          </p:nvSpPr>
          <p:spPr>
            <a:xfrm>
              <a:off x="5881220" y="2063485"/>
              <a:ext cx="2497773" cy="2471347"/>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TW" altLang="en-US" sz="1400" b="1">
                  <a:cs typeface="+mn-ea"/>
                  <a:sym typeface="+mn-lt"/>
                </a:rPr>
                <a:t>解密</a:t>
              </a:r>
              <a:r>
                <a:rPr lang="zh-TW" altLang="en-US" sz="1400">
                  <a:cs typeface="+mn-ea"/>
                  <a:sym typeface="+mn-lt"/>
                </a:rPr>
                <a:t>：執行解密還原原始數據。</a:t>
              </a:r>
              <a:endParaRPr lang="en-US" altLang="zh-TW" sz="1400">
                <a:cs typeface="+mn-ea"/>
                <a:sym typeface="+mn-lt"/>
              </a:endParaRPr>
            </a:p>
            <a:p>
              <a:pPr marL="285750" indent="-285750">
                <a:lnSpc>
                  <a:spcPct val="150000"/>
                </a:lnSpc>
                <a:buFont typeface="Arial" panose="020B0604020202020204" pitchFamily="34" charset="0"/>
                <a:buChar char="•"/>
              </a:pPr>
              <a:r>
                <a:rPr lang="zh-TW" altLang="en-US" sz="1400" b="1">
                  <a:cs typeface="+mn-ea"/>
                  <a:sym typeface="+mn-lt"/>
                </a:rPr>
                <a:t>轉換為 </a:t>
              </a:r>
              <a:r>
                <a:rPr lang="en-US" altLang="zh-TW" sz="1400" b="1">
                  <a:cs typeface="+mn-ea"/>
                  <a:sym typeface="+mn-lt"/>
                </a:rPr>
                <a:t>uint8 </a:t>
              </a:r>
              <a:r>
                <a:rPr lang="zh-TW" altLang="en-US" sz="1400" b="1">
                  <a:cs typeface="+mn-ea"/>
                  <a:sym typeface="+mn-lt"/>
                </a:rPr>
                <a:t>數組</a:t>
              </a:r>
              <a:r>
                <a:rPr lang="zh-TW" altLang="en-US" sz="1400">
                  <a:cs typeface="+mn-ea"/>
                  <a:sym typeface="+mn-lt"/>
                </a:rPr>
                <a:t>：將接收的數據轉換為音訊處理所需的 </a:t>
              </a:r>
              <a:r>
                <a:rPr lang="en-US" altLang="zh-TW" sz="1400">
                  <a:cs typeface="+mn-ea"/>
                  <a:sym typeface="+mn-lt"/>
                </a:rPr>
                <a:t>uint8 </a:t>
              </a:r>
              <a:r>
                <a:rPr lang="zh-TW" altLang="en-US" sz="1400">
                  <a:cs typeface="+mn-ea"/>
                  <a:sym typeface="+mn-lt"/>
                </a:rPr>
                <a:t>數組格式。</a:t>
              </a:r>
              <a:endParaRPr lang="en-US" altLang="zh-TW" sz="1400">
                <a:cs typeface="+mn-ea"/>
                <a:sym typeface="+mn-lt"/>
              </a:endParaRPr>
            </a:p>
            <a:p>
              <a:pPr marL="285750" indent="-285750">
                <a:lnSpc>
                  <a:spcPct val="150000"/>
                </a:lnSpc>
                <a:buFont typeface="Arial" panose="020B0604020202020204" pitchFamily="34" charset="0"/>
                <a:buChar char="•"/>
              </a:pPr>
              <a:r>
                <a:rPr lang="zh-TW" altLang="en-US" sz="1400" b="1">
                  <a:cs typeface="+mn-ea"/>
                  <a:sym typeface="+mn-lt"/>
                </a:rPr>
                <a:t>解交錯處理</a:t>
              </a:r>
              <a:r>
                <a:rPr lang="zh-TW" altLang="en-US" sz="1400">
                  <a:cs typeface="+mn-ea"/>
                  <a:sym typeface="+mn-lt"/>
                </a:rPr>
                <a:t>：還原經過交錯處理的數據順序，以抵抗傳輸干擾。</a:t>
              </a:r>
              <a:endParaRPr lang="en-US" altLang="zh-TW" sz="1400">
                <a:cs typeface="+mn-ea"/>
                <a:sym typeface="+mn-lt"/>
              </a:endParaRPr>
            </a:p>
            <a:p>
              <a:pPr marL="285750" indent="-285750">
                <a:lnSpc>
                  <a:spcPct val="150000"/>
                </a:lnSpc>
                <a:buFont typeface="Arial" panose="020B0604020202020204" pitchFamily="34" charset="0"/>
                <a:buChar char="•"/>
              </a:pPr>
              <a:r>
                <a:rPr lang="zh-TW" altLang="en-US" sz="1400" b="1">
                  <a:cs typeface="+mn-ea"/>
                  <a:sym typeface="+mn-lt"/>
                </a:rPr>
                <a:t>反量化</a:t>
              </a:r>
              <a:r>
                <a:rPr lang="zh-TW" altLang="en-US" sz="1400">
                  <a:cs typeface="+mn-ea"/>
                  <a:sym typeface="+mn-lt"/>
                </a:rPr>
                <a:t>：將量化數據轉換回近似的原始音訊訊號值。</a:t>
              </a:r>
              <a:endParaRPr lang="zh-CN" altLang="en-US" sz="1400">
                <a:cs typeface="+mn-ea"/>
                <a:sym typeface="+mn-lt"/>
              </a:endParaRPr>
            </a:p>
          </p:txBody>
        </p:sp>
      </p:grpSp>
      <p:grpSp>
        <p:nvGrpSpPr>
          <p:cNvPr id="22" name="组合 21">
            <a:extLst>
              <a:ext uri="{FF2B5EF4-FFF2-40B4-BE49-F238E27FC236}">
                <a16:creationId xmlns:a16="http://schemas.microsoft.com/office/drawing/2014/main" id="{52782354-AB96-F267-68AE-CD3665780C2F}"/>
              </a:ext>
            </a:extLst>
          </p:cNvPr>
          <p:cNvGrpSpPr/>
          <p:nvPr/>
        </p:nvGrpSpPr>
        <p:grpSpPr>
          <a:xfrm>
            <a:off x="3550025" y="3322384"/>
            <a:ext cx="65431" cy="603522"/>
            <a:chOff x="2816502" y="3101009"/>
            <a:chExt cx="65430" cy="603522"/>
          </a:xfrm>
        </p:grpSpPr>
        <p:cxnSp>
          <p:nvCxnSpPr>
            <p:cNvPr id="23" name="直接连接符 22">
              <a:extLst>
                <a:ext uri="{FF2B5EF4-FFF2-40B4-BE49-F238E27FC236}">
                  <a16:creationId xmlns:a16="http://schemas.microsoft.com/office/drawing/2014/main" id="{836000D0-6C4B-A82B-A8C0-F89B8353020E}"/>
                </a:ext>
              </a:extLst>
            </p:cNvPr>
            <p:cNvCxnSpPr/>
            <p:nvPr/>
          </p:nvCxnSpPr>
          <p:spPr>
            <a:xfrm flipV="1">
              <a:off x="2849217" y="3101009"/>
              <a:ext cx="0" cy="569843"/>
            </a:xfrm>
            <a:prstGeom prst="line">
              <a:avLst/>
            </a:prstGeom>
            <a:ln>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sp>
          <p:nvSpPr>
            <p:cNvPr id="24" name="椭圆 23">
              <a:extLst>
                <a:ext uri="{FF2B5EF4-FFF2-40B4-BE49-F238E27FC236}">
                  <a16:creationId xmlns:a16="http://schemas.microsoft.com/office/drawing/2014/main" id="{C9F8F067-6828-5A5A-80FE-04B96C4980AC}"/>
                </a:ext>
              </a:extLst>
            </p:cNvPr>
            <p:cNvSpPr/>
            <p:nvPr/>
          </p:nvSpPr>
          <p:spPr>
            <a:xfrm>
              <a:off x="2816502" y="3639101"/>
              <a:ext cx="65430" cy="6543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25" name="组合 24">
            <a:extLst>
              <a:ext uri="{FF2B5EF4-FFF2-40B4-BE49-F238E27FC236}">
                <a16:creationId xmlns:a16="http://schemas.microsoft.com/office/drawing/2014/main" id="{CA0979D1-7EC2-B9AE-1583-322621864801}"/>
              </a:ext>
            </a:extLst>
          </p:cNvPr>
          <p:cNvGrpSpPr/>
          <p:nvPr/>
        </p:nvGrpSpPr>
        <p:grpSpPr>
          <a:xfrm>
            <a:off x="6172842" y="3860476"/>
            <a:ext cx="65431" cy="595550"/>
            <a:chOff x="4804051" y="3645145"/>
            <a:chExt cx="65430" cy="595550"/>
          </a:xfrm>
        </p:grpSpPr>
        <p:cxnSp>
          <p:nvCxnSpPr>
            <p:cNvPr id="26" name="直接连接符 25">
              <a:extLst>
                <a:ext uri="{FF2B5EF4-FFF2-40B4-BE49-F238E27FC236}">
                  <a16:creationId xmlns:a16="http://schemas.microsoft.com/office/drawing/2014/main" id="{C18EF1A6-8FA6-7810-FF27-E27B0BCB01C1}"/>
                </a:ext>
              </a:extLst>
            </p:cNvPr>
            <p:cNvCxnSpPr/>
            <p:nvPr/>
          </p:nvCxnSpPr>
          <p:spPr>
            <a:xfrm flipV="1">
              <a:off x="4836668" y="3670852"/>
              <a:ext cx="0" cy="569843"/>
            </a:xfrm>
            <a:prstGeom prst="line">
              <a:avLst/>
            </a:prstGeom>
            <a:ln>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sp>
          <p:nvSpPr>
            <p:cNvPr id="27" name="椭圆 26">
              <a:extLst>
                <a:ext uri="{FF2B5EF4-FFF2-40B4-BE49-F238E27FC236}">
                  <a16:creationId xmlns:a16="http://schemas.microsoft.com/office/drawing/2014/main" id="{BD756CEB-C097-1574-E976-29A2EDD5C5D2}"/>
                </a:ext>
              </a:extLst>
            </p:cNvPr>
            <p:cNvSpPr/>
            <p:nvPr/>
          </p:nvSpPr>
          <p:spPr>
            <a:xfrm>
              <a:off x="4804051" y="3645145"/>
              <a:ext cx="65430" cy="6543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cs typeface="+mn-ea"/>
                  <a:sym typeface="+mn-lt"/>
                </a:rPr>
                <a:t> </a:t>
              </a:r>
              <a:endParaRPr lang="zh-CN" altLang="en-US">
                <a:cs typeface="+mn-ea"/>
                <a:sym typeface="+mn-lt"/>
              </a:endParaRPr>
            </a:p>
          </p:txBody>
        </p:sp>
      </p:grpSp>
      <p:grpSp>
        <p:nvGrpSpPr>
          <p:cNvPr id="28" name="组合 27">
            <a:extLst>
              <a:ext uri="{FF2B5EF4-FFF2-40B4-BE49-F238E27FC236}">
                <a16:creationId xmlns:a16="http://schemas.microsoft.com/office/drawing/2014/main" id="{A1BF67ED-4F2C-FF63-0FB5-0FC70AE2DD30}"/>
              </a:ext>
            </a:extLst>
          </p:cNvPr>
          <p:cNvGrpSpPr/>
          <p:nvPr/>
        </p:nvGrpSpPr>
        <p:grpSpPr>
          <a:xfrm>
            <a:off x="8828376" y="3310736"/>
            <a:ext cx="65431" cy="616847"/>
            <a:chOff x="6928264" y="3093728"/>
            <a:chExt cx="65430" cy="616847"/>
          </a:xfrm>
        </p:grpSpPr>
        <p:cxnSp>
          <p:nvCxnSpPr>
            <p:cNvPr id="29" name="直接连接符 28">
              <a:extLst>
                <a:ext uri="{FF2B5EF4-FFF2-40B4-BE49-F238E27FC236}">
                  <a16:creationId xmlns:a16="http://schemas.microsoft.com/office/drawing/2014/main" id="{57BCA51A-9DDD-2F67-5CC0-A6E017A58383}"/>
                </a:ext>
              </a:extLst>
            </p:cNvPr>
            <p:cNvCxnSpPr/>
            <p:nvPr/>
          </p:nvCxnSpPr>
          <p:spPr>
            <a:xfrm flipV="1">
              <a:off x="6960880" y="3093728"/>
              <a:ext cx="0" cy="569843"/>
            </a:xfrm>
            <a:prstGeom prst="line">
              <a:avLst/>
            </a:prstGeom>
            <a:ln>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sp>
          <p:nvSpPr>
            <p:cNvPr id="30" name="椭圆 29">
              <a:extLst>
                <a:ext uri="{FF2B5EF4-FFF2-40B4-BE49-F238E27FC236}">
                  <a16:creationId xmlns:a16="http://schemas.microsoft.com/office/drawing/2014/main" id="{616FFB18-0D65-4A0A-2610-36C5A183C0DA}"/>
                </a:ext>
              </a:extLst>
            </p:cNvPr>
            <p:cNvSpPr/>
            <p:nvPr/>
          </p:nvSpPr>
          <p:spPr>
            <a:xfrm>
              <a:off x="6928264" y="3645145"/>
              <a:ext cx="65430" cy="6543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cs typeface="+mn-ea"/>
                  <a:sym typeface="+mn-lt"/>
                </a:rPr>
                <a:t> </a:t>
              </a:r>
              <a:endParaRPr lang="zh-CN" altLang="en-US">
                <a:cs typeface="+mn-ea"/>
                <a:sym typeface="+mn-lt"/>
              </a:endParaRPr>
            </a:p>
          </p:txBody>
        </p:sp>
      </p:grpSp>
      <p:sp>
        <p:nvSpPr>
          <p:cNvPr id="2" name="矩形 1">
            <a:extLst>
              <a:ext uri="{FF2B5EF4-FFF2-40B4-BE49-F238E27FC236}">
                <a16:creationId xmlns:a16="http://schemas.microsoft.com/office/drawing/2014/main" id="{2A2812ED-57E1-C4C2-36C1-6BFC0B874705}"/>
              </a:ext>
            </a:extLst>
          </p:cNvPr>
          <p:cNvSpPr/>
          <p:nvPr/>
        </p:nvSpPr>
        <p:spPr>
          <a:xfrm>
            <a:off x="382952" y="1389937"/>
            <a:ext cx="1857829" cy="46445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dist"/>
            <a:r>
              <a:rPr lang="zh-TW" altLang="en-US">
                <a:cs typeface="+mn-ea"/>
                <a:sym typeface="+mn-lt"/>
              </a:rPr>
              <a:t>接收端的處理</a:t>
            </a:r>
          </a:p>
        </p:txBody>
      </p:sp>
      <p:sp>
        <p:nvSpPr>
          <p:cNvPr id="3" name="矩形: 圆角 10">
            <a:extLst>
              <a:ext uri="{FF2B5EF4-FFF2-40B4-BE49-F238E27FC236}">
                <a16:creationId xmlns:a16="http://schemas.microsoft.com/office/drawing/2014/main" id="{F493939F-2ADC-2DBC-D1B4-AC7E0053A2CF}"/>
              </a:ext>
            </a:extLst>
          </p:cNvPr>
          <p:cNvSpPr/>
          <p:nvPr/>
        </p:nvSpPr>
        <p:spPr>
          <a:xfrm>
            <a:off x="1349828" y="5824886"/>
            <a:ext cx="1016000" cy="309214"/>
          </a:xfrm>
          <a:prstGeom prst="roundRect">
            <a:avLst>
              <a:gd name="adj" fmla="val 33917"/>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a:cs typeface="+mn-ea"/>
              <a:sym typeface="+mn-lt"/>
            </a:endParaRPr>
          </a:p>
        </p:txBody>
      </p:sp>
      <p:sp>
        <p:nvSpPr>
          <p:cNvPr id="37" name="投影片編號版面配置區 36">
            <a:extLst>
              <a:ext uri="{FF2B5EF4-FFF2-40B4-BE49-F238E27FC236}">
                <a16:creationId xmlns:a16="http://schemas.microsoft.com/office/drawing/2014/main" id="{02AC5BD2-1963-9EDE-9591-ACD2BEE61DE6}"/>
              </a:ext>
            </a:extLst>
          </p:cNvPr>
          <p:cNvSpPr>
            <a:spLocks noGrp="1"/>
          </p:cNvSpPr>
          <p:nvPr>
            <p:ph type="sldNum" sz="quarter" idx="12"/>
          </p:nvPr>
        </p:nvSpPr>
        <p:spPr/>
        <p:txBody>
          <a:bodyPr/>
          <a:lstStyle/>
          <a:p>
            <a:fld id="{9232B33E-6CBB-4C23-BFFD-4D7045B4FE1F}" type="slidenum">
              <a:rPr lang="zh-CN" altLang="en-US" smtClean="0"/>
              <a:t>6</a:t>
            </a:fld>
            <a:endParaRPr lang="zh-CN" altLang="en-US"/>
          </a:p>
        </p:txBody>
      </p:sp>
    </p:spTree>
    <p:custDataLst>
      <p:tags r:id="rId1"/>
    </p:custDataLst>
    <p:extLst>
      <p:ext uri="{BB962C8B-B14F-4D97-AF65-F5344CB8AC3E}">
        <p14:creationId xmlns:p14="http://schemas.microsoft.com/office/powerpoint/2010/main" val="130518153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6"/>
                                        </p:tgtEl>
                                        <p:attrNameLst>
                                          <p:attrName>style.visibility</p:attrName>
                                        </p:attrNameLst>
                                      </p:cBhvr>
                                      <p:to>
                                        <p:strVal val="visible"/>
                                      </p:to>
                                    </p:set>
                                    <p:animEffect transition="in" filter="fade">
                                      <p:cBhvr>
                                        <p:cTn id="14" dur="1000"/>
                                        <p:tgtEl>
                                          <p:spTgt spid="16"/>
                                        </p:tgtEl>
                                      </p:cBhvr>
                                    </p:animEffect>
                                    <p:anim calcmode="lin" valueType="num">
                                      <p:cBhvr>
                                        <p:cTn id="15" dur="1000" fill="hold"/>
                                        <p:tgtEl>
                                          <p:spTgt spid="16"/>
                                        </p:tgtEl>
                                        <p:attrNameLst>
                                          <p:attrName>ppt_x</p:attrName>
                                        </p:attrNameLst>
                                      </p:cBhvr>
                                      <p:tavLst>
                                        <p:tav tm="0">
                                          <p:val>
                                            <p:strVal val="#ppt_x"/>
                                          </p:val>
                                        </p:tav>
                                        <p:tav tm="100000">
                                          <p:val>
                                            <p:strVal val="#ppt_x"/>
                                          </p:val>
                                        </p:tav>
                                      </p:tavLst>
                                    </p:anim>
                                    <p:anim calcmode="lin" valueType="num">
                                      <p:cBhvr>
                                        <p:cTn id="16"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p:ext uri="{6950BFC3-D8DA-4A85-94F7-54DA5524770B}">
      <p188:commentRel xmlns:p188="http://schemas.microsoft.com/office/powerpoint/2018/8/main" r:id="rId4"/>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F2947B-077F-72FD-2F4E-7D0C07F5F072}"/>
            </a:ext>
          </a:extLst>
        </p:cNvPr>
        <p:cNvGrpSpPr/>
        <p:nvPr/>
      </p:nvGrpSpPr>
      <p:grpSpPr>
        <a:xfrm>
          <a:off x="0" y="0"/>
          <a:ext cx="0" cy="0"/>
          <a:chOff x="0" y="0"/>
          <a:chExt cx="0" cy="0"/>
        </a:xfrm>
      </p:grpSpPr>
      <p:grpSp>
        <p:nvGrpSpPr>
          <p:cNvPr id="34" name="组合 33">
            <a:extLst>
              <a:ext uri="{FF2B5EF4-FFF2-40B4-BE49-F238E27FC236}">
                <a16:creationId xmlns:a16="http://schemas.microsoft.com/office/drawing/2014/main" id="{2E596170-7BFA-2679-0777-B8181587D3BE}"/>
              </a:ext>
            </a:extLst>
          </p:cNvPr>
          <p:cNvGrpSpPr/>
          <p:nvPr/>
        </p:nvGrpSpPr>
        <p:grpSpPr>
          <a:xfrm>
            <a:off x="0" y="495445"/>
            <a:ext cx="12192000" cy="381000"/>
            <a:chOff x="0" y="457345"/>
            <a:chExt cx="12192000" cy="381000"/>
          </a:xfrm>
        </p:grpSpPr>
        <p:cxnSp>
          <p:nvCxnSpPr>
            <p:cNvPr id="4" name="直接连接符 3">
              <a:extLst>
                <a:ext uri="{FF2B5EF4-FFF2-40B4-BE49-F238E27FC236}">
                  <a16:creationId xmlns:a16="http://schemas.microsoft.com/office/drawing/2014/main" id="{F7458816-A6B8-C723-DFED-045FCD320494}"/>
                </a:ext>
              </a:extLst>
            </p:cNvPr>
            <p:cNvCxnSpPr/>
            <p:nvPr/>
          </p:nvCxnSpPr>
          <p:spPr>
            <a:xfrm>
              <a:off x="0" y="647845"/>
              <a:ext cx="12192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 name="组合 4">
              <a:extLst>
                <a:ext uri="{FF2B5EF4-FFF2-40B4-BE49-F238E27FC236}">
                  <a16:creationId xmlns:a16="http://schemas.microsoft.com/office/drawing/2014/main" id="{19C70118-0546-A662-18FF-D838EE5C0C54}"/>
                </a:ext>
              </a:extLst>
            </p:cNvPr>
            <p:cNvGrpSpPr/>
            <p:nvPr/>
          </p:nvGrpSpPr>
          <p:grpSpPr>
            <a:xfrm rot="10800000">
              <a:off x="11060824" y="457345"/>
              <a:ext cx="656896" cy="381000"/>
              <a:chOff x="307428" y="393221"/>
              <a:chExt cx="656896" cy="381000"/>
            </a:xfrm>
          </p:grpSpPr>
          <p:sp>
            <p:nvSpPr>
              <p:cNvPr id="6" name="等腰三角形 5">
                <a:extLst>
                  <a:ext uri="{FF2B5EF4-FFF2-40B4-BE49-F238E27FC236}">
                    <a16:creationId xmlns:a16="http://schemas.microsoft.com/office/drawing/2014/main" id="{8E1209CD-E84A-4F8F-AFCB-F014BDFCA342}"/>
                  </a:ext>
                </a:extLst>
              </p:cNvPr>
              <p:cNvSpPr/>
              <p:nvPr/>
            </p:nvSpPr>
            <p:spPr>
              <a:xfrm rot="5400000">
                <a:off x="281152" y="419497"/>
                <a:ext cx="381000" cy="32844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 name="等腰三角形 6">
                <a:extLst>
                  <a:ext uri="{FF2B5EF4-FFF2-40B4-BE49-F238E27FC236}">
                    <a16:creationId xmlns:a16="http://schemas.microsoft.com/office/drawing/2014/main" id="{359721EF-25EB-2EBD-D738-53DF8B7677A9}"/>
                  </a:ext>
                </a:extLst>
              </p:cNvPr>
              <p:cNvSpPr/>
              <p:nvPr/>
            </p:nvSpPr>
            <p:spPr>
              <a:xfrm rot="5400000">
                <a:off x="609600" y="419497"/>
                <a:ext cx="381000" cy="32844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sp>
        <p:nvSpPr>
          <p:cNvPr id="8" name="文本框 7">
            <a:extLst>
              <a:ext uri="{FF2B5EF4-FFF2-40B4-BE49-F238E27FC236}">
                <a16:creationId xmlns:a16="http://schemas.microsoft.com/office/drawing/2014/main" id="{6F6E508C-C559-41A6-5CE5-5DB7E6AEC701}"/>
              </a:ext>
            </a:extLst>
          </p:cNvPr>
          <p:cNvSpPr txBox="1"/>
          <p:nvPr/>
        </p:nvSpPr>
        <p:spPr>
          <a:xfrm>
            <a:off x="358324" y="209635"/>
            <a:ext cx="936104" cy="400110"/>
          </a:xfrm>
          <a:prstGeom prst="rect">
            <a:avLst/>
          </a:prstGeom>
          <a:solidFill>
            <a:schemeClr val="tx1"/>
          </a:solidFill>
        </p:spPr>
        <p:txBody>
          <a:bodyPr wrap="square" rtlCol="0">
            <a:spAutoFit/>
          </a:bodyPr>
          <a:lstStyle/>
          <a:p>
            <a:pPr algn="ctr"/>
            <a:endParaRPr lang="zh-CN" altLang="en-US" sz="2000">
              <a:solidFill>
                <a:schemeClr val="bg1"/>
              </a:solidFill>
              <a:cs typeface="+mn-ea"/>
              <a:sym typeface="+mn-lt"/>
            </a:endParaRPr>
          </a:p>
        </p:txBody>
      </p:sp>
      <p:cxnSp>
        <p:nvCxnSpPr>
          <p:cNvPr id="9" name="直接连接符 8">
            <a:extLst>
              <a:ext uri="{FF2B5EF4-FFF2-40B4-BE49-F238E27FC236}">
                <a16:creationId xmlns:a16="http://schemas.microsoft.com/office/drawing/2014/main" id="{90A73462-0476-A134-6B67-268C25C02CC6}"/>
              </a:ext>
            </a:extLst>
          </p:cNvPr>
          <p:cNvCxnSpPr>
            <a:cxnSpLocks/>
          </p:cNvCxnSpPr>
          <p:nvPr/>
        </p:nvCxnSpPr>
        <p:spPr>
          <a:xfrm>
            <a:off x="-76200" y="3885787"/>
            <a:ext cx="10760242"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grpSp>
        <p:nvGrpSpPr>
          <p:cNvPr id="10" name="组合 9">
            <a:extLst>
              <a:ext uri="{FF2B5EF4-FFF2-40B4-BE49-F238E27FC236}">
                <a16:creationId xmlns:a16="http://schemas.microsoft.com/office/drawing/2014/main" id="{3633AFB2-A338-DF62-BC54-812CFD9AD4D7}"/>
              </a:ext>
            </a:extLst>
          </p:cNvPr>
          <p:cNvGrpSpPr/>
          <p:nvPr/>
        </p:nvGrpSpPr>
        <p:grpSpPr>
          <a:xfrm>
            <a:off x="2872582" y="1519491"/>
            <a:ext cx="6737433" cy="1448231"/>
            <a:chOff x="1750601" y="1611478"/>
            <a:chExt cx="2336210" cy="2296234"/>
          </a:xfrm>
        </p:grpSpPr>
        <p:sp>
          <p:nvSpPr>
            <p:cNvPr id="11" name="文本框 10">
              <a:extLst>
                <a:ext uri="{FF2B5EF4-FFF2-40B4-BE49-F238E27FC236}">
                  <a16:creationId xmlns:a16="http://schemas.microsoft.com/office/drawing/2014/main" id="{D445264A-A08F-A027-1D06-7432488663CD}"/>
                </a:ext>
              </a:extLst>
            </p:cNvPr>
            <p:cNvSpPr txBox="1"/>
            <p:nvPr/>
          </p:nvSpPr>
          <p:spPr>
            <a:xfrm>
              <a:off x="1750601" y="1611478"/>
              <a:ext cx="2013515" cy="731990"/>
            </a:xfrm>
            <a:prstGeom prst="rect">
              <a:avLst/>
            </a:prstGeom>
            <a:noFill/>
          </p:spPr>
          <p:txBody>
            <a:bodyPr wrap="square" rtlCol="0">
              <a:spAutoFit/>
            </a:bodyPr>
            <a:lstStyle/>
            <a:p>
              <a:r>
                <a:rPr lang="zh-TW" altLang="en-US" sz="2400"/>
                <a:t>解調與音訊輸出</a:t>
              </a:r>
              <a:endParaRPr lang="zh-CN" altLang="en-US" sz="2400">
                <a:cs typeface="+mn-ea"/>
                <a:sym typeface="+mn-lt"/>
              </a:endParaRPr>
            </a:p>
          </p:txBody>
        </p:sp>
        <p:sp>
          <p:nvSpPr>
            <p:cNvPr id="12" name="文本框 11">
              <a:extLst>
                <a:ext uri="{FF2B5EF4-FFF2-40B4-BE49-F238E27FC236}">
                  <a16:creationId xmlns:a16="http://schemas.microsoft.com/office/drawing/2014/main" id="{463685AA-50E5-02D3-07ED-0B2D62C47031}"/>
                </a:ext>
              </a:extLst>
            </p:cNvPr>
            <p:cNvSpPr txBox="1"/>
            <p:nvPr/>
          </p:nvSpPr>
          <p:spPr>
            <a:xfrm>
              <a:off x="1750601" y="2284524"/>
              <a:ext cx="2336210" cy="1623188"/>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altLang="zh-TW" sz="1400" b="1" dirty="0"/>
                <a:t>FSK </a:t>
              </a:r>
              <a:r>
                <a:rPr lang="zh-TW" altLang="en-US" sz="1400" b="1" dirty="0"/>
                <a:t>解調：</a:t>
              </a:r>
              <a:r>
                <a:rPr lang="zh-TW" altLang="en-US" sz="1400" dirty="0"/>
                <a:t>對數據執行 </a:t>
              </a:r>
              <a:r>
                <a:rPr lang="en-US" altLang="zh-TW" sz="1400" dirty="0"/>
                <a:t>FSK </a:t>
              </a:r>
              <a:r>
                <a:rPr lang="zh-TW" altLang="en-US" sz="1400" dirty="0"/>
                <a:t>解調，還原原始語音訊號的波形數據。</a:t>
              </a:r>
              <a:endParaRPr lang="en-US" altLang="zh-TW" sz="1400" dirty="0"/>
            </a:p>
            <a:p>
              <a:pPr marL="285750" indent="-285750">
                <a:lnSpc>
                  <a:spcPct val="150000"/>
                </a:lnSpc>
                <a:buFont typeface="Arial" panose="020B0604020202020204" pitchFamily="34" charset="0"/>
                <a:buChar char="•"/>
              </a:pPr>
              <a:r>
                <a:rPr lang="zh-TW" altLang="en-US" sz="1400" b="1" u="sng" dirty="0"/>
                <a:t>處理接收到的訊號</a:t>
              </a:r>
              <a:r>
                <a:rPr lang="zh-TW" altLang="en-US" sz="1400" b="1" dirty="0"/>
                <a:t>：</a:t>
              </a:r>
              <a:r>
                <a:rPr lang="zh-TW" altLang="en-US" sz="1400" dirty="0"/>
                <a:t>執行額外的訊號處理（如濾波、噪聲抑制等）以提升音質。</a:t>
              </a:r>
              <a:endParaRPr lang="en-US" altLang="zh-TW" sz="1400" dirty="0"/>
            </a:p>
            <a:p>
              <a:pPr marL="285750" indent="-285750">
                <a:lnSpc>
                  <a:spcPct val="150000"/>
                </a:lnSpc>
                <a:buFont typeface="Arial" panose="020B0604020202020204" pitchFamily="34" charset="0"/>
                <a:buChar char="•"/>
              </a:pPr>
              <a:r>
                <a:rPr lang="zh-TW" altLang="en-US" sz="1400" b="1" dirty="0"/>
                <a:t>輸出音訊訊號：</a:t>
              </a:r>
              <a:r>
                <a:rPr lang="zh-TW" altLang="en-US" sz="1400" dirty="0"/>
                <a:t>將還原的語音數據透過音訊播放設備輸出。</a:t>
              </a:r>
              <a:endParaRPr lang="en-US" altLang="zh-TW" sz="1400" dirty="0">
                <a:cs typeface="+mn-ea"/>
                <a:sym typeface="+mn-lt"/>
              </a:endParaRPr>
            </a:p>
          </p:txBody>
        </p:sp>
      </p:grpSp>
      <p:grpSp>
        <p:nvGrpSpPr>
          <p:cNvPr id="22" name="组合 21">
            <a:extLst>
              <a:ext uri="{FF2B5EF4-FFF2-40B4-BE49-F238E27FC236}">
                <a16:creationId xmlns:a16="http://schemas.microsoft.com/office/drawing/2014/main" id="{B5B50FC3-959F-75D4-7883-FCAE73D67986}"/>
              </a:ext>
            </a:extLst>
          </p:cNvPr>
          <p:cNvGrpSpPr/>
          <p:nvPr/>
        </p:nvGrpSpPr>
        <p:grpSpPr>
          <a:xfrm>
            <a:off x="3578903" y="3311192"/>
            <a:ext cx="65431" cy="603522"/>
            <a:chOff x="2816502" y="3101009"/>
            <a:chExt cx="65430" cy="603522"/>
          </a:xfrm>
        </p:grpSpPr>
        <p:cxnSp>
          <p:nvCxnSpPr>
            <p:cNvPr id="23" name="直接连接符 22">
              <a:extLst>
                <a:ext uri="{FF2B5EF4-FFF2-40B4-BE49-F238E27FC236}">
                  <a16:creationId xmlns:a16="http://schemas.microsoft.com/office/drawing/2014/main" id="{DF4FF007-8653-A93B-3C5A-5E6ACCC91881}"/>
                </a:ext>
              </a:extLst>
            </p:cNvPr>
            <p:cNvCxnSpPr/>
            <p:nvPr/>
          </p:nvCxnSpPr>
          <p:spPr>
            <a:xfrm flipV="1">
              <a:off x="2849217" y="3101009"/>
              <a:ext cx="0" cy="569843"/>
            </a:xfrm>
            <a:prstGeom prst="line">
              <a:avLst/>
            </a:prstGeom>
            <a:ln>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sp>
          <p:nvSpPr>
            <p:cNvPr id="24" name="椭圆 23">
              <a:extLst>
                <a:ext uri="{FF2B5EF4-FFF2-40B4-BE49-F238E27FC236}">
                  <a16:creationId xmlns:a16="http://schemas.microsoft.com/office/drawing/2014/main" id="{AF0D399D-8858-D0D0-9FAE-3FF9BE0AFC77}"/>
                </a:ext>
              </a:extLst>
            </p:cNvPr>
            <p:cNvSpPr/>
            <p:nvPr/>
          </p:nvSpPr>
          <p:spPr>
            <a:xfrm>
              <a:off x="2816502" y="3639101"/>
              <a:ext cx="65430" cy="6543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25" name="组合 24">
            <a:extLst>
              <a:ext uri="{FF2B5EF4-FFF2-40B4-BE49-F238E27FC236}">
                <a16:creationId xmlns:a16="http://schemas.microsoft.com/office/drawing/2014/main" id="{EB9A057D-B335-892C-87D7-67DFC595BBF1}"/>
              </a:ext>
            </a:extLst>
          </p:cNvPr>
          <p:cNvGrpSpPr/>
          <p:nvPr/>
        </p:nvGrpSpPr>
        <p:grpSpPr>
          <a:xfrm>
            <a:off x="7702239" y="3862116"/>
            <a:ext cx="65431" cy="595550"/>
            <a:chOff x="4804051" y="3645145"/>
            <a:chExt cx="65430" cy="595550"/>
          </a:xfrm>
        </p:grpSpPr>
        <p:cxnSp>
          <p:nvCxnSpPr>
            <p:cNvPr id="26" name="直接连接符 25">
              <a:extLst>
                <a:ext uri="{FF2B5EF4-FFF2-40B4-BE49-F238E27FC236}">
                  <a16:creationId xmlns:a16="http://schemas.microsoft.com/office/drawing/2014/main" id="{8275AA17-0AA6-3E8E-8B63-4E13D660D66C}"/>
                </a:ext>
              </a:extLst>
            </p:cNvPr>
            <p:cNvCxnSpPr/>
            <p:nvPr/>
          </p:nvCxnSpPr>
          <p:spPr>
            <a:xfrm flipV="1">
              <a:off x="4836668" y="3670852"/>
              <a:ext cx="0" cy="569843"/>
            </a:xfrm>
            <a:prstGeom prst="line">
              <a:avLst/>
            </a:prstGeom>
            <a:ln>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sp>
          <p:nvSpPr>
            <p:cNvPr id="27" name="椭圆 26">
              <a:extLst>
                <a:ext uri="{FF2B5EF4-FFF2-40B4-BE49-F238E27FC236}">
                  <a16:creationId xmlns:a16="http://schemas.microsoft.com/office/drawing/2014/main" id="{DD6FB044-CF6A-8D47-90F9-9D1965150B46}"/>
                </a:ext>
              </a:extLst>
            </p:cNvPr>
            <p:cNvSpPr/>
            <p:nvPr/>
          </p:nvSpPr>
          <p:spPr>
            <a:xfrm>
              <a:off x="4804051" y="3645145"/>
              <a:ext cx="65430" cy="6543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cs typeface="+mn-ea"/>
                  <a:sym typeface="+mn-lt"/>
                </a:rPr>
                <a:t> </a:t>
              </a:r>
              <a:endParaRPr lang="zh-CN" altLang="en-US">
                <a:cs typeface="+mn-ea"/>
                <a:sym typeface="+mn-lt"/>
              </a:endParaRPr>
            </a:p>
          </p:txBody>
        </p:sp>
      </p:grpSp>
      <p:sp>
        <p:nvSpPr>
          <p:cNvPr id="2" name="矩形 1">
            <a:extLst>
              <a:ext uri="{FF2B5EF4-FFF2-40B4-BE49-F238E27FC236}">
                <a16:creationId xmlns:a16="http://schemas.microsoft.com/office/drawing/2014/main" id="{2D259CED-A01D-E855-5FFB-BA7EE3E15F7C}"/>
              </a:ext>
            </a:extLst>
          </p:cNvPr>
          <p:cNvSpPr/>
          <p:nvPr/>
        </p:nvSpPr>
        <p:spPr>
          <a:xfrm>
            <a:off x="382952" y="1389937"/>
            <a:ext cx="1857829" cy="46445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dist"/>
            <a:r>
              <a:rPr lang="zh-TW" altLang="en-US">
                <a:cs typeface="+mn-ea"/>
                <a:sym typeface="+mn-lt"/>
              </a:rPr>
              <a:t>接收端的處理</a:t>
            </a:r>
          </a:p>
        </p:txBody>
      </p:sp>
      <p:sp>
        <p:nvSpPr>
          <p:cNvPr id="3" name="矩形: 圆角 10">
            <a:extLst>
              <a:ext uri="{FF2B5EF4-FFF2-40B4-BE49-F238E27FC236}">
                <a16:creationId xmlns:a16="http://schemas.microsoft.com/office/drawing/2014/main" id="{25A36D5D-AAF5-5EA0-7BB7-B74EFED5C479}"/>
              </a:ext>
            </a:extLst>
          </p:cNvPr>
          <p:cNvSpPr/>
          <p:nvPr/>
        </p:nvSpPr>
        <p:spPr>
          <a:xfrm>
            <a:off x="1349828" y="5824886"/>
            <a:ext cx="1016000" cy="309214"/>
          </a:xfrm>
          <a:prstGeom prst="roundRect">
            <a:avLst>
              <a:gd name="adj" fmla="val 33917"/>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a:cs typeface="+mn-ea"/>
              <a:sym typeface="+mn-lt"/>
            </a:endParaRPr>
          </a:p>
        </p:txBody>
      </p:sp>
      <p:sp>
        <p:nvSpPr>
          <p:cNvPr id="37" name="投影片編號版面配置區 36">
            <a:extLst>
              <a:ext uri="{FF2B5EF4-FFF2-40B4-BE49-F238E27FC236}">
                <a16:creationId xmlns:a16="http://schemas.microsoft.com/office/drawing/2014/main" id="{A11FC5FB-7A67-32A8-2F25-5094038BCB7E}"/>
              </a:ext>
            </a:extLst>
          </p:cNvPr>
          <p:cNvSpPr>
            <a:spLocks noGrp="1"/>
          </p:cNvSpPr>
          <p:nvPr>
            <p:ph type="sldNum" sz="quarter" idx="12"/>
          </p:nvPr>
        </p:nvSpPr>
        <p:spPr/>
        <p:txBody>
          <a:bodyPr/>
          <a:lstStyle/>
          <a:p>
            <a:fld id="{9232B33E-6CBB-4C23-BFFD-4D7045B4FE1F}" type="slidenum">
              <a:rPr lang="zh-CN" altLang="en-US" smtClean="0"/>
              <a:t>7</a:t>
            </a:fld>
            <a:endParaRPr lang="zh-CN" altLang="en-US"/>
          </a:p>
        </p:txBody>
      </p:sp>
    </p:spTree>
    <p:custDataLst>
      <p:tags r:id="rId1"/>
    </p:custDataLst>
    <p:extLst>
      <p:ext uri="{BB962C8B-B14F-4D97-AF65-F5344CB8AC3E}">
        <p14:creationId xmlns:p14="http://schemas.microsoft.com/office/powerpoint/2010/main" val="40727055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D60F96-C395-9265-E33D-EC2DDB78049F}"/>
            </a:ext>
          </a:extLst>
        </p:cNvPr>
        <p:cNvGrpSpPr/>
        <p:nvPr/>
      </p:nvGrpSpPr>
      <p:grpSpPr>
        <a:xfrm>
          <a:off x="0" y="0"/>
          <a:ext cx="0" cy="0"/>
          <a:chOff x="0" y="0"/>
          <a:chExt cx="0" cy="0"/>
        </a:xfrm>
      </p:grpSpPr>
      <p:grpSp>
        <p:nvGrpSpPr>
          <p:cNvPr id="34" name="组合 33">
            <a:extLst>
              <a:ext uri="{FF2B5EF4-FFF2-40B4-BE49-F238E27FC236}">
                <a16:creationId xmlns:a16="http://schemas.microsoft.com/office/drawing/2014/main" id="{2E7231E7-B3A4-8AC2-02F9-32EA590CE19A}"/>
              </a:ext>
            </a:extLst>
          </p:cNvPr>
          <p:cNvGrpSpPr/>
          <p:nvPr/>
        </p:nvGrpSpPr>
        <p:grpSpPr>
          <a:xfrm>
            <a:off x="0" y="495445"/>
            <a:ext cx="12192000" cy="381000"/>
            <a:chOff x="0" y="457345"/>
            <a:chExt cx="12192000" cy="381000"/>
          </a:xfrm>
        </p:grpSpPr>
        <p:cxnSp>
          <p:nvCxnSpPr>
            <p:cNvPr id="4" name="直接连接符 3">
              <a:extLst>
                <a:ext uri="{FF2B5EF4-FFF2-40B4-BE49-F238E27FC236}">
                  <a16:creationId xmlns:a16="http://schemas.microsoft.com/office/drawing/2014/main" id="{F531276F-FC2B-9F67-0DB6-83365C4BE76D}"/>
                </a:ext>
              </a:extLst>
            </p:cNvPr>
            <p:cNvCxnSpPr/>
            <p:nvPr/>
          </p:nvCxnSpPr>
          <p:spPr>
            <a:xfrm>
              <a:off x="0" y="647845"/>
              <a:ext cx="12192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 name="组合 4">
              <a:extLst>
                <a:ext uri="{FF2B5EF4-FFF2-40B4-BE49-F238E27FC236}">
                  <a16:creationId xmlns:a16="http://schemas.microsoft.com/office/drawing/2014/main" id="{9C64D776-F988-3256-FADB-0DBA92360C92}"/>
                </a:ext>
              </a:extLst>
            </p:cNvPr>
            <p:cNvGrpSpPr/>
            <p:nvPr/>
          </p:nvGrpSpPr>
          <p:grpSpPr>
            <a:xfrm rot="10800000">
              <a:off x="11060824" y="457345"/>
              <a:ext cx="656896" cy="381000"/>
              <a:chOff x="307428" y="393221"/>
              <a:chExt cx="656896" cy="381000"/>
            </a:xfrm>
          </p:grpSpPr>
          <p:sp>
            <p:nvSpPr>
              <p:cNvPr id="6" name="等腰三角形 5">
                <a:extLst>
                  <a:ext uri="{FF2B5EF4-FFF2-40B4-BE49-F238E27FC236}">
                    <a16:creationId xmlns:a16="http://schemas.microsoft.com/office/drawing/2014/main" id="{DD921353-3AF5-483F-2DDB-6E52B5EB4A4F}"/>
                  </a:ext>
                </a:extLst>
              </p:cNvPr>
              <p:cNvSpPr/>
              <p:nvPr/>
            </p:nvSpPr>
            <p:spPr>
              <a:xfrm rot="5400000">
                <a:off x="281152" y="419497"/>
                <a:ext cx="381000" cy="32844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 name="等腰三角形 6">
                <a:extLst>
                  <a:ext uri="{FF2B5EF4-FFF2-40B4-BE49-F238E27FC236}">
                    <a16:creationId xmlns:a16="http://schemas.microsoft.com/office/drawing/2014/main" id="{86E56154-F1C0-2AE3-30FF-3982F21D7F20}"/>
                  </a:ext>
                </a:extLst>
              </p:cNvPr>
              <p:cNvSpPr/>
              <p:nvPr/>
            </p:nvSpPr>
            <p:spPr>
              <a:xfrm rot="5400000">
                <a:off x="609600" y="419497"/>
                <a:ext cx="381000" cy="32844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sp>
        <p:nvSpPr>
          <p:cNvPr id="8" name="文本框 7">
            <a:extLst>
              <a:ext uri="{FF2B5EF4-FFF2-40B4-BE49-F238E27FC236}">
                <a16:creationId xmlns:a16="http://schemas.microsoft.com/office/drawing/2014/main" id="{4682B60D-8306-35F1-706C-C42AA8D904A7}"/>
              </a:ext>
            </a:extLst>
          </p:cNvPr>
          <p:cNvSpPr txBox="1"/>
          <p:nvPr/>
        </p:nvSpPr>
        <p:spPr>
          <a:xfrm>
            <a:off x="358324" y="209635"/>
            <a:ext cx="936104" cy="400110"/>
          </a:xfrm>
          <a:prstGeom prst="rect">
            <a:avLst/>
          </a:prstGeom>
          <a:solidFill>
            <a:schemeClr val="tx1"/>
          </a:solidFill>
        </p:spPr>
        <p:txBody>
          <a:bodyPr wrap="square" rtlCol="0">
            <a:spAutoFit/>
          </a:bodyPr>
          <a:lstStyle/>
          <a:p>
            <a:pPr algn="ctr"/>
            <a:endParaRPr lang="zh-CN" altLang="en-US" sz="2000">
              <a:solidFill>
                <a:schemeClr val="bg1"/>
              </a:solidFill>
              <a:cs typeface="+mn-ea"/>
              <a:sym typeface="+mn-lt"/>
            </a:endParaRPr>
          </a:p>
        </p:txBody>
      </p:sp>
      <p:cxnSp>
        <p:nvCxnSpPr>
          <p:cNvPr id="9" name="直接连接符 8">
            <a:extLst>
              <a:ext uri="{FF2B5EF4-FFF2-40B4-BE49-F238E27FC236}">
                <a16:creationId xmlns:a16="http://schemas.microsoft.com/office/drawing/2014/main" id="{C0957FF7-9B0F-616B-6F4B-CF4175E85E1A}"/>
              </a:ext>
            </a:extLst>
          </p:cNvPr>
          <p:cNvCxnSpPr>
            <a:cxnSpLocks/>
          </p:cNvCxnSpPr>
          <p:nvPr/>
        </p:nvCxnSpPr>
        <p:spPr>
          <a:xfrm flipV="1">
            <a:off x="1965975" y="3885787"/>
            <a:ext cx="8718067" cy="644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grpSp>
        <p:nvGrpSpPr>
          <p:cNvPr id="10" name="组合 9">
            <a:extLst>
              <a:ext uri="{FF2B5EF4-FFF2-40B4-BE49-F238E27FC236}">
                <a16:creationId xmlns:a16="http://schemas.microsoft.com/office/drawing/2014/main" id="{4D65FD5C-08CF-8A38-BF77-898FE4ACCCD3}"/>
              </a:ext>
            </a:extLst>
          </p:cNvPr>
          <p:cNvGrpSpPr/>
          <p:nvPr/>
        </p:nvGrpSpPr>
        <p:grpSpPr>
          <a:xfrm>
            <a:off x="2872582" y="1519491"/>
            <a:ext cx="6737433" cy="1448231"/>
            <a:chOff x="1750601" y="1611478"/>
            <a:chExt cx="2336210" cy="2296234"/>
          </a:xfrm>
        </p:grpSpPr>
        <p:sp>
          <p:nvSpPr>
            <p:cNvPr id="11" name="文本框 10">
              <a:extLst>
                <a:ext uri="{FF2B5EF4-FFF2-40B4-BE49-F238E27FC236}">
                  <a16:creationId xmlns:a16="http://schemas.microsoft.com/office/drawing/2014/main" id="{218C3F07-B9CC-604A-CDE4-5D85A8B3CDA7}"/>
                </a:ext>
              </a:extLst>
            </p:cNvPr>
            <p:cNvSpPr txBox="1"/>
            <p:nvPr/>
          </p:nvSpPr>
          <p:spPr>
            <a:xfrm>
              <a:off x="1750601" y="1611478"/>
              <a:ext cx="2013515" cy="731990"/>
            </a:xfrm>
            <a:prstGeom prst="rect">
              <a:avLst/>
            </a:prstGeom>
            <a:noFill/>
          </p:spPr>
          <p:txBody>
            <a:bodyPr wrap="square" rtlCol="0">
              <a:spAutoFit/>
            </a:bodyPr>
            <a:lstStyle/>
            <a:p>
              <a:r>
                <a:rPr lang="zh-TW" altLang="en-US" sz="2400"/>
                <a:t>解調與音訊輸出</a:t>
              </a:r>
              <a:endParaRPr lang="zh-CN" altLang="en-US" sz="2400">
                <a:cs typeface="+mn-ea"/>
                <a:sym typeface="+mn-lt"/>
              </a:endParaRPr>
            </a:p>
          </p:txBody>
        </p:sp>
        <p:sp>
          <p:nvSpPr>
            <p:cNvPr id="12" name="文本框 11">
              <a:extLst>
                <a:ext uri="{FF2B5EF4-FFF2-40B4-BE49-F238E27FC236}">
                  <a16:creationId xmlns:a16="http://schemas.microsoft.com/office/drawing/2014/main" id="{38393069-7B91-23FB-2D5E-A8DF9FB218EA}"/>
                </a:ext>
              </a:extLst>
            </p:cNvPr>
            <p:cNvSpPr txBox="1"/>
            <p:nvPr/>
          </p:nvSpPr>
          <p:spPr>
            <a:xfrm>
              <a:off x="1750601" y="2284524"/>
              <a:ext cx="2336210" cy="1623188"/>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altLang="zh-TW" sz="1400" b="1"/>
                <a:t>FSK </a:t>
              </a:r>
              <a:r>
                <a:rPr lang="zh-TW" altLang="en-US" sz="1400" b="1"/>
                <a:t>解調：</a:t>
              </a:r>
              <a:r>
                <a:rPr lang="zh-TW" altLang="en-US" sz="1400"/>
                <a:t>對數據執行 </a:t>
              </a:r>
              <a:r>
                <a:rPr lang="en-US" altLang="zh-TW" sz="1400"/>
                <a:t>FSK </a:t>
              </a:r>
              <a:r>
                <a:rPr lang="zh-TW" altLang="en-US" sz="1400"/>
                <a:t>解調，還原原始語音訊號的波形數據。</a:t>
              </a:r>
              <a:endParaRPr lang="en-US" altLang="zh-TW" sz="1400"/>
            </a:p>
            <a:p>
              <a:pPr marL="285750" indent="-285750">
                <a:lnSpc>
                  <a:spcPct val="150000"/>
                </a:lnSpc>
                <a:buFont typeface="Arial" panose="020B0604020202020204" pitchFamily="34" charset="0"/>
                <a:buChar char="•"/>
              </a:pPr>
              <a:r>
                <a:rPr lang="zh-TW" altLang="en-US" sz="1400" b="1"/>
                <a:t>處理接收到的訊號：</a:t>
              </a:r>
              <a:r>
                <a:rPr lang="zh-TW" altLang="en-US" sz="1400"/>
                <a:t>執行額外的訊號處理（如濾波、噪聲抑制等）以提升音質。</a:t>
              </a:r>
              <a:endParaRPr lang="en-US" altLang="zh-TW" sz="1400"/>
            </a:p>
            <a:p>
              <a:pPr marL="285750" indent="-285750">
                <a:lnSpc>
                  <a:spcPct val="150000"/>
                </a:lnSpc>
                <a:buFont typeface="Arial" panose="020B0604020202020204" pitchFamily="34" charset="0"/>
                <a:buChar char="•"/>
              </a:pPr>
              <a:r>
                <a:rPr lang="zh-TW" altLang="en-US" sz="1400" b="1"/>
                <a:t>輸出音訊訊號：</a:t>
              </a:r>
              <a:r>
                <a:rPr lang="zh-TW" altLang="en-US" sz="1400"/>
                <a:t>將還原的語音數據透過音訊播放設備輸出。</a:t>
              </a:r>
              <a:endParaRPr lang="en-US" altLang="zh-TW" sz="1400">
                <a:cs typeface="+mn-ea"/>
                <a:sym typeface="+mn-lt"/>
              </a:endParaRPr>
            </a:p>
          </p:txBody>
        </p:sp>
      </p:grpSp>
      <p:grpSp>
        <p:nvGrpSpPr>
          <p:cNvPr id="13" name="组合 12">
            <a:extLst>
              <a:ext uri="{FF2B5EF4-FFF2-40B4-BE49-F238E27FC236}">
                <a16:creationId xmlns:a16="http://schemas.microsoft.com/office/drawing/2014/main" id="{46F4563B-50B2-47AB-3ACB-E7FF63983C3D}"/>
              </a:ext>
            </a:extLst>
          </p:cNvPr>
          <p:cNvGrpSpPr/>
          <p:nvPr/>
        </p:nvGrpSpPr>
        <p:grpSpPr>
          <a:xfrm>
            <a:off x="6732356" y="4612221"/>
            <a:ext cx="5078644" cy="1813780"/>
            <a:chOff x="3632490" y="4315010"/>
            <a:chExt cx="2759080" cy="1813780"/>
          </a:xfrm>
        </p:grpSpPr>
        <p:sp>
          <p:nvSpPr>
            <p:cNvPr id="14" name="文本框 13">
              <a:extLst>
                <a:ext uri="{FF2B5EF4-FFF2-40B4-BE49-F238E27FC236}">
                  <a16:creationId xmlns:a16="http://schemas.microsoft.com/office/drawing/2014/main" id="{C4C6F185-7B9D-2023-9BB3-092567748F33}"/>
                </a:ext>
              </a:extLst>
            </p:cNvPr>
            <p:cNvSpPr txBox="1"/>
            <p:nvPr/>
          </p:nvSpPr>
          <p:spPr>
            <a:xfrm>
              <a:off x="3632490" y="4315010"/>
              <a:ext cx="2759080" cy="461665"/>
            </a:xfrm>
            <a:prstGeom prst="rect">
              <a:avLst/>
            </a:prstGeom>
            <a:noFill/>
          </p:spPr>
          <p:txBody>
            <a:bodyPr wrap="square" rtlCol="0">
              <a:spAutoFit/>
            </a:bodyPr>
            <a:lstStyle/>
            <a:p>
              <a:r>
                <a:rPr lang="zh-TW" altLang="en-US" sz="2400"/>
                <a:t>緩衝區與數據清理</a:t>
              </a:r>
              <a:endParaRPr lang="zh-CN" altLang="en-US" sz="2400">
                <a:cs typeface="+mn-ea"/>
                <a:sym typeface="+mn-lt"/>
              </a:endParaRPr>
            </a:p>
          </p:txBody>
        </p:sp>
        <p:sp>
          <p:nvSpPr>
            <p:cNvPr id="15" name="文本框 14">
              <a:extLst>
                <a:ext uri="{FF2B5EF4-FFF2-40B4-BE49-F238E27FC236}">
                  <a16:creationId xmlns:a16="http://schemas.microsoft.com/office/drawing/2014/main" id="{A7881B68-2D54-381D-C205-F6E50B00FDF8}"/>
                </a:ext>
              </a:extLst>
            </p:cNvPr>
            <p:cNvSpPr txBox="1"/>
            <p:nvPr/>
          </p:nvSpPr>
          <p:spPr>
            <a:xfrm>
              <a:off x="3632491" y="4781883"/>
              <a:ext cx="2618393" cy="1346907"/>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TW" altLang="en-US" sz="1400" b="1">
                  <a:cs typeface="+mn-ea"/>
                  <a:sym typeface="+mn-lt"/>
                </a:rPr>
                <a:t>清理緩衝區：</a:t>
              </a:r>
              <a:r>
                <a:rPr lang="zh-TW" altLang="en-US" sz="1400">
                  <a:cs typeface="+mn-ea"/>
                  <a:sym typeface="+mn-lt"/>
                </a:rPr>
                <a:t>釋放已處理的數據包，避免緩衝區溢出。</a:t>
              </a:r>
              <a:endParaRPr lang="en-US" altLang="zh-TW" sz="1400">
                <a:cs typeface="+mn-ea"/>
                <a:sym typeface="+mn-lt"/>
              </a:endParaRPr>
            </a:p>
            <a:p>
              <a:pPr marL="285750" indent="-285750">
                <a:lnSpc>
                  <a:spcPct val="150000"/>
                </a:lnSpc>
                <a:buFont typeface="Arial" panose="020B0604020202020204" pitchFamily="34" charset="0"/>
                <a:buChar char="•"/>
              </a:pPr>
              <a:r>
                <a:rPr lang="zh-TW" altLang="en-US" sz="1400" b="1">
                  <a:cs typeface="+mn-ea"/>
                  <a:sym typeface="+mn-lt"/>
                </a:rPr>
                <a:t>清理舊的未完成的數據包：</a:t>
              </a:r>
              <a:r>
                <a:rPr lang="zh-TW" altLang="en-US" sz="1400">
                  <a:cs typeface="+mn-ea"/>
                  <a:sym typeface="+mn-lt"/>
                </a:rPr>
                <a:t>移除超時或未完成的數據包，保持緩衝區穩定性。</a:t>
              </a:r>
              <a:endParaRPr lang="zh-CN" altLang="en-US" sz="1400">
                <a:cs typeface="+mn-ea"/>
                <a:sym typeface="+mn-lt"/>
              </a:endParaRPr>
            </a:p>
          </p:txBody>
        </p:sp>
      </p:grpSp>
      <p:grpSp>
        <p:nvGrpSpPr>
          <p:cNvPr id="22" name="组合 21">
            <a:extLst>
              <a:ext uri="{FF2B5EF4-FFF2-40B4-BE49-F238E27FC236}">
                <a16:creationId xmlns:a16="http://schemas.microsoft.com/office/drawing/2014/main" id="{E3FF674E-032D-C1D9-F828-A7C08217D0D6}"/>
              </a:ext>
            </a:extLst>
          </p:cNvPr>
          <p:cNvGrpSpPr/>
          <p:nvPr/>
        </p:nvGrpSpPr>
        <p:grpSpPr>
          <a:xfrm>
            <a:off x="3578903" y="3311192"/>
            <a:ext cx="65431" cy="603522"/>
            <a:chOff x="2816502" y="3101009"/>
            <a:chExt cx="65430" cy="603522"/>
          </a:xfrm>
        </p:grpSpPr>
        <p:cxnSp>
          <p:nvCxnSpPr>
            <p:cNvPr id="23" name="直接连接符 22">
              <a:extLst>
                <a:ext uri="{FF2B5EF4-FFF2-40B4-BE49-F238E27FC236}">
                  <a16:creationId xmlns:a16="http://schemas.microsoft.com/office/drawing/2014/main" id="{7571FCD2-FE9E-4894-72C2-A2C28CCFE7D3}"/>
                </a:ext>
              </a:extLst>
            </p:cNvPr>
            <p:cNvCxnSpPr/>
            <p:nvPr/>
          </p:nvCxnSpPr>
          <p:spPr>
            <a:xfrm flipV="1">
              <a:off x="2849217" y="3101009"/>
              <a:ext cx="0" cy="569843"/>
            </a:xfrm>
            <a:prstGeom prst="line">
              <a:avLst/>
            </a:prstGeom>
            <a:ln>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sp>
          <p:nvSpPr>
            <p:cNvPr id="24" name="椭圆 23">
              <a:extLst>
                <a:ext uri="{FF2B5EF4-FFF2-40B4-BE49-F238E27FC236}">
                  <a16:creationId xmlns:a16="http://schemas.microsoft.com/office/drawing/2014/main" id="{AF859FAF-D405-CF1B-5B27-7A45B3852CD6}"/>
                </a:ext>
              </a:extLst>
            </p:cNvPr>
            <p:cNvSpPr/>
            <p:nvPr/>
          </p:nvSpPr>
          <p:spPr>
            <a:xfrm>
              <a:off x="2816502" y="3639101"/>
              <a:ext cx="65430" cy="6543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25" name="组合 24">
            <a:extLst>
              <a:ext uri="{FF2B5EF4-FFF2-40B4-BE49-F238E27FC236}">
                <a16:creationId xmlns:a16="http://schemas.microsoft.com/office/drawing/2014/main" id="{C5FDAFB2-00D2-2981-0EA7-0874F770E364}"/>
              </a:ext>
            </a:extLst>
          </p:cNvPr>
          <p:cNvGrpSpPr/>
          <p:nvPr/>
        </p:nvGrpSpPr>
        <p:grpSpPr>
          <a:xfrm>
            <a:off x="7702239" y="3862116"/>
            <a:ext cx="65431" cy="595550"/>
            <a:chOff x="4804051" y="3645145"/>
            <a:chExt cx="65430" cy="595550"/>
          </a:xfrm>
        </p:grpSpPr>
        <p:cxnSp>
          <p:nvCxnSpPr>
            <p:cNvPr id="26" name="直接连接符 25">
              <a:extLst>
                <a:ext uri="{FF2B5EF4-FFF2-40B4-BE49-F238E27FC236}">
                  <a16:creationId xmlns:a16="http://schemas.microsoft.com/office/drawing/2014/main" id="{BD8680D4-D531-353F-4E3D-8C904B78A1C8}"/>
                </a:ext>
              </a:extLst>
            </p:cNvPr>
            <p:cNvCxnSpPr/>
            <p:nvPr/>
          </p:nvCxnSpPr>
          <p:spPr>
            <a:xfrm flipV="1">
              <a:off x="4827143" y="3670852"/>
              <a:ext cx="0" cy="569843"/>
            </a:xfrm>
            <a:prstGeom prst="line">
              <a:avLst/>
            </a:prstGeom>
            <a:ln>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sp>
          <p:nvSpPr>
            <p:cNvPr id="27" name="椭圆 26">
              <a:extLst>
                <a:ext uri="{FF2B5EF4-FFF2-40B4-BE49-F238E27FC236}">
                  <a16:creationId xmlns:a16="http://schemas.microsoft.com/office/drawing/2014/main" id="{68CAC791-175F-2FFC-AE3D-C84FD10704E5}"/>
                </a:ext>
              </a:extLst>
            </p:cNvPr>
            <p:cNvSpPr/>
            <p:nvPr/>
          </p:nvSpPr>
          <p:spPr>
            <a:xfrm>
              <a:off x="4804051" y="3645145"/>
              <a:ext cx="65430" cy="6543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cs typeface="+mn-ea"/>
                  <a:sym typeface="+mn-lt"/>
                </a:rPr>
                <a:t> </a:t>
              </a:r>
              <a:endParaRPr lang="zh-CN" altLang="en-US">
                <a:cs typeface="+mn-ea"/>
                <a:sym typeface="+mn-lt"/>
              </a:endParaRPr>
            </a:p>
          </p:txBody>
        </p:sp>
      </p:grpSp>
      <p:sp>
        <p:nvSpPr>
          <p:cNvPr id="2" name="矩形 1">
            <a:extLst>
              <a:ext uri="{FF2B5EF4-FFF2-40B4-BE49-F238E27FC236}">
                <a16:creationId xmlns:a16="http://schemas.microsoft.com/office/drawing/2014/main" id="{4D009B20-C149-D2E7-3080-33D78A56F7F9}"/>
              </a:ext>
            </a:extLst>
          </p:cNvPr>
          <p:cNvSpPr/>
          <p:nvPr/>
        </p:nvSpPr>
        <p:spPr>
          <a:xfrm>
            <a:off x="382952" y="1389937"/>
            <a:ext cx="1857829" cy="46445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dist"/>
            <a:r>
              <a:rPr lang="zh-TW" altLang="en-US">
                <a:cs typeface="+mn-ea"/>
                <a:sym typeface="+mn-lt"/>
              </a:rPr>
              <a:t>接收端的處理</a:t>
            </a:r>
          </a:p>
        </p:txBody>
      </p:sp>
      <p:sp>
        <p:nvSpPr>
          <p:cNvPr id="3" name="矩形: 圆角 10">
            <a:extLst>
              <a:ext uri="{FF2B5EF4-FFF2-40B4-BE49-F238E27FC236}">
                <a16:creationId xmlns:a16="http://schemas.microsoft.com/office/drawing/2014/main" id="{41E04BCA-4227-0E67-EE40-9CD1B2A9EB05}"/>
              </a:ext>
            </a:extLst>
          </p:cNvPr>
          <p:cNvSpPr/>
          <p:nvPr/>
        </p:nvSpPr>
        <p:spPr>
          <a:xfrm>
            <a:off x="1349828" y="5824886"/>
            <a:ext cx="1016000" cy="309214"/>
          </a:xfrm>
          <a:prstGeom prst="roundRect">
            <a:avLst>
              <a:gd name="adj" fmla="val 33917"/>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a:cs typeface="+mn-ea"/>
              <a:sym typeface="+mn-lt"/>
            </a:endParaRPr>
          </a:p>
        </p:txBody>
      </p:sp>
      <p:sp>
        <p:nvSpPr>
          <p:cNvPr id="37" name="投影片編號版面配置區 36">
            <a:extLst>
              <a:ext uri="{FF2B5EF4-FFF2-40B4-BE49-F238E27FC236}">
                <a16:creationId xmlns:a16="http://schemas.microsoft.com/office/drawing/2014/main" id="{C4A1C09F-1460-2508-2B75-447473AF47C1}"/>
              </a:ext>
            </a:extLst>
          </p:cNvPr>
          <p:cNvSpPr>
            <a:spLocks noGrp="1"/>
          </p:cNvSpPr>
          <p:nvPr>
            <p:ph type="sldNum" sz="quarter" idx="12"/>
          </p:nvPr>
        </p:nvSpPr>
        <p:spPr/>
        <p:txBody>
          <a:bodyPr/>
          <a:lstStyle/>
          <a:p>
            <a:fld id="{9232B33E-6CBB-4C23-BFFD-4D7045B4FE1F}" type="slidenum">
              <a:rPr lang="zh-CN" altLang="en-US" smtClean="0"/>
              <a:t>8</a:t>
            </a:fld>
            <a:endParaRPr lang="zh-CN" altLang="en-US"/>
          </a:p>
        </p:txBody>
      </p:sp>
      <p:sp>
        <p:nvSpPr>
          <p:cNvPr id="16" name="矩形 15">
            <a:extLst>
              <a:ext uri="{FF2B5EF4-FFF2-40B4-BE49-F238E27FC236}">
                <a16:creationId xmlns:a16="http://schemas.microsoft.com/office/drawing/2014/main" id="{52C68BB5-92CC-9909-A6D5-C1DA5B19B6B5}"/>
              </a:ext>
            </a:extLst>
          </p:cNvPr>
          <p:cNvSpPr>
            <a:spLocks noGrp="1" noRot="1" noMove="1" noResize="1" noEditPoints="1" noAdjustHandles="1" noChangeArrowheads="1" noChangeShapeType="1"/>
          </p:cNvSpPr>
          <p:nvPr/>
        </p:nvSpPr>
        <p:spPr>
          <a:xfrm>
            <a:off x="0" y="685945"/>
            <a:ext cx="12192000" cy="5646945"/>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21" name="组合 9">
            <a:extLst>
              <a:ext uri="{FF2B5EF4-FFF2-40B4-BE49-F238E27FC236}">
                <a16:creationId xmlns:a16="http://schemas.microsoft.com/office/drawing/2014/main" id="{7D5B7535-8E55-1F57-93CC-91AA6F36566B}"/>
              </a:ext>
            </a:extLst>
          </p:cNvPr>
          <p:cNvGrpSpPr/>
          <p:nvPr/>
        </p:nvGrpSpPr>
        <p:grpSpPr>
          <a:xfrm>
            <a:off x="395802" y="870529"/>
            <a:ext cx="6737433" cy="1594040"/>
            <a:chOff x="1750601" y="1611478"/>
            <a:chExt cx="2336210" cy="2527420"/>
          </a:xfrm>
        </p:grpSpPr>
        <p:sp>
          <p:nvSpPr>
            <p:cNvPr id="28" name="文本框 10">
              <a:extLst>
                <a:ext uri="{FF2B5EF4-FFF2-40B4-BE49-F238E27FC236}">
                  <a16:creationId xmlns:a16="http://schemas.microsoft.com/office/drawing/2014/main" id="{E41F01B7-D029-CCE8-93CC-F37C87EC8B87}"/>
                </a:ext>
              </a:extLst>
            </p:cNvPr>
            <p:cNvSpPr txBox="1"/>
            <p:nvPr/>
          </p:nvSpPr>
          <p:spPr>
            <a:xfrm>
              <a:off x="1750601" y="1611478"/>
              <a:ext cx="2013515" cy="731990"/>
            </a:xfrm>
            <a:prstGeom prst="rect">
              <a:avLst/>
            </a:prstGeom>
            <a:noFill/>
          </p:spPr>
          <p:txBody>
            <a:bodyPr wrap="square" rtlCol="0">
              <a:spAutoFit/>
            </a:bodyPr>
            <a:lstStyle/>
            <a:p>
              <a:pPr marL="457200" indent="-457200">
                <a:buFont typeface="+mj-lt"/>
                <a:buAutoNum type="arabicPeriod"/>
              </a:pPr>
              <a:r>
                <a:rPr lang="zh-TW" altLang="en-US" sz="2400"/>
                <a:t>噪聲抑制</a:t>
              </a:r>
              <a:endParaRPr lang="en-US" altLang="zh-TW" sz="2400"/>
            </a:p>
          </p:txBody>
        </p:sp>
        <p:sp>
          <p:nvSpPr>
            <p:cNvPr id="29" name="文本框 11">
              <a:extLst>
                <a:ext uri="{FF2B5EF4-FFF2-40B4-BE49-F238E27FC236}">
                  <a16:creationId xmlns:a16="http://schemas.microsoft.com/office/drawing/2014/main" id="{0F5057DB-C039-78D4-55FF-6E23E56A10E4}"/>
                </a:ext>
              </a:extLst>
            </p:cNvPr>
            <p:cNvSpPr txBox="1"/>
            <p:nvPr/>
          </p:nvSpPr>
          <p:spPr>
            <a:xfrm>
              <a:off x="1750601" y="2284524"/>
              <a:ext cx="2336210" cy="1854374"/>
            </a:xfrm>
            <a:prstGeom prst="rect">
              <a:avLst/>
            </a:prstGeom>
            <a:noFill/>
          </p:spPr>
          <p:txBody>
            <a:bodyPr wrap="square" rtlCol="0">
              <a:spAutoFit/>
            </a:bodyPr>
            <a:lstStyle/>
            <a:p>
              <a:pPr marL="285750" indent="-285750">
                <a:buFont typeface="Arial" panose="020B0604020202020204" pitchFamily="34" charset="0"/>
                <a:buChar char="•"/>
              </a:pPr>
              <a:r>
                <a:rPr lang="zh-TW" altLang="en-US" sz="1400" b="1"/>
                <a:t>方法</a:t>
              </a:r>
              <a:r>
                <a:rPr lang="zh-TW" altLang="en-US" sz="1400"/>
                <a:t>：</a:t>
              </a:r>
              <a:endParaRPr lang="en-US" altLang="zh-TW" sz="1400"/>
            </a:p>
            <a:p>
              <a:pPr marL="742950" lvl="1" indent="-285750">
                <a:buFont typeface="微软雅黑" panose="020B0503020204020204" pitchFamily="34" charset="-122"/>
                <a:buChar char="-"/>
              </a:pPr>
              <a:r>
                <a:rPr lang="zh-TW" altLang="en-US" sz="1400"/>
                <a:t>檢測振幅低於閾值（</a:t>
              </a:r>
              <a:r>
                <a:rPr lang="en-US" altLang="zh-TW" sz="1400"/>
                <a:t>0.01</a:t>
              </a:r>
              <a:r>
                <a:rPr lang="zh-TW" altLang="en-US" sz="1400"/>
                <a:t>）的訊號，視為背景噪聲。</a:t>
              </a:r>
            </a:p>
            <a:p>
              <a:pPr marL="742950" lvl="1" indent="-285750">
                <a:buFont typeface="微软雅黑" panose="020B0503020204020204" pitchFamily="34" charset="-122"/>
                <a:buChar char="-"/>
              </a:pPr>
              <a:r>
                <a:rPr lang="zh-TW" altLang="en-US" sz="1400"/>
                <a:t>將這些噪聲訊號的振幅降低 </a:t>
              </a:r>
              <a:r>
                <a:rPr lang="en-US" altLang="zh-TW" sz="1400"/>
                <a:t>50%</a:t>
              </a:r>
              <a:r>
                <a:rPr lang="zh-TW" altLang="en-US" sz="1400"/>
                <a:t>，避免影響語音主要內容。</a:t>
              </a:r>
              <a:endParaRPr lang="en-US" altLang="zh-TW" sz="1400" b="1"/>
            </a:p>
            <a:p>
              <a:pPr marL="285750" indent="-285750">
                <a:buFont typeface="Arial" panose="020B0604020202020204" pitchFamily="34" charset="0"/>
                <a:buChar char="•"/>
              </a:pPr>
              <a:r>
                <a:rPr lang="zh-TW" altLang="en-US" sz="1400" b="1"/>
                <a:t>效果</a:t>
              </a:r>
              <a:r>
                <a:rPr lang="zh-TW" altLang="en-US" sz="1400"/>
                <a:t>：</a:t>
              </a:r>
              <a:endParaRPr lang="en-US" altLang="zh-TW" sz="1400"/>
            </a:p>
            <a:p>
              <a:pPr marL="742950" lvl="1" indent="-285750">
                <a:buFont typeface="微软雅黑" panose="020B0503020204020204" pitchFamily="34" charset="-122"/>
                <a:buChar char="-"/>
              </a:pPr>
              <a:r>
                <a:rPr lang="zh-TW" altLang="en-US" sz="1400"/>
                <a:t>有效減少低強度的持續噪聲，如環境音或電磁干擾聲。</a:t>
              </a:r>
              <a:endParaRPr lang="en-US" altLang="zh-TW" sz="1400"/>
            </a:p>
          </p:txBody>
        </p:sp>
      </p:grpSp>
      <p:sp>
        <p:nvSpPr>
          <p:cNvPr id="31" name="文本框 10">
            <a:extLst>
              <a:ext uri="{FF2B5EF4-FFF2-40B4-BE49-F238E27FC236}">
                <a16:creationId xmlns:a16="http://schemas.microsoft.com/office/drawing/2014/main" id="{B284A231-0EE9-FAA2-E62E-75B1D963D956}"/>
              </a:ext>
            </a:extLst>
          </p:cNvPr>
          <p:cNvSpPr txBox="1"/>
          <p:nvPr/>
        </p:nvSpPr>
        <p:spPr>
          <a:xfrm>
            <a:off x="381000" y="2503150"/>
            <a:ext cx="5099761" cy="461665"/>
          </a:xfrm>
          <a:prstGeom prst="rect">
            <a:avLst/>
          </a:prstGeom>
          <a:noFill/>
        </p:spPr>
        <p:txBody>
          <a:bodyPr wrap="square" rtlCol="0">
            <a:spAutoFit/>
          </a:bodyPr>
          <a:lstStyle/>
          <a:p>
            <a:pPr marL="457200" indent="-457200">
              <a:buFont typeface="+mj-lt"/>
              <a:buAutoNum type="arabicPeriod" startAt="2"/>
            </a:pPr>
            <a:r>
              <a:rPr lang="zh-TW" altLang="en-US" sz="2400"/>
              <a:t>低通濾波</a:t>
            </a:r>
            <a:endParaRPr lang="en-US" altLang="zh-TW" sz="2400"/>
          </a:p>
        </p:txBody>
      </p:sp>
      <p:sp>
        <p:nvSpPr>
          <p:cNvPr id="32" name="文本框 11">
            <a:extLst>
              <a:ext uri="{FF2B5EF4-FFF2-40B4-BE49-F238E27FC236}">
                <a16:creationId xmlns:a16="http://schemas.microsoft.com/office/drawing/2014/main" id="{25BEBBCA-7551-E09E-C551-AB8BFCA4E1E3}"/>
              </a:ext>
            </a:extLst>
          </p:cNvPr>
          <p:cNvSpPr txBox="1"/>
          <p:nvPr/>
        </p:nvSpPr>
        <p:spPr>
          <a:xfrm>
            <a:off x="381000" y="2927639"/>
            <a:ext cx="5917072" cy="1600438"/>
          </a:xfrm>
          <a:prstGeom prst="rect">
            <a:avLst/>
          </a:prstGeom>
          <a:noFill/>
        </p:spPr>
        <p:txBody>
          <a:bodyPr wrap="square" rtlCol="0">
            <a:spAutoFit/>
          </a:bodyPr>
          <a:lstStyle/>
          <a:p>
            <a:pPr marL="285750" indent="-285750">
              <a:buFont typeface="Arial" panose="020B0604020202020204" pitchFamily="34" charset="0"/>
              <a:buChar char="•"/>
            </a:pPr>
            <a:r>
              <a:rPr lang="zh-TW" altLang="en-US" sz="1400" b="1" dirty="0"/>
              <a:t>方法</a:t>
            </a:r>
            <a:r>
              <a:rPr lang="zh-TW" altLang="en-US" sz="1400" dirty="0"/>
              <a:t>：</a:t>
            </a:r>
            <a:endParaRPr lang="en-US" altLang="zh-TW" sz="1400" dirty="0"/>
          </a:p>
          <a:p>
            <a:pPr marL="742950" lvl="1" indent="-285750">
              <a:buFont typeface="微软雅黑" panose="020B0503020204020204" pitchFamily="34" charset="-122"/>
              <a:buChar char="-"/>
            </a:pPr>
            <a:r>
              <a:rPr lang="zh-TW" altLang="en-US" sz="1400" dirty="0"/>
              <a:t>使用巴特沃斯濾波器進行處理，設計一個平滑且穩定的濾波響應。</a:t>
            </a:r>
            <a:endParaRPr lang="en-US" altLang="zh-TW" sz="1400" dirty="0"/>
          </a:p>
          <a:p>
            <a:pPr marL="742950" lvl="1" indent="-285750">
              <a:buFont typeface="微软雅黑" panose="020B0503020204020204" pitchFamily="34" charset="-122"/>
              <a:buChar char="-"/>
            </a:pPr>
            <a:r>
              <a:rPr lang="zh-TW" altLang="en-US" sz="1400" dirty="0"/>
              <a:t>設置截止頻率為 </a:t>
            </a:r>
            <a:r>
              <a:rPr lang="en-US" altLang="zh-TW" sz="1400" dirty="0"/>
              <a:t>3000 Hz</a:t>
            </a:r>
            <a:r>
              <a:rPr lang="zh-TW" altLang="en-US" sz="1400" dirty="0"/>
              <a:t>，適合人聲的頻率範圍（通常 </a:t>
            </a:r>
            <a:r>
              <a:rPr lang="en-US" altLang="zh-TW" sz="1400" dirty="0"/>
              <a:t>300-3400 Hz</a:t>
            </a:r>
            <a:r>
              <a:rPr lang="zh-TW" altLang="en-US" sz="1400" dirty="0"/>
              <a:t>）。</a:t>
            </a:r>
            <a:endParaRPr lang="en-US" altLang="zh-TW" sz="1400" b="1" dirty="0"/>
          </a:p>
          <a:p>
            <a:pPr marL="285750" indent="-285750">
              <a:buFont typeface="Arial" panose="020B0604020202020204" pitchFamily="34" charset="0"/>
              <a:buChar char="•"/>
            </a:pPr>
            <a:r>
              <a:rPr lang="zh-TW" altLang="en-US" sz="1400" b="1" dirty="0"/>
              <a:t>效果</a:t>
            </a:r>
            <a:r>
              <a:rPr lang="zh-TW" altLang="en-US" sz="1400" dirty="0"/>
              <a:t>：</a:t>
            </a:r>
            <a:endParaRPr lang="en-US" altLang="zh-TW" sz="1400" dirty="0"/>
          </a:p>
          <a:p>
            <a:pPr marL="742950" lvl="1" indent="-285750">
              <a:buFont typeface="微软雅黑" panose="020B0503020204020204" pitchFamily="34" charset="-122"/>
              <a:buChar char="-"/>
            </a:pPr>
            <a:r>
              <a:rPr lang="zh-TW" altLang="en-US" sz="1400" dirty="0"/>
              <a:t>去除尖銳的高頻噪聲，如設備電磁干擾聲。</a:t>
            </a:r>
            <a:endParaRPr lang="en-US" altLang="zh-TW" sz="1400" dirty="0"/>
          </a:p>
          <a:p>
            <a:pPr marL="742950" lvl="1" indent="-285750">
              <a:buFont typeface="微软雅黑" panose="020B0503020204020204" pitchFamily="34" charset="-122"/>
              <a:buChar char="-"/>
            </a:pPr>
            <a:r>
              <a:rPr lang="zh-TW" altLang="en-US" sz="1400" dirty="0"/>
              <a:t>優化語音訊號的頻率響應，使其更加自然和清晰。</a:t>
            </a:r>
            <a:endParaRPr lang="en-US" altLang="zh-TW" sz="1400" dirty="0"/>
          </a:p>
        </p:txBody>
      </p:sp>
      <p:sp>
        <p:nvSpPr>
          <p:cNvPr id="38" name="文本框 10">
            <a:extLst>
              <a:ext uri="{FF2B5EF4-FFF2-40B4-BE49-F238E27FC236}">
                <a16:creationId xmlns:a16="http://schemas.microsoft.com/office/drawing/2014/main" id="{C2CBC8CD-3F62-89D8-1310-1A308AE22B03}"/>
              </a:ext>
            </a:extLst>
          </p:cNvPr>
          <p:cNvSpPr txBox="1"/>
          <p:nvPr/>
        </p:nvSpPr>
        <p:spPr>
          <a:xfrm>
            <a:off x="358324" y="4609742"/>
            <a:ext cx="5037029" cy="461665"/>
          </a:xfrm>
          <a:prstGeom prst="rect">
            <a:avLst/>
          </a:prstGeom>
          <a:noFill/>
        </p:spPr>
        <p:txBody>
          <a:bodyPr wrap="square" rtlCol="0">
            <a:spAutoFit/>
          </a:bodyPr>
          <a:lstStyle/>
          <a:p>
            <a:pPr marL="457200" indent="-457200">
              <a:buFont typeface="+mj-lt"/>
              <a:buAutoNum type="arabicPeriod" startAt="3"/>
            </a:pPr>
            <a:r>
              <a:rPr lang="zh-TW" altLang="en-US" sz="2400"/>
              <a:t>中值濾波</a:t>
            </a:r>
            <a:endParaRPr lang="en-US" altLang="zh-TW" sz="2400"/>
          </a:p>
        </p:txBody>
      </p:sp>
      <p:sp>
        <p:nvSpPr>
          <p:cNvPr id="39" name="文本框 11">
            <a:extLst>
              <a:ext uri="{FF2B5EF4-FFF2-40B4-BE49-F238E27FC236}">
                <a16:creationId xmlns:a16="http://schemas.microsoft.com/office/drawing/2014/main" id="{051FB795-CA7D-8973-3143-929EF3058A86}"/>
              </a:ext>
            </a:extLst>
          </p:cNvPr>
          <p:cNvSpPr txBox="1"/>
          <p:nvPr/>
        </p:nvSpPr>
        <p:spPr>
          <a:xfrm>
            <a:off x="358324" y="5034231"/>
            <a:ext cx="5844286" cy="1169551"/>
          </a:xfrm>
          <a:prstGeom prst="rect">
            <a:avLst/>
          </a:prstGeom>
          <a:noFill/>
        </p:spPr>
        <p:txBody>
          <a:bodyPr wrap="square" rtlCol="0">
            <a:spAutoFit/>
          </a:bodyPr>
          <a:lstStyle/>
          <a:p>
            <a:pPr marL="285750" indent="-285750">
              <a:buFont typeface="Arial" panose="020B0604020202020204" pitchFamily="34" charset="0"/>
              <a:buChar char="•"/>
            </a:pPr>
            <a:r>
              <a:rPr lang="zh-TW" altLang="en-US" sz="1400" b="1" dirty="0"/>
              <a:t>方法</a:t>
            </a:r>
            <a:r>
              <a:rPr lang="zh-TW" altLang="en-US" sz="1400" dirty="0"/>
              <a:t>：</a:t>
            </a:r>
            <a:endParaRPr lang="en-US" altLang="zh-TW" sz="1400" dirty="0"/>
          </a:p>
          <a:p>
            <a:pPr marL="742950" lvl="1" indent="-285750">
              <a:buFont typeface="微软雅黑" panose="020B0503020204020204" pitchFamily="34" charset="-122"/>
              <a:buChar char="-"/>
            </a:pPr>
            <a:r>
              <a:rPr lang="zh-TW" altLang="en-US" sz="1400" dirty="0"/>
              <a:t>使用 </a:t>
            </a:r>
            <a:r>
              <a:rPr lang="en-US" altLang="zh-TW" sz="1400" dirty="0"/>
              <a:t>3 </a:t>
            </a:r>
            <a:r>
              <a:rPr lang="zh-TW" altLang="en-US" sz="1400" dirty="0"/>
              <a:t>點中值濾波法，每次選取 </a:t>
            </a:r>
            <a:r>
              <a:rPr lang="en-US" altLang="zh-TW" sz="1400" dirty="0"/>
              <a:t>3 </a:t>
            </a:r>
            <a:r>
              <a:rPr lang="zh-TW" altLang="en-US" sz="1400" dirty="0"/>
              <a:t>個連續的數據點，取其中值作為當前點的輸出值。</a:t>
            </a:r>
            <a:endParaRPr lang="en-US" altLang="zh-TW" sz="1400" b="1" dirty="0"/>
          </a:p>
          <a:p>
            <a:pPr marL="285750" indent="-285750">
              <a:buFont typeface="Arial" panose="020B0604020202020204" pitchFamily="34" charset="0"/>
              <a:buChar char="•"/>
            </a:pPr>
            <a:r>
              <a:rPr lang="zh-TW" altLang="en-US" sz="1400" b="1" dirty="0"/>
              <a:t>效果</a:t>
            </a:r>
            <a:r>
              <a:rPr lang="zh-TW" altLang="en-US" sz="1400" dirty="0"/>
              <a:t>：</a:t>
            </a:r>
            <a:endParaRPr lang="en-US" altLang="zh-TW" sz="1400" dirty="0"/>
          </a:p>
          <a:p>
            <a:pPr marL="742950" lvl="1" indent="-285750">
              <a:buFont typeface="微软雅黑" panose="020B0503020204020204" pitchFamily="34" charset="-122"/>
              <a:buChar char="-"/>
            </a:pPr>
            <a:r>
              <a:rPr lang="zh-TW" altLang="en-US" sz="1400" dirty="0"/>
              <a:t>有效平滑短時間內的突發異常訊號，避免對音頻播放的影響。</a:t>
            </a:r>
            <a:endParaRPr lang="en-US" altLang="zh-TW" sz="1400" dirty="0"/>
          </a:p>
        </p:txBody>
      </p:sp>
      <p:sp>
        <p:nvSpPr>
          <p:cNvPr id="41" name="文本框 10">
            <a:extLst>
              <a:ext uri="{FF2B5EF4-FFF2-40B4-BE49-F238E27FC236}">
                <a16:creationId xmlns:a16="http://schemas.microsoft.com/office/drawing/2014/main" id="{9E5EDD23-5831-405C-25DC-29AED1BDA44C}"/>
              </a:ext>
            </a:extLst>
          </p:cNvPr>
          <p:cNvSpPr txBox="1"/>
          <p:nvPr/>
        </p:nvSpPr>
        <p:spPr>
          <a:xfrm>
            <a:off x="6743674" y="1724077"/>
            <a:ext cx="4183494" cy="461665"/>
          </a:xfrm>
          <a:prstGeom prst="rect">
            <a:avLst/>
          </a:prstGeom>
          <a:noFill/>
        </p:spPr>
        <p:txBody>
          <a:bodyPr wrap="square" rtlCol="0">
            <a:spAutoFit/>
          </a:bodyPr>
          <a:lstStyle/>
          <a:p>
            <a:pPr marL="457200" indent="-457200">
              <a:buFont typeface="+mj-lt"/>
              <a:buAutoNum type="arabicPeriod" startAt="4"/>
            </a:pPr>
            <a:r>
              <a:rPr lang="zh-TW" altLang="en-US" sz="2400"/>
              <a:t>動態範圍壓縮</a:t>
            </a:r>
            <a:endParaRPr lang="en-US" altLang="zh-TW" sz="2400"/>
          </a:p>
        </p:txBody>
      </p:sp>
      <p:sp>
        <p:nvSpPr>
          <p:cNvPr id="42" name="文本框 11">
            <a:extLst>
              <a:ext uri="{FF2B5EF4-FFF2-40B4-BE49-F238E27FC236}">
                <a16:creationId xmlns:a16="http://schemas.microsoft.com/office/drawing/2014/main" id="{7F5F774C-AC86-7DA7-86A0-D2172593FF0F}"/>
              </a:ext>
            </a:extLst>
          </p:cNvPr>
          <p:cNvSpPr txBox="1"/>
          <p:nvPr/>
        </p:nvSpPr>
        <p:spPr>
          <a:xfrm>
            <a:off x="6743674" y="2148566"/>
            <a:ext cx="4853960" cy="1384995"/>
          </a:xfrm>
          <a:prstGeom prst="rect">
            <a:avLst/>
          </a:prstGeom>
          <a:noFill/>
        </p:spPr>
        <p:txBody>
          <a:bodyPr wrap="square" rtlCol="0">
            <a:spAutoFit/>
          </a:bodyPr>
          <a:lstStyle/>
          <a:p>
            <a:pPr marL="285750" indent="-285750">
              <a:buFont typeface="Arial" panose="020B0604020202020204" pitchFamily="34" charset="0"/>
              <a:buChar char="•"/>
            </a:pPr>
            <a:r>
              <a:rPr lang="zh-TW" altLang="en-US" sz="1400" b="1" dirty="0"/>
              <a:t>方法</a:t>
            </a:r>
            <a:r>
              <a:rPr lang="zh-TW" altLang="en-US" sz="1400" dirty="0"/>
              <a:t>：</a:t>
            </a:r>
            <a:endParaRPr lang="en-US" altLang="zh-TW" sz="1400" dirty="0"/>
          </a:p>
          <a:p>
            <a:pPr marL="742950" lvl="1" indent="-285750">
              <a:buFont typeface="微软雅黑" panose="020B0503020204020204" pitchFamily="34" charset="-122"/>
              <a:buChar char="-"/>
            </a:pPr>
            <a:r>
              <a:rPr lang="zh-TW" altLang="en-US" sz="1400" dirty="0"/>
              <a:t>輸入訊號的絕對值取 </a:t>
            </a:r>
            <a:r>
              <a:rPr lang="en-US" altLang="zh-TW" sz="1400" dirty="0"/>
              <a:t>0.8 </a:t>
            </a:r>
            <a:r>
              <a:rPr lang="zh-TW" altLang="en-US" sz="1400" dirty="0"/>
              <a:t>次方，使大振幅減小，小振幅略微增強。</a:t>
            </a:r>
            <a:endParaRPr lang="en-US" altLang="zh-TW" sz="1400" b="1" dirty="0"/>
          </a:p>
          <a:p>
            <a:pPr marL="285750" indent="-285750">
              <a:buFont typeface="Arial" panose="020B0604020202020204" pitchFamily="34" charset="0"/>
              <a:buChar char="•"/>
            </a:pPr>
            <a:r>
              <a:rPr lang="zh-TW" altLang="en-US" sz="1400" b="1" dirty="0"/>
              <a:t>效果</a:t>
            </a:r>
            <a:r>
              <a:rPr lang="zh-TW" altLang="en-US" sz="1400" dirty="0"/>
              <a:t>：</a:t>
            </a:r>
            <a:endParaRPr lang="en-US" altLang="zh-TW" sz="1400" dirty="0"/>
          </a:p>
          <a:p>
            <a:pPr marL="742950" lvl="1" indent="-285750">
              <a:buFont typeface="微软雅黑" panose="020B0503020204020204" pitchFamily="34" charset="-122"/>
              <a:buChar char="-"/>
            </a:pPr>
            <a:r>
              <a:rPr lang="zh-TW" altLang="en-US" sz="1400" dirty="0"/>
              <a:t>提升語音的平衡感，讓語音內容更容易被聽清，特別是在人聲動態變化大的情況下。</a:t>
            </a:r>
            <a:endParaRPr lang="en-US" altLang="zh-TW" sz="1400" dirty="0"/>
          </a:p>
        </p:txBody>
      </p:sp>
      <p:sp>
        <p:nvSpPr>
          <p:cNvPr id="44" name="文本框 10">
            <a:extLst>
              <a:ext uri="{FF2B5EF4-FFF2-40B4-BE49-F238E27FC236}">
                <a16:creationId xmlns:a16="http://schemas.microsoft.com/office/drawing/2014/main" id="{529A97C3-F644-2E7D-2267-669F782355B8}"/>
              </a:ext>
            </a:extLst>
          </p:cNvPr>
          <p:cNvSpPr txBox="1"/>
          <p:nvPr/>
        </p:nvSpPr>
        <p:spPr>
          <a:xfrm>
            <a:off x="6743674" y="3970660"/>
            <a:ext cx="4051181" cy="461665"/>
          </a:xfrm>
          <a:prstGeom prst="rect">
            <a:avLst/>
          </a:prstGeom>
          <a:noFill/>
        </p:spPr>
        <p:txBody>
          <a:bodyPr wrap="square" rtlCol="0">
            <a:spAutoFit/>
          </a:bodyPr>
          <a:lstStyle/>
          <a:p>
            <a:pPr marL="457200" indent="-457200">
              <a:buFont typeface="+mj-lt"/>
              <a:buAutoNum type="arabicPeriod" startAt="5"/>
            </a:pPr>
            <a:r>
              <a:rPr lang="zh-TW" altLang="en-US" sz="2400"/>
              <a:t>音量調整</a:t>
            </a:r>
            <a:endParaRPr lang="en-US" altLang="zh-TW" sz="2400"/>
          </a:p>
        </p:txBody>
      </p:sp>
      <p:sp>
        <p:nvSpPr>
          <p:cNvPr id="45" name="文本框 11">
            <a:extLst>
              <a:ext uri="{FF2B5EF4-FFF2-40B4-BE49-F238E27FC236}">
                <a16:creationId xmlns:a16="http://schemas.microsoft.com/office/drawing/2014/main" id="{DE407B6F-A9F9-0BB2-C0BE-B79AB07F414F}"/>
              </a:ext>
            </a:extLst>
          </p:cNvPr>
          <p:cNvSpPr txBox="1"/>
          <p:nvPr/>
        </p:nvSpPr>
        <p:spPr>
          <a:xfrm>
            <a:off x="6743674" y="4395149"/>
            <a:ext cx="4700441" cy="1384995"/>
          </a:xfrm>
          <a:prstGeom prst="rect">
            <a:avLst/>
          </a:prstGeom>
          <a:noFill/>
        </p:spPr>
        <p:txBody>
          <a:bodyPr wrap="square" rtlCol="0">
            <a:spAutoFit/>
          </a:bodyPr>
          <a:lstStyle/>
          <a:p>
            <a:pPr marL="285750" indent="-285750">
              <a:buFont typeface="Arial" panose="020B0604020202020204" pitchFamily="34" charset="0"/>
              <a:buChar char="•"/>
            </a:pPr>
            <a:r>
              <a:rPr lang="zh-TW" altLang="en-US" sz="1400" b="1" dirty="0"/>
              <a:t>方法</a:t>
            </a:r>
            <a:r>
              <a:rPr lang="zh-TW" altLang="en-US" sz="1400" dirty="0"/>
              <a:t>：</a:t>
            </a:r>
            <a:endParaRPr lang="en-US" altLang="zh-TW" sz="1400" dirty="0"/>
          </a:p>
          <a:p>
            <a:pPr marL="742950" lvl="1" indent="-285750">
              <a:buFont typeface="微软雅黑" panose="020B0503020204020204" pitchFamily="34" charset="-122"/>
              <a:buChar char="-"/>
            </a:pPr>
            <a:r>
              <a:rPr lang="zh-TW" altLang="en-US" sz="1400" dirty="0"/>
              <a:t>應用全局音量縮放，將訊號振幅限制在 </a:t>
            </a:r>
            <a:r>
              <a:rPr lang="en-US" altLang="zh-TW" sz="1400" dirty="0"/>
              <a:t>[-1, 1] </a:t>
            </a:r>
            <a:r>
              <a:rPr lang="zh-TW" altLang="en-US" sz="1400" dirty="0"/>
              <a:t>的範圍內。</a:t>
            </a:r>
            <a:endParaRPr lang="en-US" altLang="zh-TW" sz="1400" dirty="0"/>
          </a:p>
          <a:p>
            <a:pPr marL="742950" lvl="1" indent="-285750">
              <a:buFont typeface="微软雅黑" panose="020B0503020204020204" pitchFamily="34" charset="-122"/>
              <a:buChar char="-"/>
            </a:pPr>
            <a:r>
              <a:rPr lang="zh-TW" altLang="en-US" sz="1400" dirty="0"/>
              <a:t>避免數據超出範圍導致的失真或溢出。</a:t>
            </a:r>
            <a:endParaRPr lang="en-US" altLang="zh-TW" sz="1400" b="1" dirty="0"/>
          </a:p>
          <a:p>
            <a:pPr marL="285750" indent="-285750">
              <a:buFont typeface="Arial" panose="020B0604020202020204" pitchFamily="34" charset="0"/>
              <a:buChar char="•"/>
            </a:pPr>
            <a:r>
              <a:rPr lang="zh-TW" altLang="en-US" sz="1400" b="1" dirty="0"/>
              <a:t>效果</a:t>
            </a:r>
            <a:r>
              <a:rPr lang="zh-TW" altLang="en-US" sz="1400" dirty="0"/>
              <a:t>：</a:t>
            </a:r>
            <a:endParaRPr lang="en-US" altLang="zh-TW" sz="1400" dirty="0"/>
          </a:p>
          <a:p>
            <a:pPr marL="742950" lvl="1" indent="-285750">
              <a:buFont typeface="微软雅黑" panose="020B0503020204020204" pitchFamily="34" charset="-122"/>
              <a:buChar char="-"/>
            </a:pPr>
            <a:r>
              <a:rPr lang="zh-TW" altLang="en-US" sz="1400" dirty="0"/>
              <a:t>確保語音音量適中，輸出穩定且清晰。</a:t>
            </a:r>
            <a:endParaRPr lang="en-US" altLang="zh-TW" sz="1400" dirty="0"/>
          </a:p>
        </p:txBody>
      </p:sp>
    </p:spTree>
    <p:custDataLst>
      <p:tags r:id="rId1"/>
    </p:custDataLst>
    <p:extLst>
      <p:ext uri="{BB962C8B-B14F-4D97-AF65-F5344CB8AC3E}">
        <p14:creationId xmlns:p14="http://schemas.microsoft.com/office/powerpoint/2010/main" val="46876716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fade">
                                      <p:cBhvr>
                                        <p:cTn id="7" dur="1000"/>
                                        <p:tgtEl>
                                          <p:spTgt spid="32"/>
                                        </p:tgtEl>
                                      </p:cBhvr>
                                    </p:animEffect>
                                    <p:anim calcmode="lin" valueType="num">
                                      <p:cBhvr>
                                        <p:cTn id="8" dur="1000" fill="hold"/>
                                        <p:tgtEl>
                                          <p:spTgt spid="32"/>
                                        </p:tgtEl>
                                        <p:attrNameLst>
                                          <p:attrName>ppt_x</p:attrName>
                                        </p:attrNameLst>
                                      </p:cBhvr>
                                      <p:tavLst>
                                        <p:tav tm="0">
                                          <p:val>
                                            <p:strVal val="#ppt_x"/>
                                          </p:val>
                                        </p:tav>
                                        <p:tav tm="100000">
                                          <p:val>
                                            <p:strVal val="#ppt_x"/>
                                          </p:val>
                                        </p:tav>
                                      </p:tavLst>
                                    </p:anim>
                                    <p:anim calcmode="lin" valueType="num">
                                      <p:cBhvr>
                                        <p:cTn id="9" dur="1000" fill="hold"/>
                                        <p:tgtEl>
                                          <p:spTgt spid="32"/>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9"/>
                                        </p:tgtEl>
                                        <p:attrNameLst>
                                          <p:attrName>style.visibility</p:attrName>
                                        </p:attrNameLst>
                                      </p:cBhvr>
                                      <p:to>
                                        <p:strVal val="visible"/>
                                      </p:to>
                                    </p:set>
                                    <p:animEffect transition="in" filter="fade">
                                      <p:cBhvr>
                                        <p:cTn id="12" dur="1000"/>
                                        <p:tgtEl>
                                          <p:spTgt spid="39"/>
                                        </p:tgtEl>
                                      </p:cBhvr>
                                    </p:animEffect>
                                    <p:anim calcmode="lin" valueType="num">
                                      <p:cBhvr>
                                        <p:cTn id="13" dur="1000" fill="hold"/>
                                        <p:tgtEl>
                                          <p:spTgt spid="39"/>
                                        </p:tgtEl>
                                        <p:attrNameLst>
                                          <p:attrName>ppt_x</p:attrName>
                                        </p:attrNameLst>
                                      </p:cBhvr>
                                      <p:tavLst>
                                        <p:tav tm="0">
                                          <p:val>
                                            <p:strVal val="#ppt_x"/>
                                          </p:val>
                                        </p:tav>
                                        <p:tav tm="100000">
                                          <p:val>
                                            <p:strVal val="#ppt_x"/>
                                          </p:val>
                                        </p:tav>
                                      </p:tavLst>
                                    </p:anim>
                                    <p:anim calcmode="lin" valueType="num">
                                      <p:cBhvr>
                                        <p:cTn id="14" dur="1000" fill="hold"/>
                                        <p:tgtEl>
                                          <p:spTgt spid="39"/>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42"/>
                                        </p:tgtEl>
                                        <p:attrNameLst>
                                          <p:attrName>style.visibility</p:attrName>
                                        </p:attrNameLst>
                                      </p:cBhvr>
                                      <p:to>
                                        <p:strVal val="visible"/>
                                      </p:to>
                                    </p:set>
                                    <p:animEffect transition="in" filter="fade">
                                      <p:cBhvr>
                                        <p:cTn id="19" dur="1000"/>
                                        <p:tgtEl>
                                          <p:spTgt spid="42"/>
                                        </p:tgtEl>
                                      </p:cBhvr>
                                    </p:animEffect>
                                    <p:anim calcmode="lin" valueType="num">
                                      <p:cBhvr>
                                        <p:cTn id="20" dur="1000" fill="hold"/>
                                        <p:tgtEl>
                                          <p:spTgt spid="42"/>
                                        </p:tgtEl>
                                        <p:attrNameLst>
                                          <p:attrName>ppt_x</p:attrName>
                                        </p:attrNameLst>
                                      </p:cBhvr>
                                      <p:tavLst>
                                        <p:tav tm="0">
                                          <p:val>
                                            <p:strVal val="#ppt_x"/>
                                          </p:val>
                                        </p:tav>
                                        <p:tav tm="100000">
                                          <p:val>
                                            <p:strVal val="#ppt_x"/>
                                          </p:val>
                                        </p:tav>
                                      </p:tavLst>
                                    </p:anim>
                                    <p:anim calcmode="lin" valueType="num">
                                      <p:cBhvr>
                                        <p:cTn id="21" dur="1000" fill="hold"/>
                                        <p:tgtEl>
                                          <p:spTgt spid="42"/>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45"/>
                                        </p:tgtEl>
                                        <p:attrNameLst>
                                          <p:attrName>style.visibility</p:attrName>
                                        </p:attrNameLst>
                                      </p:cBhvr>
                                      <p:to>
                                        <p:strVal val="visible"/>
                                      </p:to>
                                    </p:set>
                                    <p:animEffect transition="in" filter="fade">
                                      <p:cBhvr>
                                        <p:cTn id="26" dur="1000"/>
                                        <p:tgtEl>
                                          <p:spTgt spid="45"/>
                                        </p:tgtEl>
                                      </p:cBhvr>
                                    </p:animEffect>
                                    <p:anim calcmode="lin" valueType="num">
                                      <p:cBhvr>
                                        <p:cTn id="27" dur="1000" fill="hold"/>
                                        <p:tgtEl>
                                          <p:spTgt spid="45"/>
                                        </p:tgtEl>
                                        <p:attrNameLst>
                                          <p:attrName>ppt_x</p:attrName>
                                        </p:attrNameLst>
                                      </p:cBhvr>
                                      <p:tavLst>
                                        <p:tav tm="0">
                                          <p:val>
                                            <p:strVal val="#ppt_x"/>
                                          </p:val>
                                        </p:tav>
                                        <p:tav tm="100000">
                                          <p:val>
                                            <p:strVal val="#ppt_x"/>
                                          </p:val>
                                        </p:tav>
                                      </p:tavLst>
                                    </p:anim>
                                    <p:anim calcmode="lin" valueType="num">
                                      <p:cBhvr>
                                        <p:cTn id="28" dur="1000" fill="hold"/>
                                        <p:tgtEl>
                                          <p:spTgt spid="4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39" grpId="0"/>
      <p:bldP spid="42" grpId="0"/>
      <p:bldP spid="4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A85AA2-EDA4-0AA4-749C-DF0A7AC0ED7B}"/>
            </a:ext>
          </a:extLst>
        </p:cNvPr>
        <p:cNvGrpSpPr/>
        <p:nvPr/>
      </p:nvGrpSpPr>
      <p:grpSpPr>
        <a:xfrm>
          <a:off x="0" y="0"/>
          <a:ext cx="0" cy="0"/>
          <a:chOff x="0" y="0"/>
          <a:chExt cx="0" cy="0"/>
        </a:xfrm>
      </p:grpSpPr>
      <p:grpSp>
        <p:nvGrpSpPr>
          <p:cNvPr id="34" name="组合 33">
            <a:extLst>
              <a:ext uri="{FF2B5EF4-FFF2-40B4-BE49-F238E27FC236}">
                <a16:creationId xmlns:a16="http://schemas.microsoft.com/office/drawing/2014/main" id="{88AEF823-EF72-7BBE-ACE1-EFBECFE61510}"/>
              </a:ext>
            </a:extLst>
          </p:cNvPr>
          <p:cNvGrpSpPr/>
          <p:nvPr/>
        </p:nvGrpSpPr>
        <p:grpSpPr>
          <a:xfrm>
            <a:off x="0" y="495445"/>
            <a:ext cx="12192000" cy="381000"/>
            <a:chOff x="0" y="457345"/>
            <a:chExt cx="12192000" cy="381000"/>
          </a:xfrm>
        </p:grpSpPr>
        <p:cxnSp>
          <p:nvCxnSpPr>
            <p:cNvPr id="4" name="直接连接符 3">
              <a:extLst>
                <a:ext uri="{FF2B5EF4-FFF2-40B4-BE49-F238E27FC236}">
                  <a16:creationId xmlns:a16="http://schemas.microsoft.com/office/drawing/2014/main" id="{1F2BD9B4-6C02-A632-CF7A-307F3E4460F7}"/>
                </a:ext>
              </a:extLst>
            </p:cNvPr>
            <p:cNvCxnSpPr/>
            <p:nvPr/>
          </p:nvCxnSpPr>
          <p:spPr>
            <a:xfrm>
              <a:off x="0" y="647845"/>
              <a:ext cx="12192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 name="组合 4">
              <a:extLst>
                <a:ext uri="{FF2B5EF4-FFF2-40B4-BE49-F238E27FC236}">
                  <a16:creationId xmlns:a16="http://schemas.microsoft.com/office/drawing/2014/main" id="{6FEB15F3-654F-53E2-03CB-3143B020F681}"/>
                </a:ext>
              </a:extLst>
            </p:cNvPr>
            <p:cNvGrpSpPr/>
            <p:nvPr/>
          </p:nvGrpSpPr>
          <p:grpSpPr>
            <a:xfrm rot="10800000">
              <a:off x="11060824" y="457345"/>
              <a:ext cx="656896" cy="381000"/>
              <a:chOff x="307428" y="393221"/>
              <a:chExt cx="656896" cy="381000"/>
            </a:xfrm>
          </p:grpSpPr>
          <p:sp>
            <p:nvSpPr>
              <p:cNvPr id="6" name="等腰三角形 5">
                <a:extLst>
                  <a:ext uri="{FF2B5EF4-FFF2-40B4-BE49-F238E27FC236}">
                    <a16:creationId xmlns:a16="http://schemas.microsoft.com/office/drawing/2014/main" id="{6F19BC17-4651-5E35-2C63-2E4361FFE7EA}"/>
                  </a:ext>
                </a:extLst>
              </p:cNvPr>
              <p:cNvSpPr/>
              <p:nvPr/>
            </p:nvSpPr>
            <p:spPr>
              <a:xfrm rot="5400000">
                <a:off x="281152" y="419497"/>
                <a:ext cx="381000" cy="32844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 name="等腰三角形 6">
                <a:extLst>
                  <a:ext uri="{FF2B5EF4-FFF2-40B4-BE49-F238E27FC236}">
                    <a16:creationId xmlns:a16="http://schemas.microsoft.com/office/drawing/2014/main" id="{B2419180-316D-235F-99EE-E91CEFF22C2B}"/>
                  </a:ext>
                </a:extLst>
              </p:cNvPr>
              <p:cNvSpPr/>
              <p:nvPr/>
            </p:nvSpPr>
            <p:spPr>
              <a:xfrm rot="5400000">
                <a:off x="609600" y="419497"/>
                <a:ext cx="381000" cy="32844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sp>
        <p:nvSpPr>
          <p:cNvPr id="8" name="文本框 7">
            <a:extLst>
              <a:ext uri="{FF2B5EF4-FFF2-40B4-BE49-F238E27FC236}">
                <a16:creationId xmlns:a16="http://schemas.microsoft.com/office/drawing/2014/main" id="{D14FA84D-0D48-FFB2-B770-89F6C292032E}"/>
              </a:ext>
            </a:extLst>
          </p:cNvPr>
          <p:cNvSpPr txBox="1"/>
          <p:nvPr/>
        </p:nvSpPr>
        <p:spPr>
          <a:xfrm>
            <a:off x="358324" y="209635"/>
            <a:ext cx="936104" cy="400110"/>
          </a:xfrm>
          <a:prstGeom prst="rect">
            <a:avLst/>
          </a:prstGeom>
          <a:solidFill>
            <a:schemeClr val="tx1"/>
          </a:solidFill>
        </p:spPr>
        <p:txBody>
          <a:bodyPr wrap="square" rtlCol="0">
            <a:spAutoFit/>
          </a:bodyPr>
          <a:lstStyle/>
          <a:p>
            <a:pPr algn="ctr"/>
            <a:endParaRPr lang="zh-CN" altLang="en-US" sz="2000">
              <a:solidFill>
                <a:schemeClr val="bg1"/>
              </a:solidFill>
              <a:cs typeface="+mn-ea"/>
              <a:sym typeface="+mn-lt"/>
            </a:endParaRPr>
          </a:p>
        </p:txBody>
      </p:sp>
      <p:cxnSp>
        <p:nvCxnSpPr>
          <p:cNvPr id="9" name="直接连接符 8">
            <a:extLst>
              <a:ext uri="{FF2B5EF4-FFF2-40B4-BE49-F238E27FC236}">
                <a16:creationId xmlns:a16="http://schemas.microsoft.com/office/drawing/2014/main" id="{F27D26C2-3CC8-D0B7-B922-BBDB3BC9EB84}"/>
              </a:ext>
            </a:extLst>
          </p:cNvPr>
          <p:cNvCxnSpPr>
            <a:cxnSpLocks/>
          </p:cNvCxnSpPr>
          <p:nvPr/>
        </p:nvCxnSpPr>
        <p:spPr>
          <a:xfrm flipV="1">
            <a:off x="-228600" y="3885787"/>
            <a:ext cx="10912642" cy="28927"/>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grpSp>
        <p:nvGrpSpPr>
          <p:cNvPr id="10" name="组合 9">
            <a:extLst>
              <a:ext uri="{FF2B5EF4-FFF2-40B4-BE49-F238E27FC236}">
                <a16:creationId xmlns:a16="http://schemas.microsoft.com/office/drawing/2014/main" id="{9CAC7EFE-2F4B-5FA8-48CE-0C914CBA1C61}"/>
              </a:ext>
            </a:extLst>
          </p:cNvPr>
          <p:cNvGrpSpPr/>
          <p:nvPr/>
        </p:nvGrpSpPr>
        <p:grpSpPr>
          <a:xfrm>
            <a:off x="2872582" y="1519491"/>
            <a:ext cx="6737433" cy="1448231"/>
            <a:chOff x="1750601" y="1611478"/>
            <a:chExt cx="2336210" cy="2296234"/>
          </a:xfrm>
        </p:grpSpPr>
        <p:sp>
          <p:nvSpPr>
            <p:cNvPr id="11" name="文本框 10">
              <a:extLst>
                <a:ext uri="{FF2B5EF4-FFF2-40B4-BE49-F238E27FC236}">
                  <a16:creationId xmlns:a16="http://schemas.microsoft.com/office/drawing/2014/main" id="{EFCB85BA-F0D7-D082-80CC-715302EC772A}"/>
                </a:ext>
              </a:extLst>
            </p:cNvPr>
            <p:cNvSpPr txBox="1"/>
            <p:nvPr/>
          </p:nvSpPr>
          <p:spPr>
            <a:xfrm>
              <a:off x="1750601" y="1611478"/>
              <a:ext cx="2013515" cy="731990"/>
            </a:xfrm>
            <a:prstGeom prst="rect">
              <a:avLst/>
            </a:prstGeom>
            <a:noFill/>
          </p:spPr>
          <p:txBody>
            <a:bodyPr wrap="square" rtlCol="0">
              <a:spAutoFit/>
            </a:bodyPr>
            <a:lstStyle/>
            <a:p>
              <a:r>
                <a:rPr lang="zh-TW" altLang="en-US" sz="2400"/>
                <a:t>解調與音訊輸出</a:t>
              </a:r>
              <a:endParaRPr lang="zh-CN" altLang="en-US" sz="2400">
                <a:cs typeface="+mn-ea"/>
                <a:sym typeface="+mn-lt"/>
              </a:endParaRPr>
            </a:p>
          </p:txBody>
        </p:sp>
        <p:sp>
          <p:nvSpPr>
            <p:cNvPr id="12" name="文本框 11">
              <a:extLst>
                <a:ext uri="{FF2B5EF4-FFF2-40B4-BE49-F238E27FC236}">
                  <a16:creationId xmlns:a16="http://schemas.microsoft.com/office/drawing/2014/main" id="{6DE0BD14-A583-3B92-32F3-F22A9D8DE056}"/>
                </a:ext>
              </a:extLst>
            </p:cNvPr>
            <p:cNvSpPr txBox="1"/>
            <p:nvPr/>
          </p:nvSpPr>
          <p:spPr>
            <a:xfrm>
              <a:off x="1750601" y="2284524"/>
              <a:ext cx="2336210" cy="1623188"/>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altLang="zh-TW" sz="1400" b="1"/>
                <a:t>FSK </a:t>
              </a:r>
              <a:r>
                <a:rPr lang="zh-TW" altLang="en-US" sz="1400" b="1"/>
                <a:t>解調：</a:t>
              </a:r>
              <a:r>
                <a:rPr lang="zh-TW" altLang="en-US" sz="1400"/>
                <a:t>對數據執行 </a:t>
              </a:r>
              <a:r>
                <a:rPr lang="en-US" altLang="zh-TW" sz="1400"/>
                <a:t>FSK </a:t>
              </a:r>
              <a:r>
                <a:rPr lang="zh-TW" altLang="en-US" sz="1400"/>
                <a:t>解調，還原原始語音訊號的波形數據。</a:t>
              </a:r>
              <a:endParaRPr lang="en-US" altLang="zh-TW" sz="1400"/>
            </a:p>
            <a:p>
              <a:pPr marL="285750" indent="-285750">
                <a:lnSpc>
                  <a:spcPct val="150000"/>
                </a:lnSpc>
                <a:buFont typeface="Arial" panose="020B0604020202020204" pitchFamily="34" charset="0"/>
                <a:buChar char="•"/>
              </a:pPr>
              <a:r>
                <a:rPr lang="zh-TW" altLang="en-US" sz="1400" b="1"/>
                <a:t>處理接收到的訊號：</a:t>
              </a:r>
              <a:r>
                <a:rPr lang="zh-TW" altLang="en-US" sz="1400"/>
                <a:t>執行額外的訊號處理（如濾波、噪聲抑制等）以提升音質。</a:t>
              </a:r>
              <a:endParaRPr lang="en-US" altLang="zh-TW" sz="1400"/>
            </a:p>
            <a:p>
              <a:pPr marL="285750" indent="-285750">
                <a:lnSpc>
                  <a:spcPct val="150000"/>
                </a:lnSpc>
                <a:buFont typeface="Arial" panose="020B0604020202020204" pitchFamily="34" charset="0"/>
                <a:buChar char="•"/>
              </a:pPr>
              <a:r>
                <a:rPr lang="zh-TW" altLang="en-US" sz="1400" b="1"/>
                <a:t>輸出音訊訊號：</a:t>
              </a:r>
              <a:r>
                <a:rPr lang="zh-TW" altLang="en-US" sz="1400"/>
                <a:t>將還原的語音數據透過音訊播放設備輸出。</a:t>
              </a:r>
              <a:endParaRPr lang="en-US" altLang="zh-TW" sz="1400">
                <a:cs typeface="+mn-ea"/>
                <a:sym typeface="+mn-lt"/>
              </a:endParaRPr>
            </a:p>
          </p:txBody>
        </p:sp>
      </p:grpSp>
      <p:grpSp>
        <p:nvGrpSpPr>
          <p:cNvPr id="13" name="组合 12">
            <a:extLst>
              <a:ext uri="{FF2B5EF4-FFF2-40B4-BE49-F238E27FC236}">
                <a16:creationId xmlns:a16="http://schemas.microsoft.com/office/drawing/2014/main" id="{6C7BF02D-06F3-F6C7-95A3-339B5AE409C6}"/>
              </a:ext>
            </a:extLst>
          </p:cNvPr>
          <p:cNvGrpSpPr/>
          <p:nvPr/>
        </p:nvGrpSpPr>
        <p:grpSpPr>
          <a:xfrm>
            <a:off x="6732356" y="4612221"/>
            <a:ext cx="5078644" cy="1813780"/>
            <a:chOff x="3632490" y="4315010"/>
            <a:chExt cx="2759080" cy="1813780"/>
          </a:xfrm>
        </p:grpSpPr>
        <p:sp>
          <p:nvSpPr>
            <p:cNvPr id="14" name="文本框 13">
              <a:extLst>
                <a:ext uri="{FF2B5EF4-FFF2-40B4-BE49-F238E27FC236}">
                  <a16:creationId xmlns:a16="http://schemas.microsoft.com/office/drawing/2014/main" id="{FFAD1FB4-97FC-C577-A1F5-4708676F1A90}"/>
                </a:ext>
              </a:extLst>
            </p:cNvPr>
            <p:cNvSpPr txBox="1"/>
            <p:nvPr/>
          </p:nvSpPr>
          <p:spPr>
            <a:xfrm>
              <a:off x="3632490" y="4315010"/>
              <a:ext cx="2759080" cy="461665"/>
            </a:xfrm>
            <a:prstGeom prst="rect">
              <a:avLst/>
            </a:prstGeom>
            <a:noFill/>
          </p:spPr>
          <p:txBody>
            <a:bodyPr wrap="square" rtlCol="0">
              <a:spAutoFit/>
            </a:bodyPr>
            <a:lstStyle/>
            <a:p>
              <a:r>
                <a:rPr lang="zh-TW" altLang="en-US" sz="2400"/>
                <a:t>緩衝區與數據清理</a:t>
              </a:r>
              <a:endParaRPr lang="zh-CN" altLang="en-US" sz="2400">
                <a:cs typeface="+mn-ea"/>
                <a:sym typeface="+mn-lt"/>
              </a:endParaRPr>
            </a:p>
          </p:txBody>
        </p:sp>
        <p:sp>
          <p:nvSpPr>
            <p:cNvPr id="15" name="文本框 14">
              <a:extLst>
                <a:ext uri="{FF2B5EF4-FFF2-40B4-BE49-F238E27FC236}">
                  <a16:creationId xmlns:a16="http://schemas.microsoft.com/office/drawing/2014/main" id="{1DAEF65E-D058-8F25-F229-6097504117A5}"/>
                </a:ext>
              </a:extLst>
            </p:cNvPr>
            <p:cNvSpPr txBox="1"/>
            <p:nvPr/>
          </p:nvSpPr>
          <p:spPr>
            <a:xfrm>
              <a:off x="3632491" y="4781883"/>
              <a:ext cx="2618393" cy="1346907"/>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TW" altLang="en-US" sz="1400" b="1" dirty="0">
                  <a:cs typeface="+mn-ea"/>
                  <a:sym typeface="+mn-lt"/>
                </a:rPr>
                <a:t>清理緩衝區：</a:t>
              </a:r>
              <a:r>
                <a:rPr lang="zh-TW" altLang="en-US" sz="1400" dirty="0">
                  <a:cs typeface="+mn-ea"/>
                  <a:sym typeface="+mn-lt"/>
                </a:rPr>
                <a:t>釋放已處理的數據包，避免緩衝區溢出。</a:t>
              </a:r>
              <a:endParaRPr lang="en-US" altLang="zh-TW" sz="1400" dirty="0">
                <a:cs typeface="+mn-ea"/>
                <a:sym typeface="+mn-lt"/>
              </a:endParaRPr>
            </a:p>
            <a:p>
              <a:pPr marL="285750" indent="-285750">
                <a:lnSpc>
                  <a:spcPct val="150000"/>
                </a:lnSpc>
                <a:buFont typeface="Arial" panose="020B0604020202020204" pitchFamily="34" charset="0"/>
                <a:buChar char="•"/>
              </a:pPr>
              <a:r>
                <a:rPr lang="zh-TW" altLang="en-US" sz="1400" b="1" dirty="0">
                  <a:cs typeface="+mn-ea"/>
                  <a:sym typeface="+mn-lt"/>
                </a:rPr>
                <a:t>清理舊的未完成的數據包：</a:t>
              </a:r>
              <a:r>
                <a:rPr lang="zh-TW" altLang="en-US" sz="1400" dirty="0">
                  <a:cs typeface="+mn-ea"/>
                  <a:sym typeface="+mn-lt"/>
                </a:rPr>
                <a:t>移除超時或未完成的數據包，保持緩衝區穩定性。</a:t>
              </a:r>
              <a:endParaRPr lang="zh-CN" altLang="en-US" sz="1400" dirty="0">
                <a:cs typeface="+mn-ea"/>
                <a:sym typeface="+mn-lt"/>
              </a:endParaRPr>
            </a:p>
          </p:txBody>
        </p:sp>
      </p:grpSp>
      <p:grpSp>
        <p:nvGrpSpPr>
          <p:cNvPr id="22" name="组合 21">
            <a:extLst>
              <a:ext uri="{FF2B5EF4-FFF2-40B4-BE49-F238E27FC236}">
                <a16:creationId xmlns:a16="http://schemas.microsoft.com/office/drawing/2014/main" id="{927D5992-1C44-C5B3-8BA4-03F0AE64271D}"/>
              </a:ext>
            </a:extLst>
          </p:cNvPr>
          <p:cNvGrpSpPr/>
          <p:nvPr/>
        </p:nvGrpSpPr>
        <p:grpSpPr>
          <a:xfrm>
            <a:off x="3578903" y="3330242"/>
            <a:ext cx="65431" cy="603522"/>
            <a:chOff x="2816502" y="3101009"/>
            <a:chExt cx="65430" cy="603522"/>
          </a:xfrm>
        </p:grpSpPr>
        <p:cxnSp>
          <p:nvCxnSpPr>
            <p:cNvPr id="23" name="直接连接符 22">
              <a:extLst>
                <a:ext uri="{FF2B5EF4-FFF2-40B4-BE49-F238E27FC236}">
                  <a16:creationId xmlns:a16="http://schemas.microsoft.com/office/drawing/2014/main" id="{D171FA03-568A-BD8C-1569-345A9693B7D2}"/>
                </a:ext>
              </a:extLst>
            </p:cNvPr>
            <p:cNvCxnSpPr/>
            <p:nvPr/>
          </p:nvCxnSpPr>
          <p:spPr>
            <a:xfrm flipV="1">
              <a:off x="2849217" y="3101009"/>
              <a:ext cx="0" cy="569843"/>
            </a:xfrm>
            <a:prstGeom prst="line">
              <a:avLst/>
            </a:prstGeom>
            <a:ln>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sp>
          <p:nvSpPr>
            <p:cNvPr id="24" name="椭圆 23">
              <a:extLst>
                <a:ext uri="{FF2B5EF4-FFF2-40B4-BE49-F238E27FC236}">
                  <a16:creationId xmlns:a16="http://schemas.microsoft.com/office/drawing/2014/main" id="{FF1EECB4-B9AE-EC8E-5BBD-57BCC3942F46}"/>
                </a:ext>
              </a:extLst>
            </p:cNvPr>
            <p:cNvSpPr/>
            <p:nvPr/>
          </p:nvSpPr>
          <p:spPr>
            <a:xfrm>
              <a:off x="2816502" y="3639101"/>
              <a:ext cx="65430" cy="6543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25" name="组合 24">
            <a:extLst>
              <a:ext uri="{FF2B5EF4-FFF2-40B4-BE49-F238E27FC236}">
                <a16:creationId xmlns:a16="http://schemas.microsoft.com/office/drawing/2014/main" id="{4E5B167D-3018-E522-35D0-129A5B39FFCD}"/>
              </a:ext>
            </a:extLst>
          </p:cNvPr>
          <p:cNvGrpSpPr/>
          <p:nvPr/>
        </p:nvGrpSpPr>
        <p:grpSpPr>
          <a:xfrm>
            <a:off x="7702239" y="3862116"/>
            <a:ext cx="65431" cy="595550"/>
            <a:chOff x="4804051" y="3645145"/>
            <a:chExt cx="65430" cy="595550"/>
          </a:xfrm>
        </p:grpSpPr>
        <p:cxnSp>
          <p:nvCxnSpPr>
            <p:cNvPr id="26" name="直接连接符 25">
              <a:extLst>
                <a:ext uri="{FF2B5EF4-FFF2-40B4-BE49-F238E27FC236}">
                  <a16:creationId xmlns:a16="http://schemas.microsoft.com/office/drawing/2014/main" id="{F729E97C-62A5-64A6-DD48-0790D54488B0}"/>
                </a:ext>
              </a:extLst>
            </p:cNvPr>
            <p:cNvCxnSpPr/>
            <p:nvPr/>
          </p:nvCxnSpPr>
          <p:spPr>
            <a:xfrm flipV="1">
              <a:off x="4836668" y="3670852"/>
              <a:ext cx="0" cy="569843"/>
            </a:xfrm>
            <a:prstGeom prst="line">
              <a:avLst/>
            </a:prstGeom>
            <a:ln>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sp>
          <p:nvSpPr>
            <p:cNvPr id="27" name="椭圆 26">
              <a:extLst>
                <a:ext uri="{FF2B5EF4-FFF2-40B4-BE49-F238E27FC236}">
                  <a16:creationId xmlns:a16="http://schemas.microsoft.com/office/drawing/2014/main" id="{09D0562D-E846-A6B4-A8A8-425E7C0AD6BA}"/>
                </a:ext>
              </a:extLst>
            </p:cNvPr>
            <p:cNvSpPr/>
            <p:nvPr/>
          </p:nvSpPr>
          <p:spPr>
            <a:xfrm>
              <a:off x="4804051" y="3645145"/>
              <a:ext cx="65430" cy="6543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cs typeface="+mn-ea"/>
                  <a:sym typeface="+mn-lt"/>
                </a:rPr>
                <a:t> </a:t>
              </a:r>
              <a:endParaRPr lang="zh-CN" altLang="en-US">
                <a:cs typeface="+mn-ea"/>
                <a:sym typeface="+mn-lt"/>
              </a:endParaRPr>
            </a:p>
          </p:txBody>
        </p:sp>
      </p:grpSp>
      <p:sp>
        <p:nvSpPr>
          <p:cNvPr id="2" name="矩形 1">
            <a:extLst>
              <a:ext uri="{FF2B5EF4-FFF2-40B4-BE49-F238E27FC236}">
                <a16:creationId xmlns:a16="http://schemas.microsoft.com/office/drawing/2014/main" id="{397F256A-F376-00BE-03E9-C2E9CDAEE527}"/>
              </a:ext>
            </a:extLst>
          </p:cNvPr>
          <p:cNvSpPr/>
          <p:nvPr/>
        </p:nvSpPr>
        <p:spPr>
          <a:xfrm>
            <a:off x="382952" y="1389937"/>
            <a:ext cx="1857829" cy="46445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dist"/>
            <a:r>
              <a:rPr lang="zh-TW" altLang="en-US">
                <a:cs typeface="+mn-ea"/>
                <a:sym typeface="+mn-lt"/>
              </a:rPr>
              <a:t>接收端的處理</a:t>
            </a:r>
          </a:p>
        </p:txBody>
      </p:sp>
      <p:sp>
        <p:nvSpPr>
          <p:cNvPr id="3" name="矩形: 圆角 10">
            <a:extLst>
              <a:ext uri="{FF2B5EF4-FFF2-40B4-BE49-F238E27FC236}">
                <a16:creationId xmlns:a16="http://schemas.microsoft.com/office/drawing/2014/main" id="{B9868BE1-7BB9-B601-1789-A199D4DAA51E}"/>
              </a:ext>
            </a:extLst>
          </p:cNvPr>
          <p:cNvSpPr/>
          <p:nvPr/>
        </p:nvSpPr>
        <p:spPr>
          <a:xfrm>
            <a:off x="1349828" y="5824886"/>
            <a:ext cx="1016000" cy="309214"/>
          </a:xfrm>
          <a:prstGeom prst="roundRect">
            <a:avLst>
              <a:gd name="adj" fmla="val 33917"/>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a:cs typeface="+mn-ea"/>
              <a:sym typeface="+mn-lt"/>
            </a:endParaRPr>
          </a:p>
        </p:txBody>
      </p:sp>
      <p:sp>
        <p:nvSpPr>
          <p:cNvPr id="37" name="投影片編號版面配置區 36">
            <a:extLst>
              <a:ext uri="{FF2B5EF4-FFF2-40B4-BE49-F238E27FC236}">
                <a16:creationId xmlns:a16="http://schemas.microsoft.com/office/drawing/2014/main" id="{A030DFA5-041C-CEB1-1C74-BE133DD020C5}"/>
              </a:ext>
            </a:extLst>
          </p:cNvPr>
          <p:cNvSpPr>
            <a:spLocks noGrp="1"/>
          </p:cNvSpPr>
          <p:nvPr>
            <p:ph type="sldNum" sz="quarter" idx="12"/>
          </p:nvPr>
        </p:nvSpPr>
        <p:spPr/>
        <p:txBody>
          <a:bodyPr/>
          <a:lstStyle/>
          <a:p>
            <a:fld id="{9232B33E-6CBB-4C23-BFFD-4D7045B4FE1F}" type="slidenum">
              <a:rPr lang="zh-CN" altLang="en-US" smtClean="0"/>
              <a:t>9</a:t>
            </a:fld>
            <a:endParaRPr lang="zh-CN" altLang="en-US"/>
          </a:p>
        </p:txBody>
      </p:sp>
    </p:spTree>
    <p:custDataLst>
      <p:tags r:id="rId1"/>
    </p:custDataLst>
    <p:extLst>
      <p:ext uri="{BB962C8B-B14F-4D97-AF65-F5344CB8AC3E}">
        <p14:creationId xmlns:p14="http://schemas.microsoft.com/office/powerpoint/2010/main" val="10944230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extLst>
    <p:ext uri="{6950BFC3-D8DA-4A85-94F7-54DA5524770B}">
      <p188:commentRel xmlns:p188="http://schemas.microsoft.com/office/powerpoint/2018/8/main" r:id="rId4"/>
    </p:ext>
  </p:extLs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1D0135-62C2-14F4-79B2-2D471DF60B49}"/>
            </a:ext>
          </a:extLst>
        </p:cNvPr>
        <p:cNvGrpSpPr/>
        <p:nvPr/>
      </p:nvGrpSpPr>
      <p:grpSpPr>
        <a:xfrm>
          <a:off x="0" y="0"/>
          <a:ext cx="0" cy="0"/>
          <a:chOff x="0" y="0"/>
          <a:chExt cx="0" cy="0"/>
        </a:xfrm>
      </p:grpSpPr>
      <p:sp>
        <p:nvSpPr>
          <p:cNvPr id="21" name="文本框 20">
            <a:extLst>
              <a:ext uri="{FF2B5EF4-FFF2-40B4-BE49-F238E27FC236}">
                <a16:creationId xmlns:a16="http://schemas.microsoft.com/office/drawing/2014/main" id="{870EA185-9D23-E6F3-FB0B-C02E91CE7C36}"/>
              </a:ext>
            </a:extLst>
          </p:cNvPr>
          <p:cNvSpPr txBox="1"/>
          <p:nvPr/>
        </p:nvSpPr>
        <p:spPr>
          <a:xfrm>
            <a:off x="800101" y="2195096"/>
            <a:ext cx="7843777" cy="1446550"/>
          </a:xfrm>
          <a:prstGeom prst="rect">
            <a:avLst/>
          </a:prstGeom>
          <a:noFill/>
        </p:spPr>
        <p:txBody>
          <a:bodyPr wrap="square" rtlCol="0">
            <a:spAutoFit/>
          </a:bodyPr>
          <a:lstStyle/>
          <a:p>
            <a:r>
              <a:rPr lang="zh-TW" altLang="en-US" sz="8800">
                <a:latin typeface="方正正黑简体" panose="02000000000000000000" pitchFamily="2" charset="-122"/>
                <a:ea typeface="方正正黑简体" panose="02000000000000000000" pitchFamily="2" charset="-122"/>
                <a:cs typeface="+mn-ea"/>
                <a:sym typeface="+mn-lt"/>
              </a:rPr>
              <a:t>謝謝聆聽</a:t>
            </a:r>
            <a:endParaRPr lang="zh-CN" altLang="en-US" sz="8800">
              <a:latin typeface="方正正黑简体" panose="02000000000000000000" pitchFamily="2" charset="-122"/>
              <a:ea typeface="方正正黑简体" panose="02000000000000000000" pitchFamily="2" charset="-122"/>
              <a:cs typeface="+mn-ea"/>
              <a:sym typeface="+mn-lt"/>
            </a:endParaRPr>
          </a:p>
        </p:txBody>
      </p:sp>
      <p:cxnSp>
        <p:nvCxnSpPr>
          <p:cNvPr id="23" name="直接连接符 22">
            <a:extLst>
              <a:ext uri="{FF2B5EF4-FFF2-40B4-BE49-F238E27FC236}">
                <a16:creationId xmlns:a16="http://schemas.microsoft.com/office/drawing/2014/main" id="{468EB437-5EE1-8E97-D48B-C339603F8938}"/>
              </a:ext>
            </a:extLst>
          </p:cNvPr>
          <p:cNvCxnSpPr>
            <a:cxnSpLocks/>
          </p:cNvCxnSpPr>
          <p:nvPr/>
        </p:nvCxnSpPr>
        <p:spPr>
          <a:xfrm>
            <a:off x="1161401" y="3923628"/>
            <a:ext cx="783771"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5" name="组合 24">
            <a:extLst>
              <a:ext uri="{FF2B5EF4-FFF2-40B4-BE49-F238E27FC236}">
                <a16:creationId xmlns:a16="http://schemas.microsoft.com/office/drawing/2014/main" id="{14152545-0C4F-ADB2-CD0C-F7F7DCA64443}"/>
              </a:ext>
            </a:extLst>
          </p:cNvPr>
          <p:cNvGrpSpPr/>
          <p:nvPr/>
        </p:nvGrpSpPr>
        <p:grpSpPr>
          <a:xfrm>
            <a:off x="9753600" y="2195097"/>
            <a:ext cx="1111416" cy="2434055"/>
            <a:chOff x="9448800" y="2089837"/>
            <a:chExt cx="1428750" cy="2731515"/>
          </a:xfrm>
        </p:grpSpPr>
        <p:cxnSp>
          <p:nvCxnSpPr>
            <p:cNvPr id="26" name="直接连接符 25">
              <a:extLst>
                <a:ext uri="{FF2B5EF4-FFF2-40B4-BE49-F238E27FC236}">
                  <a16:creationId xmlns:a16="http://schemas.microsoft.com/office/drawing/2014/main" id="{9190B6EE-A49F-A1C2-8D0C-30589F6CD9F3}"/>
                </a:ext>
              </a:extLst>
            </p:cNvPr>
            <p:cNvCxnSpPr/>
            <p:nvPr/>
          </p:nvCxnSpPr>
          <p:spPr>
            <a:xfrm>
              <a:off x="9448800" y="2089837"/>
              <a:ext cx="1428750" cy="1249448"/>
            </a:xfrm>
            <a:prstGeom prst="line">
              <a:avLst/>
            </a:prstGeom>
            <a:ln w="130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id="{DB617185-0CA1-650A-699A-48AC7AA237DA}"/>
                </a:ext>
              </a:extLst>
            </p:cNvPr>
            <p:cNvCxnSpPr/>
            <p:nvPr/>
          </p:nvCxnSpPr>
          <p:spPr>
            <a:xfrm flipH="1">
              <a:off x="9467850" y="3237868"/>
              <a:ext cx="1409700" cy="1583484"/>
            </a:xfrm>
            <a:prstGeom prst="line">
              <a:avLst/>
            </a:prstGeom>
            <a:ln w="130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9" name="组合 28">
            <a:extLst>
              <a:ext uri="{FF2B5EF4-FFF2-40B4-BE49-F238E27FC236}">
                <a16:creationId xmlns:a16="http://schemas.microsoft.com/office/drawing/2014/main" id="{09DAFAFC-5900-0156-CD17-8051816C693F}"/>
              </a:ext>
            </a:extLst>
          </p:cNvPr>
          <p:cNvGrpSpPr/>
          <p:nvPr/>
        </p:nvGrpSpPr>
        <p:grpSpPr>
          <a:xfrm>
            <a:off x="0" y="530275"/>
            <a:ext cx="12192000" cy="381000"/>
            <a:chOff x="0" y="530275"/>
            <a:chExt cx="12192000" cy="381000"/>
          </a:xfrm>
        </p:grpSpPr>
        <p:cxnSp>
          <p:nvCxnSpPr>
            <p:cNvPr id="30" name="直接连接符 29">
              <a:extLst>
                <a:ext uri="{FF2B5EF4-FFF2-40B4-BE49-F238E27FC236}">
                  <a16:creationId xmlns:a16="http://schemas.microsoft.com/office/drawing/2014/main" id="{3179A0AE-E6F2-6AD1-E7F2-008CF9706102}"/>
                </a:ext>
              </a:extLst>
            </p:cNvPr>
            <p:cNvCxnSpPr/>
            <p:nvPr/>
          </p:nvCxnSpPr>
          <p:spPr>
            <a:xfrm>
              <a:off x="0" y="718840"/>
              <a:ext cx="12192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1" name="等腰三角形 30">
              <a:extLst>
                <a:ext uri="{FF2B5EF4-FFF2-40B4-BE49-F238E27FC236}">
                  <a16:creationId xmlns:a16="http://schemas.microsoft.com/office/drawing/2014/main" id="{49B81D19-F564-BDC7-0E65-8A63B7D31C22}"/>
                </a:ext>
              </a:extLst>
            </p:cNvPr>
            <p:cNvSpPr/>
            <p:nvPr/>
          </p:nvSpPr>
          <p:spPr>
            <a:xfrm rot="5400000">
              <a:off x="281152" y="556551"/>
              <a:ext cx="381000" cy="32844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2" name="等腰三角形 31">
              <a:extLst>
                <a:ext uri="{FF2B5EF4-FFF2-40B4-BE49-F238E27FC236}">
                  <a16:creationId xmlns:a16="http://schemas.microsoft.com/office/drawing/2014/main" id="{05038E42-FA21-1CF3-2F6B-9ED0AA779987}"/>
                </a:ext>
              </a:extLst>
            </p:cNvPr>
            <p:cNvSpPr/>
            <p:nvPr/>
          </p:nvSpPr>
          <p:spPr>
            <a:xfrm rot="5400000">
              <a:off x="609600" y="556551"/>
              <a:ext cx="381000" cy="32844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37" name="组合 36">
            <a:extLst>
              <a:ext uri="{FF2B5EF4-FFF2-40B4-BE49-F238E27FC236}">
                <a16:creationId xmlns:a16="http://schemas.microsoft.com/office/drawing/2014/main" id="{3C50E124-028B-DFA6-8152-2060C76FDEB1}"/>
              </a:ext>
            </a:extLst>
          </p:cNvPr>
          <p:cNvGrpSpPr/>
          <p:nvPr/>
        </p:nvGrpSpPr>
        <p:grpSpPr>
          <a:xfrm>
            <a:off x="0" y="6229350"/>
            <a:ext cx="12192000" cy="381000"/>
            <a:chOff x="0" y="6229350"/>
            <a:chExt cx="12192000" cy="381000"/>
          </a:xfrm>
        </p:grpSpPr>
        <p:cxnSp>
          <p:nvCxnSpPr>
            <p:cNvPr id="28" name="直接连接符 27">
              <a:extLst>
                <a:ext uri="{FF2B5EF4-FFF2-40B4-BE49-F238E27FC236}">
                  <a16:creationId xmlns:a16="http://schemas.microsoft.com/office/drawing/2014/main" id="{8318ECDC-174F-5658-CD2C-66208D5100BE}"/>
                </a:ext>
              </a:extLst>
            </p:cNvPr>
            <p:cNvCxnSpPr/>
            <p:nvPr/>
          </p:nvCxnSpPr>
          <p:spPr>
            <a:xfrm>
              <a:off x="0" y="6400800"/>
              <a:ext cx="12192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3" name="组合 32">
              <a:extLst>
                <a:ext uri="{FF2B5EF4-FFF2-40B4-BE49-F238E27FC236}">
                  <a16:creationId xmlns:a16="http://schemas.microsoft.com/office/drawing/2014/main" id="{0A1053C9-494F-D014-9A60-A2CC25C8D51D}"/>
                </a:ext>
              </a:extLst>
            </p:cNvPr>
            <p:cNvGrpSpPr/>
            <p:nvPr/>
          </p:nvGrpSpPr>
          <p:grpSpPr>
            <a:xfrm rot="10800000">
              <a:off x="10865016" y="6229350"/>
              <a:ext cx="656896" cy="381000"/>
              <a:chOff x="10536568" y="6381752"/>
              <a:chExt cx="656896" cy="381000"/>
            </a:xfrm>
          </p:grpSpPr>
          <p:sp>
            <p:nvSpPr>
              <p:cNvPr id="34" name="等腰三角形 33">
                <a:extLst>
                  <a:ext uri="{FF2B5EF4-FFF2-40B4-BE49-F238E27FC236}">
                    <a16:creationId xmlns:a16="http://schemas.microsoft.com/office/drawing/2014/main" id="{A86B4133-29D9-0D74-75D4-9E9A7D41D457}"/>
                  </a:ext>
                </a:extLst>
              </p:cNvPr>
              <p:cNvSpPr/>
              <p:nvPr/>
            </p:nvSpPr>
            <p:spPr>
              <a:xfrm rot="5400000">
                <a:off x="10510292" y="6408028"/>
                <a:ext cx="381000" cy="32844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5" name="等腰三角形 34">
                <a:extLst>
                  <a:ext uri="{FF2B5EF4-FFF2-40B4-BE49-F238E27FC236}">
                    <a16:creationId xmlns:a16="http://schemas.microsoft.com/office/drawing/2014/main" id="{B3833946-CC33-91BD-4BA3-7685FF16FB7C}"/>
                  </a:ext>
                </a:extLst>
              </p:cNvPr>
              <p:cNvSpPr/>
              <p:nvPr/>
            </p:nvSpPr>
            <p:spPr>
              <a:xfrm rot="5400000">
                <a:off x="10838740" y="6408028"/>
                <a:ext cx="381000" cy="32844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sp>
        <p:nvSpPr>
          <p:cNvPr id="36" name="文本框 35">
            <a:extLst>
              <a:ext uri="{FF2B5EF4-FFF2-40B4-BE49-F238E27FC236}">
                <a16:creationId xmlns:a16="http://schemas.microsoft.com/office/drawing/2014/main" id="{EAF64B01-AE88-8CAC-8834-A7AA1A715F3B}"/>
              </a:ext>
            </a:extLst>
          </p:cNvPr>
          <p:cNvSpPr txBox="1"/>
          <p:nvPr/>
        </p:nvSpPr>
        <p:spPr>
          <a:xfrm>
            <a:off x="10721812" y="172667"/>
            <a:ext cx="1162760" cy="523220"/>
          </a:xfrm>
          <a:prstGeom prst="rect">
            <a:avLst/>
          </a:prstGeom>
          <a:solidFill>
            <a:schemeClr val="tx1"/>
          </a:solidFill>
        </p:spPr>
        <p:txBody>
          <a:bodyPr wrap="square" rtlCol="0">
            <a:spAutoFit/>
          </a:bodyPr>
          <a:lstStyle>
            <a:defPPr>
              <a:defRPr lang="zh-CN"/>
            </a:defPPr>
            <a:lvl1pPr algn="ctr">
              <a:defRPr sz="2800">
                <a:solidFill>
                  <a:schemeClr val="bg1"/>
                </a:solidFill>
                <a:latin typeface="Agency FB" panose="020B0503020202020204" pitchFamily="34" charset="0"/>
                <a:cs typeface="+mn-ea"/>
              </a:defRPr>
            </a:lvl1pPr>
          </a:lstStyle>
          <a:p>
            <a:endParaRPr lang="zh-CN" altLang="en-US">
              <a:sym typeface="+mn-lt"/>
            </a:endParaRPr>
          </a:p>
        </p:txBody>
      </p:sp>
      <p:sp>
        <p:nvSpPr>
          <p:cNvPr id="4" name="投影片編號版面配置區 3">
            <a:extLst>
              <a:ext uri="{FF2B5EF4-FFF2-40B4-BE49-F238E27FC236}">
                <a16:creationId xmlns:a16="http://schemas.microsoft.com/office/drawing/2014/main" id="{C390EB06-9D82-5539-C266-CD66F3DC463D}"/>
              </a:ext>
            </a:extLst>
          </p:cNvPr>
          <p:cNvSpPr>
            <a:spLocks noGrp="1"/>
          </p:cNvSpPr>
          <p:nvPr>
            <p:ph type="sldNum" sz="quarter" idx="12"/>
          </p:nvPr>
        </p:nvSpPr>
        <p:spPr>
          <a:xfrm>
            <a:off x="381000" y="6459344"/>
            <a:ext cx="2743200" cy="365125"/>
          </a:xfrm>
        </p:spPr>
        <p:txBody>
          <a:bodyPr/>
          <a:lstStyle/>
          <a:p>
            <a:fld id="{9232B33E-6CBB-4C23-BFFD-4D7045B4FE1F}" type="slidenum">
              <a:rPr lang="zh-CN" altLang="en-US" smtClean="0"/>
              <a:t>10</a:t>
            </a:fld>
            <a:endParaRPr lang="zh-CN" altLang="en-US"/>
          </a:p>
        </p:txBody>
      </p:sp>
    </p:spTree>
    <p:custDataLst>
      <p:tags r:id="rId1"/>
    </p:custDataLst>
    <p:extLst>
      <p:ext uri="{BB962C8B-B14F-4D97-AF65-F5344CB8AC3E}">
        <p14:creationId xmlns:p14="http://schemas.microsoft.com/office/powerpoint/2010/main" val="19545764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IMING" val="|0.3|0.9|0.7|0.9|0.7|0.7|1|0.9"/>
</p:tagLst>
</file>

<file path=ppt/tags/tag2.xml><?xml version="1.0" encoding="utf-8"?>
<p:tagLst xmlns:a="http://schemas.openxmlformats.org/drawingml/2006/main" xmlns:r="http://schemas.openxmlformats.org/officeDocument/2006/relationships" xmlns:p="http://schemas.openxmlformats.org/presentationml/2006/main">
  <p:tag name="TIMING" val="|0.1|0.8|0.7|0.8|0.8"/>
</p:tagLst>
</file>

<file path=ppt/tags/tag3.xml><?xml version="1.0" encoding="utf-8"?>
<p:tagLst xmlns:a="http://schemas.openxmlformats.org/drawingml/2006/main" xmlns:r="http://schemas.openxmlformats.org/officeDocument/2006/relationships" xmlns:p="http://schemas.openxmlformats.org/presentationml/2006/main">
  <p:tag name="TIMING" val="|0.3|0.8|0.8|0.8|0.8|0.8|0.7|1.1|0.9|0.8|0.9"/>
</p:tagLst>
</file>

<file path=ppt/tags/tag4.xml><?xml version="1.0" encoding="utf-8"?>
<p:tagLst xmlns:a="http://schemas.openxmlformats.org/drawingml/2006/main" xmlns:r="http://schemas.openxmlformats.org/officeDocument/2006/relationships" xmlns:p="http://schemas.openxmlformats.org/presentationml/2006/main">
  <p:tag name="TIMING" val="|0.3|0.8|0.8|0.8|0.8|0.8|0.7|1.1|0.9|0.8|0.9"/>
</p:tagLst>
</file>

<file path=ppt/tags/tag5.xml><?xml version="1.0" encoding="utf-8"?>
<p:tagLst xmlns:a="http://schemas.openxmlformats.org/drawingml/2006/main" xmlns:r="http://schemas.openxmlformats.org/officeDocument/2006/relationships" xmlns:p="http://schemas.openxmlformats.org/presentationml/2006/main">
  <p:tag name="TIMING" val="|0.3|0.7|0.6|0.8|1.3"/>
</p:tagLst>
</file>

<file path=ppt/tags/tag6.xml><?xml version="1.0" encoding="utf-8"?>
<p:tagLst xmlns:a="http://schemas.openxmlformats.org/drawingml/2006/main" xmlns:r="http://schemas.openxmlformats.org/officeDocument/2006/relationships" xmlns:p="http://schemas.openxmlformats.org/presentationml/2006/main">
  <p:tag name="TIMING" val="|0|0.7|0.7|0.8|1.3"/>
</p:tagLst>
</file>

<file path=ppt/tags/tag7.xml><?xml version="1.0" encoding="utf-8"?>
<p:tagLst xmlns:a="http://schemas.openxmlformats.org/drawingml/2006/main" xmlns:r="http://schemas.openxmlformats.org/officeDocument/2006/relationships" xmlns:p="http://schemas.openxmlformats.org/presentationml/2006/main">
  <p:tag name="TIMING" val="|0.3|0.8|0.8|0.8|0.8|0.8|0.7|1.1|0.9|0.8|0.9"/>
</p:tagLst>
</file>

<file path=ppt/tags/tag8.xml><?xml version="1.0" encoding="utf-8"?>
<p:tagLst xmlns:a="http://schemas.openxmlformats.org/drawingml/2006/main" xmlns:r="http://schemas.openxmlformats.org/officeDocument/2006/relationships" xmlns:p="http://schemas.openxmlformats.org/presentationml/2006/main">
  <p:tag name="TIMING" val="|0.3|0.8|0.8|0.8|0.8|0.8|0.7|1.1|0.9|0.8|0.9"/>
</p:tagLst>
</file>

<file path=ppt/tags/tag9.xml><?xml version="1.0" encoding="utf-8"?>
<p:tagLst xmlns:a="http://schemas.openxmlformats.org/drawingml/2006/main" xmlns:r="http://schemas.openxmlformats.org/officeDocument/2006/relationships" xmlns:p="http://schemas.openxmlformats.org/presentationml/2006/main">
  <p:tag name="TIMING" val="|0.3|0.8|0.8|0.8|0.8|0.8|0.7|1.1|0.9|0.8|0.9"/>
</p:tagLst>
</file>

<file path=ppt/tags/tag10.xml><?xml version="1.0" encoding="utf-8"?>
<p:tagLst xmlns:a="http://schemas.openxmlformats.org/drawingml/2006/main" xmlns:r="http://schemas.openxmlformats.org/officeDocument/2006/relationships" xmlns:p="http://schemas.openxmlformats.org/presentationml/2006/main">
  <p:tag name="TIMING" val="|0.3|0.8|0.8|0.8|0.8|0.8|0.7|1.1|0.9|0.8|0.9"/>
</p:tagLst>
</file>

<file path=ppt/tags/tag11.xml><?xml version="1.0" encoding="utf-8"?>
<p:tagLst xmlns:a="http://schemas.openxmlformats.org/drawingml/2006/main" xmlns:r="http://schemas.openxmlformats.org/officeDocument/2006/relationships" xmlns:p="http://schemas.openxmlformats.org/presentationml/2006/main">
  <p:tag name="TIMING" val="|0.6|0.7|0.7|0.7|0.9|0.8"/>
</p:tagLst>
</file>

<file path=ppt/theme/theme1.xml><?xml version="1.0" encoding="utf-8"?>
<a:theme xmlns:a="http://schemas.openxmlformats.org/drawingml/2006/main" name="第一PPT，www.1ppt.com">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lvvoqjl">
      <a:majorFont>
        <a:latin typeface="微软雅黑" panose="020F0302020204030204"/>
        <a:ea typeface="微软雅黑"/>
        <a:cs typeface=""/>
      </a:majorFont>
      <a:minorFont>
        <a:latin typeface="微软雅黑" panose="020F0502020204030204"/>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754</TotalTime>
  <Words>2804</Words>
  <Application>Microsoft Office PowerPoint</Application>
  <PresentationFormat>寬螢幕</PresentationFormat>
  <Paragraphs>251</Paragraphs>
  <Slides>11</Slides>
  <Notes>10</Notes>
  <HiddenSlides>0</HiddenSlides>
  <MMClips>0</MMClips>
  <ScaleCrop>false</ScaleCrop>
  <HeadingPairs>
    <vt:vector size="6" baseType="variant">
      <vt:variant>
        <vt:lpstr>使用字型</vt:lpstr>
      </vt:variant>
      <vt:variant>
        <vt:i4>7</vt:i4>
      </vt:variant>
      <vt:variant>
        <vt:lpstr>佈景主題</vt:lpstr>
      </vt:variant>
      <vt:variant>
        <vt:i4>2</vt:i4>
      </vt:variant>
      <vt:variant>
        <vt:lpstr>投影片標題</vt:lpstr>
      </vt:variant>
      <vt:variant>
        <vt:i4>11</vt:i4>
      </vt:variant>
    </vt:vector>
  </HeadingPairs>
  <TitlesOfParts>
    <vt:vector size="20" baseType="lpstr">
      <vt:lpstr>gg sans</vt:lpstr>
      <vt:lpstr>inherit</vt:lpstr>
      <vt:lpstr>微软雅黑</vt:lpstr>
      <vt:lpstr>方正正黑简体</vt:lpstr>
      <vt:lpstr>Agency FB</vt:lpstr>
      <vt:lpstr>Arial</vt:lpstr>
      <vt:lpstr>Calibri</vt:lpstr>
      <vt:lpstr>第一PPT，www.1ppt.com</vt:lpstr>
      <vt:lpstr>自定义设计方案</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subject>https://www.ypppt.com/</dc:subject>
  <dc:creator>优品PPT</dc:creator>
  <cp:keywords>https:/www.ypppt.com</cp:keywords>
  <dc:description>https://www.ypppt.com/</dc:description>
  <cp:lastModifiedBy>JYUN WEI LIAN</cp:lastModifiedBy>
  <cp:revision>5</cp:revision>
  <dcterms:created xsi:type="dcterms:W3CDTF">2020-12-15T09:58:26Z</dcterms:created>
  <dcterms:modified xsi:type="dcterms:W3CDTF">2025-05-01T14:04:35Z</dcterms:modified>
</cp:coreProperties>
</file>